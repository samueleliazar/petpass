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Calibri" panose="020F0502020204030204" pitchFamily="34" charset="0"/>
      <p:regular r:id="rId14"/>
      <p:bold r:id="rId15"/>
      <p:italic r:id="rId16"/>
      <p:boldItalic r:id="rId17"/>
    </p:embeddedFont>
    <p:embeddedFont>
      <p:font typeface="Open Sans" panose="020B0604020202020204" charset="0"/>
      <p:regular r:id="rId18"/>
      <p:bold r:id="rId19"/>
      <p:italic r:id="rId20"/>
      <p:boldItalic r:id="rId21"/>
    </p:embeddedFont>
    <p:embeddedFont>
      <p:font typeface="Roboto" panose="020B0604020202020204"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6" roundtripDataSignature="AMtx7mhUuCfGfjK3ngNj+KopANx6DB4GJ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230AA4D-C7A1-4F07-9B54-CFA76B847E16}">
  <a:tblStyle styleId="{5230AA4D-C7A1-4F07-9B54-CFA76B847E16}"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6" d="100"/>
          <a:sy n="46" d="100"/>
        </p:scale>
        <p:origin x="756" y="48"/>
      </p:cViewPr>
      <p:guideLst>
        <p:guide orient="horz" pos="216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customschemas.google.com/relationships/presentationmetadata" Target="meta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7" name="Google Shape;11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9" name="Google Shape;13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9" name="Google Shape;16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1" name="Google Shape;19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7" name="Google Shape;207;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2" name="Google Shape;232;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2" name="Google Shape;27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1" name="Google Shape;281;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6"/>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6"/>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7"/>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17"/>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8"/>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18"/>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18"/>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18"/>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0"/>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0"/>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20"/>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1"/>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1"/>
          <p:cNvSpPr>
            <a:spLocks noGrp="1"/>
          </p:cNvSpPr>
          <p:nvPr>
            <p:ph type="pic" idx="2"/>
          </p:nvPr>
        </p:nvSpPr>
        <p:spPr>
          <a:xfrm>
            <a:off x="1792288" y="612775"/>
            <a:ext cx="5486400" cy="4114800"/>
          </a:xfrm>
          <a:prstGeom prst="rect">
            <a:avLst/>
          </a:prstGeom>
          <a:noFill/>
          <a:ln>
            <a:noFill/>
          </a:ln>
        </p:spPr>
      </p:sp>
      <p:sp>
        <p:nvSpPr>
          <p:cNvPr id="64" name="Google Shape;64;p21"/>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2"/>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3"/>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3"/>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0.png"/><Relationship Id="rId7"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9.png"/><Relationship Id="rId11" Type="http://schemas.openxmlformats.org/officeDocument/2006/relationships/image" Target="../media/image24.png"/><Relationship Id="rId5" Type="http://schemas.openxmlformats.org/officeDocument/2006/relationships/image" Target="../media/image21.png"/><Relationship Id="rId10" Type="http://schemas.openxmlformats.org/officeDocument/2006/relationships/image" Target="../media/image23.png"/><Relationship Id="rId4" Type="http://schemas.openxmlformats.org/officeDocument/2006/relationships/image" Target="../media/image3.png"/><Relationship Id="rId9"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grpSp>
        <p:nvGrpSpPr>
          <p:cNvPr id="84" name="Google Shape;84;p1"/>
          <p:cNvGrpSpPr/>
          <p:nvPr/>
        </p:nvGrpSpPr>
        <p:grpSpPr>
          <a:xfrm>
            <a:off x="-245426" y="-144661"/>
            <a:ext cx="3086100" cy="10431661"/>
            <a:chOff x="0" y="-38100"/>
            <a:chExt cx="812800" cy="2747433"/>
          </a:xfrm>
        </p:grpSpPr>
        <p:sp>
          <p:nvSpPr>
            <p:cNvPr id="85" name="Google Shape;85;p1"/>
            <p:cNvSpPr/>
            <p:nvPr/>
          </p:nvSpPr>
          <p:spPr>
            <a:xfrm>
              <a:off x="0" y="0"/>
              <a:ext cx="812800" cy="2709333"/>
            </a:xfrm>
            <a:custGeom>
              <a:avLst/>
              <a:gdLst/>
              <a:ahLst/>
              <a:cxnLst/>
              <a:rect l="l" t="t" r="r" b="b"/>
              <a:pathLst>
                <a:path w="812800" h="2709333" extrusionOk="0">
                  <a:moveTo>
                    <a:pt x="0" y="0"/>
                  </a:moveTo>
                  <a:lnTo>
                    <a:pt x="812800" y="0"/>
                  </a:lnTo>
                  <a:lnTo>
                    <a:pt x="812800" y="2709333"/>
                  </a:lnTo>
                  <a:lnTo>
                    <a:pt x="0" y="2709333"/>
                  </a:lnTo>
                  <a:close/>
                </a:path>
              </a:pathLst>
            </a:custGeom>
            <a:solidFill>
              <a:srgbClr val="6B9C6F"/>
            </a:solidFill>
            <a:ln>
              <a:noFill/>
            </a:ln>
          </p:spPr>
        </p:sp>
        <p:sp>
          <p:nvSpPr>
            <p:cNvPr id="86" name="Google Shape;86;p1"/>
            <p:cNvSpPr txBox="1"/>
            <p:nvPr/>
          </p:nvSpPr>
          <p:spPr>
            <a:xfrm>
              <a:off x="0" y="-38100"/>
              <a:ext cx="812800" cy="2747433"/>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87" name="Google Shape;87;p1"/>
          <p:cNvSpPr/>
          <p:nvPr/>
        </p:nvSpPr>
        <p:spPr>
          <a:xfrm rot="-1899350">
            <a:off x="1796275" y="6582383"/>
            <a:ext cx="734644" cy="706658"/>
          </a:xfrm>
          <a:custGeom>
            <a:avLst/>
            <a:gdLst/>
            <a:ahLst/>
            <a:cxnLst/>
            <a:rect l="l" t="t" r="r" b="b"/>
            <a:pathLst>
              <a:path w="734644" h="706658" extrusionOk="0">
                <a:moveTo>
                  <a:pt x="0" y="0"/>
                </a:moveTo>
                <a:lnTo>
                  <a:pt x="734644" y="0"/>
                </a:lnTo>
                <a:lnTo>
                  <a:pt x="734644" y="706658"/>
                </a:lnTo>
                <a:lnTo>
                  <a:pt x="0" y="706658"/>
                </a:lnTo>
                <a:lnTo>
                  <a:pt x="0" y="0"/>
                </a:lnTo>
                <a:close/>
              </a:path>
            </a:pathLst>
          </a:custGeom>
          <a:blipFill rotWithShape="1">
            <a:blip r:embed="rId3">
              <a:alphaModFix/>
            </a:blip>
            <a:stretch>
              <a:fillRect/>
            </a:stretch>
          </a:blipFill>
          <a:ln>
            <a:noFill/>
          </a:ln>
        </p:spPr>
      </p:sp>
      <p:sp>
        <p:nvSpPr>
          <p:cNvPr id="88" name="Google Shape;88;p1"/>
          <p:cNvSpPr/>
          <p:nvPr/>
        </p:nvSpPr>
        <p:spPr>
          <a:xfrm rot="1686969">
            <a:off x="366604" y="8091052"/>
            <a:ext cx="1324192" cy="1273746"/>
          </a:xfrm>
          <a:custGeom>
            <a:avLst/>
            <a:gdLst/>
            <a:ahLst/>
            <a:cxnLst/>
            <a:rect l="l" t="t" r="r" b="b"/>
            <a:pathLst>
              <a:path w="1324192" h="1273746" extrusionOk="0">
                <a:moveTo>
                  <a:pt x="0" y="0"/>
                </a:moveTo>
                <a:lnTo>
                  <a:pt x="1324192" y="0"/>
                </a:lnTo>
                <a:lnTo>
                  <a:pt x="1324192" y="1273746"/>
                </a:lnTo>
                <a:lnTo>
                  <a:pt x="0" y="1273746"/>
                </a:lnTo>
                <a:lnTo>
                  <a:pt x="0" y="0"/>
                </a:lnTo>
                <a:close/>
              </a:path>
            </a:pathLst>
          </a:custGeom>
          <a:blipFill rotWithShape="1">
            <a:blip r:embed="rId3">
              <a:alphaModFix/>
            </a:blip>
            <a:stretch>
              <a:fillRect/>
            </a:stretch>
          </a:blipFill>
          <a:ln>
            <a:noFill/>
          </a:ln>
        </p:spPr>
      </p:sp>
      <p:sp>
        <p:nvSpPr>
          <p:cNvPr id="89" name="Google Shape;89;p1"/>
          <p:cNvSpPr/>
          <p:nvPr/>
        </p:nvSpPr>
        <p:spPr>
          <a:xfrm>
            <a:off x="14219433" y="579375"/>
            <a:ext cx="3212265" cy="2702039"/>
          </a:xfrm>
          <a:custGeom>
            <a:avLst/>
            <a:gdLst/>
            <a:ahLst/>
            <a:cxnLst/>
            <a:rect l="l" t="t" r="r" b="b"/>
            <a:pathLst>
              <a:path w="3212265" h="2702039" extrusionOk="0">
                <a:moveTo>
                  <a:pt x="0" y="0"/>
                </a:moveTo>
                <a:lnTo>
                  <a:pt x="3212265" y="0"/>
                </a:lnTo>
                <a:lnTo>
                  <a:pt x="3212265" y="2702040"/>
                </a:lnTo>
                <a:lnTo>
                  <a:pt x="0" y="2702040"/>
                </a:lnTo>
                <a:lnTo>
                  <a:pt x="0" y="0"/>
                </a:lnTo>
                <a:close/>
              </a:path>
            </a:pathLst>
          </a:custGeom>
          <a:blipFill rotWithShape="1">
            <a:blip r:embed="rId4">
              <a:alphaModFix/>
            </a:blip>
            <a:stretch>
              <a:fillRect/>
            </a:stretch>
          </a:blipFill>
          <a:ln>
            <a:noFill/>
          </a:ln>
        </p:spPr>
      </p:sp>
      <p:sp>
        <p:nvSpPr>
          <p:cNvPr id="90" name="Google Shape;90;p1"/>
          <p:cNvSpPr txBox="1"/>
          <p:nvPr/>
        </p:nvSpPr>
        <p:spPr>
          <a:xfrm>
            <a:off x="3932462" y="5067300"/>
            <a:ext cx="11615495" cy="589915"/>
          </a:xfrm>
          <a:prstGeom prst="rect">
            <a:avLst/>
          </a:prstGeom>
          <a:noFill/>
          <a:ln>
            <a:noFill/>
          </a:ln>
        </p:spPr>
        <p:txBody>
          <a:bodyPr spcFirstLastPara="1" wrap="square" lIns="0" tIns="0" rIns="0" bIns="0" anchor="t" anchorCtr="0">
            <a:spAutoFit/>
          </a:bodyPr>
          <a:lstStyle/>
          <a:p>
            <a:pPr marL="0" marR="0" lvl="0" indent="0" algn="ctr" rtl="0">
              <a:lnSpc>
                <a:spcPct val="140011"/>
              </a:lnSpc>
              <a:spcBef>
                <a:spcPts val="0"/>
              </a:spcBef>
              <a:spcAft>
                <a:spcPts val="0"/>
              </a:spcAft>
              <a:buNone/>
            </a:pPr>
            <a:r>
              <a:rPr lang="en-US" sz="3399" b="0" i="0" u="none" strike="noStrike" cap="none">
                <a:solidFill>
                  <a:srgbClr val="6B9C6F"/>
                </a:solidFill>
                <a:latin typeface="Roboto"/>
                <a:ea typeface="Roboto"/>
                <a:cs typeface="Roboto"/>
                <a:sym typeface="Roboto"/>
              </a:rPr>
              <a:t>Ficha médica digital e identificación inteligente de mascotas</a:t>
            </a:r>
            <a:endParaRPr/>
          </a:p>
        </p:txBody>
      </p:sp>
      <p:sp>
        <p:nvSpPr>
          <p:cNvPr id="91" name="Google Shape;91;p1"/>
          <p:cNvSpPr txBox="1"/>
          <p:nvPr/>
        </p:nvSpPr>
        <p:spPr>
          <a:xfrm>
            <a:off x="3932462" y="3248400"/>
            <a:ext cx="4273616" cy="1543061"/>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None/>
            </a:pPr>
            <a:r>
              <a:rPr lang="en-US" sz="8999" b="1" i="0" u="none" strike="noStrike" cap="none">
                <a:solidFill>
                  <a:srgbClr val="6B9C6F"/>
                </a:solidFill>
                <a:latin typeface="Roboto"/>
                <a:ea typeface="Roboto"/>
                <a:cs typeface="Roboto"/>
                <a:sym typeface="Roboto"/>
              </a:rPr>
              <a:t>PetPass</a:t>
            </a:r>
            <a:endParaRPr/>
          </a:p>
        </p:txBody>
      </p:sp>
      <p:sp>
        <p:nvSpPr>
          <p:cNvPr id="92" name="Google Shape;92;p1"/>
          <p:cNvSpPr txBox="1"/>
          <p:nvPr/>
        </p:nvSpPr>
        <p:spPr>
          <a:xfrm>
            <a:off x="12923858" y="7797037"/>
            <a:ext cx="1757354" cy="431799"/>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500" b="0" i="0" u="none" strike="noStrike" cap="none">
                <a:solidFill>
                  <a:srgbClr val="6B9C6F"/>
                </a:solidFill>
                <a:latin typeface="Roboto"/>
                <a:ea typeface="Roboto"/>
                <a:cs typeface="Roboto"/>
                <a:sym typeface="Roboto"/>
              </a:rPr>
              <a:t>Integrantes:</a:t>
            </a:r>
            <a:endParaRPr/>
          </a:p>
        </p:txBody>
      </p:sp>
      <p:sp>
        <p:nvSpPr>
          <p:cNvPr id="93" name="Google Shape;93;p1"/>
          <p:cNvSpPr txBox="1"/>
          <p:nvPr/>
        </p:nvSpPr>
        <p:spPr>
          <a:xfrm>
            <a:off x="14798873" y="8382454"/>
            <a:ext cx="2071886" cy="431799"/>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500" b="0" i="0" u="none" strike="noStrike" cap="none">
                <a:solidFill>
                  <a:srgbClr val="6B9C6F"/>
                </a:solidFill>
                <a:latin typeface="Roboto"/>
                <a:ea typeface="Roboto"/>
                <a:cs typeface="Roboto"/>
                <a:sym typeface="Roboto"/>
              </a:rPr>
              <a:t>Daniel Cuevas</a:t>
            </a:r>
            <a:endParaRPr/>
          </a:p>
        </p:txBody>
      </p:sp>
      <p:sp>
        <p:nvSpPr>
          <p:cNvPr id="94" name="Google Shape;94;p1"/>
          <p:cNvSpPr txBox="1"/>
          <p:nvPr/>
        </p:nvSpPr>
        <p:spPr>
          <a:xfrm>
            <a:off x="14798873" y="7797037"/>
            <a:ext cx="2312412" cy="431799"/>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500" b="0" i="0" u="none" strike="noStrike" cap="none">
                <a:solidFill>
                  <a:srgbClr val="6B9C6F"/>
                </a:solidFill>
                <a:latin typeface="Roboto"/>
                <a:ea typeface="Roboto"/>
                <a:cs typeface="Roboto"/>
                <a:sym typeface="Roboto"/>
              </a:rPr>
              <a:t>Matías Araneda</a:t>
            </a:r>
            <a:endParaRPr/>
          </a:p>
        </p:txBody>
      </p:sp>
      <p:sp>
        <p:nvSpPr>
          <p:cNvPr id="95" name="Google Shape;95;p1"/>
          <p:cNvSpPr txBox="1"/>
          <p:nvPr/>
        </p:nvSpPr>
        <p:spPr>
          <a:xfrm>
            <a:off x="14798873" y="9013825"/>
            <a:ext cx="2053385" cy="431799"/>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500" b="0" i="0" u="none" strike="noStrike" cap="none">
                <a:solidFill>
                  <a:srgbClr val="6B9C6F"/>
                </a:solidFill>
                <a:latin typeface="Roboto"/>
                <a:ea typeface="Roboto"/>
                <a:cs typeface="Roboto"/>
                <a:sym typeface="Roboto"/>
              </a:rPr>
              <a:t>Samuel Reyes</a:t>
            </a:r>
            <a:endParaRPr/>
          </a:p>
        </p:txBody>
      </p:sp>
      <p:sp>
        <p:nvSpPr>
          <p:cNvPr id="96" name="Google Shape;96;p1"/>
          <p:cNvSpPr/>
          <p:nvPr/>
        </p:nvSpPr>
        <p:spPr>
          <a:xfrm rot="1686969">
            <a:off x="366604" y="4506627"/>
            <a:ext cx="1324192" cy="1273746"/>
          </a:xfrm>
          <a:custGeom>
            <a:avLst/>
            <a:gdLst/>
            <a:ahLst/>
            <a:cxnLst/>
            <a:rect l="l" t="t" r="r" b="b"/>
            <a:pathLst>
              <a:path w="1324192" h="1273746" extrusionOk="0">
                <a:moveTo>
                  <a:pt x="0" y="0"/>
                </a:moveTo>
                <a:lnTo>
                  <a:pt x="1324192" y="0"/>
                </a:lnTo>
                <a:lnTo>
                  <a:pt x="1324192" y="1273746"/>
                </a:lnTo>
                <a:lnTo>
                  <a:pt x="0" y="1273746"/>
                </a:lnTo>
                <a:lnTo>
                  <a:pt x="0" y="0"/>
                </a:lnTo>
                <a:close/>
              </a:path>
            </a:pathLst>
          </a:custGeom>
          <a:blipFill rotWithShape="1">
            <a:blip r:embed="rId3">
              <a:alphaModFix/>
            </a:blip>
            <a:stretch>
              <a:fillRect/>
            </a:stretch>
          </a:blipFill>
          <a:ln>
            <a:noFill/>
          </a:ln>
        </p:spPr>
      </p:sp>
      <p:sp>
        <p:nvSpPr>
          <p:cNvPr id="97" name="Google Shape;97;p1"/>
          <p:cNvSpPr/>
          <p:nvPr/>
        </p:nvSpPr>
        <p:spPr>
          <a:xfrm rot="1686969">
            <a:off x="366604" y="520744"/>
            <a:ext cx="1324192" cy="1273746"/>
          </a:xfrm>
          <a:custGeom>
            <a:avLst/>
            <a:gdLst/>
            <a:ahLst/>
            <a:cxnLst/>
            <a:rect l="l" t="t" r="r" b="b"/>
            <a:pathLst>
              <a:path w="1324192" h="1273746" extrusionOk="0">
                <a:moveTo>
                  <a:pt x="0" y="0"/>
                </a:moveTo>
                <a:lnTo>
                  <a:pt x="1324192" y="0"/>
                </a:lnTo>
                <a:lnTo>
                  <a:pt x="1324192" y="1273746"/>
                </a:lnTo>
                <a:lnTo>
                  <a:pt x="0" y="1273746"/>
                </a:lnTo>
                <a:lnTo>
                  <a:pt x="0" y="0"/>
                </a:lnTo>
                <a:close/>
              </a:path>
            </a:pathLst>
          </a:custGeom>
          <a:blipFill rotWithShape="1">
            <a:blip r:embed="rId3">
              <a:alphaModFix/>
            </a:blip>
            <a:stretch>
              <a:fillRect/>
            </a:stretch>
          </a:blipFill>
          <a:ln>
            <a:noFill/>
          </a:ln>
        </p:spPr>
      </p:sp>
      <p:sp>
        <p:nvSpPr>
          <p:cNvPr id="98" name="Google Shape;98;p1"/>
          <p:cNvSpPr/>
          <p:nvPr/>
        </p:nvSpPr>
        <p:spPr>
          <a:xfrm rot="-1899350">
            <a:off x="1796275" y="2582510"/>
            <a:ext cx="734644" cy="706658"/>
          </a:xfrm>
          <a:custGeom>
            <a:avLst/>
            <a:gdLst/>
            <a:ahLst/>
            <a:cxnLst/>
            <a:rect l="l" t="t" r="r" b="b"/>
            <a:pathLst>
              <a:path w="734644" h="706658" extrusionOk="0">
                <a:moveTo>
                  <a:pt x="0" y="0"/>
                </a:moveTo>
                <a:lnTo>
                  <a:pt x="734644" y="0"/>
                </a:lnTo>
                <a:lnTo>
                  <a:pt x="734644" y="706658"/>
                </a:lnTo>
                <a:lnTo>
                  <a:pt x="0" y="706658"/>
                </a:lnTo>
                <a:lnTo>
                  <a:pt x="0" y="0"/>
                </a:lnTo>
                <a:close/>
              </a:path>
            </a:pathLst>
          </a:custGeom>
          <a:blipFill rotWithShape="1">
            <a:blip r:embed="rId3">
              <a:alphaModFix/>
            </a:blip>
            <a:stretch>
              <a:fillRect/>
            </a:stretch>
          </a:blipFill>
          <a:ln>
            <a:no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grpSp>
        <p:nvGrpSpPr>
          <p:cNvPr id="103" name="Google Shape;103;p2"/>
          <p:cNvGrpSpPr/>
          <p:nvPr/>
        </p:nvGrpSpPr>
        <p:grpSpPr>
          <a:xfrm>
            <a:off x="5051650" y="-144661"/>
            <a:ext cx="8184700" cy="10431661"/>
            <a:chOff x="0" y="-38100"/>
            <a:chExt cx="2155641" cy="2747433"/>
          </a:xfrm>
        </p:grpSpPr>
        <p:sp>
          <p:nvSpPr>
            <p:cNvPr id="104" name="Google Shape;104;p2"/>
            <p:cNvSpPr/>
            <p:nvPr/>
          </p:nvSpPr>
          <p:spPr>
            <a:xfrm>
              <a:off x="0" y="0"/>
              <a:ext cx="2155641" cy="2709333"/>
            </a:xfrm>
            <a:custGeom>
              <a:avLst/>
              <a:gdLst/>
              <a:ahLst/>
              <a:cxnLst/>
              <a:rect l="l" t="t" r="r" b="b"/>
              <a:pathLst>
                <a:path w="2155641" h="2709333" extrusionOk="0">
                  <a:moveTo>
                    <a:pt x="0" y="0"/>
                  </a:moveTo>
                  <a:lnTo>
                    <a:pt x="2155641" y="0"/>
                  </a:lnTo>
                  <a:lnTo>
                    <a:pt x="2155641" y="2709333"/>
                  </a:lnTo>
                  <a:lnTo>
                    <a:pt x="0" y="2709333"/>
                  </a:lnTo>
                  <a:close/>
                </a:path>
              </a:pathLst>
            </a:custGeom>
            <a:solidFill>
              <a:srgbClr val="6B9C6F"/>
            </a:solidFill>
            <a:ln>
              <a:noFill/>
            </a:ln>
          </p:spPr>
        </p:sp>
        <p:sp>
          <p:nvSpPr>
            <p:cNvPr id="105" name="Google Shape;105;p2"/>
            <p:cNvSpPr txBox="1"/>
            <p:nvPr/>
          </p:nvSpPr>
          <p:spPr>
            <a:xfrm>
              <a:off x="0" y="-38100"/>
              <a:ext cx="2155641" cy="2747433"/>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6" name="Google Shape;106;p2"/>
          <p:cNvGrpSpPr/>
          <p:nvPr/>
        </p:nvGrpSpPr>
        <p:grpSpPr>
          <a:xfrm>
            <a:off x="1577785" y="1790384"/>
            <a:ext cx="12785919" cy="8117083"/>
            <a:chOff x="0" y="-38100"/>
            <a:chExt cx="3367485" cy="2137833"/>
          </a:xfrm>
        </p:grpSpPr>
        <p:sp>
          <p:nvSpPr>
            <p:cNvPr id="107" name="Google Shape;107;p2"/>
            <p:cNvSpPr/>
            <p:nvPr/>
          </p:nvSpPr>
          <p:spPr>
            <a:xfrm>
              <a:off x="0" y="0"/>
              <a:ext cx="3367485" cy="2099733"/>
            </a:xfrm>
            <a:custGeom>
              <a:avLst/>
              <a:gdLst/>
              <a:ahLst/>
              <a:cxnLst/>
              <a:rect l="l" t="t" r="r" b="b"/>
              <a:pathLst>
                <a:path w="3367485" h="2099733" extrusionOk="0">
                  <a:moveTo>
                    <a:pt x="0" y="0"/>
                  </a:moveTo>
                  <a:lnTo>
                    <a:pt x="3367485" y="0"/>
                  </a:lnTo>
                  <a:lnTo>
                    <a:pt x="3367485" y="2099733"/>
                  </a:lnTo>
                  <a:lnTo>
                    <a:pt x="0" y="2099733"/>
                  </a:lnTo>
                  <a:close/>
                </a:path>
              </a:pathLst>
            </a:custGeom>
            <a:noFill/>
            <a:ln w="133350" cap="sq" cmpd="sng">
              <a:solidFill>
                <a:srgbClr val="6B9C6F"/>
              </a:solidFill>
              <a:prstDash val="solid"/>
              <a:miter lim="8000"/>
              <a:headEnd type="none" w="sm" len="sm"/>
              <a:tailEnd type="none" w="sm" len="sm"/>
            </a:ln>
          </p:spPr>
        </p:sp>
        <p:sp>
          <p:nvSpPr>
            <p:cNvPr id="108" name="Google Shape;108;p2"/>
            <p:cNvSpPr txBox="1"/>
            <p:nvPr/>
          </p:nvSpPr>
          <p:spPr>
            <a:xfrm>
              <a:off x="0" y="-38100"/>
              <a:ext cx="3367485" cy="2137833"/>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09" name="Google Shape;109;p2"/>
          <p:cNvSpPr txBox="1"/>
          <p:nvPr/>
        </p:nvSpPr>
        <p:spPr>
          <a:xfrm>
            <a:off x="5882344" y="873323"/>
            <a:ext cx="6523313" cy="1061722"/>
          </a:xfrm>
          <a:prstGeom prst="rect">
            <a:avLst/>
          </a:prstGeom>
          <a:noFill/>
          <a:ln>
            <a:noFill/>
          </a:ln>
        </p:spPr>
        <p:txBody>
          <a:bodyPr spcFirstLastPara="1" wrap="square" lIns="0" tIns="0" rIns="0" bIns="0" anchor="t" anchorCtr="0">
            <a:spAutoFit/>
          </a:bodyPr>
          <a:lstStyle/>
          <a:p>
            <a:pPr marL="0" marR="0" lvl="0" indent="0" algn="ctr" rtl="0">
              <a:lnSpc>
                <a:spcPct val="140006"/>
              </a:lnSpc>
              <a:spcBef>
                <a:spcPts val="0"/>
              </a:spcBef>
              <a:spcAft>
                <a:spcPts val="0"/>
              </a:spcAft>
              <a:buNone/>
            </a:pPr>
            <a:r>
              <a:rPr lang="en-US" sz="6199" b="1" i="0" u="none" strike="noStrike" cap="none">
                <a:solidFill>
                  <a:srgbClr val="FFFFFF"/>
                </a:solidFill>
                <a:latin typeface="Roboto"/>
                <a:ea typeface="Roboto"/>
                <a:cs typeface="Roboto"/>
                <a:sym typeface="Roboto"/>
              </a:rPr>
              <a:t>¿Qué es PetPass?</a:t>
            </a:r>
            <a:endParaRPr/>
          </a:p>
        </p:txBody>
      </p:sp>
      <p:sp>
        <p:nvSpPr>
          <p:cNvPr id="110" name="Google Shape;110;p2"/>
          <p:cNvSpPr txBox="1"/>
          <p:nvPr/>
        </p:nvSpPr>
        <p:spPr>
          <a:xfrm>
            <a:off x="5546613" y="3199131"/>
            <a:ext cx="7194775" cy="1944369"/>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200" b="0" i="0" u="none" strike="noStrike" cap="none">
                <a:solidFill>
                  <a:srgbClr val="FFFFFF"/>
                </a:solidFill>
                <a:latin typeface="Roboto"/>
                <a:ea typeface="Roboto"/>
                <a:cs typeface="Roboto"/>
                <a:sym typeface="Roboto"/>
              </a:rPr>
              <a:t>PetPass es una plataforma cliente-servidor que centraliza el historial veterinario de una mascota en una aplicación móvil/web. Un motor OCR digitaliza carnets y recetas impresas, y toda la información queda disponible en la nube para el tutor.</a:t>
            </a:r>
            <a:endParaRPr/>
          </a:p>
        </p:txBody>
      </p:sp>
      <p:sp>
        <p:nvSpPr>
          <p:cNvPr id="111" name="Google Shape;111;p2"/>
          <p:cNvSpPr txBox="1"/>
          <p:nvPr/>
        </p:nvSpPr>
        <p:spPr>
          <a:xfrm>
            <a:off x="5546613" y="6243647"/>
            <a:ext cx="7194775" cy="1553844"/>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200" b="0" i="0" u="none" strike="noStrike" cap="none">
                <a:solidFill>
                  <a:srgbClr val="FFFFFF"/>
                </a:solidFill>
                <a:latin typeface="Roboto"/>
                <a:ea typeface="Roboto"/>
                <a:cs typeface="Roboto"/>
                <a:sym typeface="Roboto"/>
              </a:rPr>
              <a:t>Un código QR y una etiqueta NFC ubicados en el collar del animal permiten que, ante una emergencia, cualquier persona acceda de inmediato a los datos de contacto y antecedentes médicos críticos.</a:t>
            </a:r>
            <a:endParaRPr/>
          </a:p>
        </p:txBody>
      </p:sp>
      <p:sp>
        <p:nvSpPr>
          <p:cNvPr id="112" name="Google Shape;112;p2"/>
          <p:cNvSpPr/>
          <p:nvPr/>
        </p:nvSpPr>
        <p:spPr>
          <a:xfrm>
            <a:off x="2694958" y="3246756"/>
            <a:ext cx="1591840" cy="1591840"/>
          </a:xfrm>
          <a:custGeom>
            <a:avLst/>
            <a:gdLst/>
            <a:ahLst/>
            <a:cxnLst/>
            <a:rect l="l" t="t" r="r" b="b"/>
            <a:pathLst>
              <a:path w="1591840" h="1591840" extrusionOk="0">
                <a:moveTo>
                  <a:pt x="0" y="0"/>
                </a:moveTo>
                <a:lnTo>
                  <a:pt x="1591840" y="0"/>
                </a:lnTo>
                <a:lnTo>
                  <a:pt x="1591840" y="1591840"/>
                </a:lnTo>
                <a:lnTo>
                  <a:pt x="0" y="1591840"/>
                </a:lnTo>
                <a:lnTo>
                  <a:pt x="0" y="0"/>
                </a:lnTo>
                <a:close/>
              </a:path>
            </a:pathLst>
          </a:custGeom>
          <a:blipFill rotWithShape="1">
            <a:blip r:embed="rId3">
              <a:alphaModFix/>
            </a:blip>
            <a:stretch>
              <a:fillRect/>
            </a:stretch>
          </a:blipFill>
          <a:ln>
            <a:noFill/>
          </a:ln>
        </p:spPr>
      </p:sp>
      <p:sp>
        <p:nvSpPr>
          <p:cNvPr id="113" name="Google Shape;113;p2"/>
          <p:cNvSpPr/>
          <p:nvPr/>
        </p:nvSpPr>
        <p:spPr>
          <a:xfrm rot="64416">
            <a:off x="8572719" y="8467602"/>
            <a:ext cx="1050022" cy="1010021"/>
          </a:xfrm>
          <a:custGeom>
            <a:avLst/>
            <a:gdLst/>
            <a:ahLst/>
            <a:cxnLst/>
            <a:rect l="l" t="t" r="r" b="b"/>
            <a:pathLst>
              <a:path w="1050022" h="1010021" extrusionOk="0">
                <a:moveTo>
                  <a:pt x="0" y="0"/>
                </a:moveTo>
                <a:lnTo>
                  <a:pt x="1050022" y="0"/>
                </a:lnTo>
                <a:lnTo>
                  <a:pt x="1050022" y="1010021"/>
                </a:lnTo>
                <a:lnTo>
                  <a:pt x="0" y="1010021"/>
                </a:lnTo>
                <a:lnTo>
                  <a:pt x="0" y="0"/>
                </a:lnTo>
                <a:close/>
              </a:path>
            </a:pathLst>
          </a:custGeom>
          <a:blipFill rotWithShape="1">
            <a:blip r:embed="rId4">
              <a:alphaModFix/>
            </a:blip>
            <a:stretch>
              <a:fillRect/>
            </a:stretch>
          </a:blipFill>
          <a:ln>
            <a:noFill/>
          </a:ln>
        </p:spPr>
      </p:sp>
      <p:sp>
        <p:nvSpPr>
          <p:cNvPr id="114" name="Google Shape;114;p2"/>
          <p:cNvSpPr/>
          <p:nvPr/>
        </p:nvSpPr>
        <p:spPr>
          <a:xfrm>
            <a:off x="2694958" y="6153098"/>
            <a:ext cx="1417141" cy="1782568"/>
          </a:xfrm>
          <a:custGeom>
            <a:avLst/>
            <a:gdLst/>
            <a:ahLst/>
            <a:cxnLst/>
            <a:rect l="l" t="t" r="r" b="b"/>
            <a:pathLst>
              <a:path w="1417141" h="1782568" extrusionOk="0">
                <a:moveTo>
                  <a:pt x="0" y="0"/>
                </a:moveTo>
                <a:lnTo>
                  <a:pt x="1417141" y="0"/>
                </a:lnTo>
                <a:lnTo>
                  <a:pt x="1417141" y="1782568"/>
                </a:lnTo>
                <a:lnTo>
                  <a:pt x="0" y="1782568"/>
                </a:lnTo>
                <a:lnTo>
                  <a:pt x="0" y="0"/>
                </a:lnTo>
                <a:close/>
              </a:path>
            </a:pathLst>
          </a:custGeom>
          <a:blipFill rotWithShape="1">
            <a:blip r:embed="rId5">
              <a:alphaModFix/>
            </a:blip>
            <a:stretch>
              <a:fillRect/>
            </a:stretch>
          </a:blipFill>
          <a:ln>
            <a:no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grpSp>
        <p:nvGrpSpPr>
          <p:cNvPr id="119" name="Google Shape;119;p3"/>
          <p:cNvGrpSpPr/>
          <p:nvPr/>
        </p:nvGrpSpPr>
        <p:grpSpPr>
          <a:xfrm>
            <a:off x="1695439" y="3610274"/>
            <a:ext cx="14897122" cy="6676726"/>
            <a:chOff x="0" y="-38100"/>
            <a:chExt cx="3923522" cy="1758479"/>
          </a:xfrm>
        </p:grpSpPr>
        <p:sp>
          <p:nvSpPr>
            <p:cNvPr id="120" name="Google Shape;120;p3"/>
            <p:cNvSpPr/>
            <p:nvPr/>
          </p:nvSpPr>
          <p:spPr>
            <a:xfrm>
              <a:off x="0" y="0"/>
              <a:ext cx="3923522" cy="1720379"/>
            </a:xfrm>
            <a:custGeom>
              <a:avLst/>
              <a:gdLst/>
              <a:ahLst/>
              <a:cxnLst/>
              <a:rect l="l" t="t" r="r" b="b"/>
              <a:pathLst>
                <a:path w="3923522" h="1720379" extrusionOk="0">
                  <a:moveTo>
                    <a:pt x="0" y="0"/>
                  </a:moveTo>
                  <a:lnTo>
                    <a:pt x="3923522" y="0"/>
                  </a:lnTo>
                  <a:lnTo>
                    <a:pt x="3923522" y="1720379"/>
                  </a:lnTo>
                  <a:lnTo>
                    <a:pt x="0" y="1720379"/>
                  </a:lnTo>
                  <a:close/>
                </a:path>
              </a:pathLst>
            </a:custGeom>
            <a:solidFill>
              <a:srgbClr val="6B9C6F"/>
            </a:solidFill>
            <a:ln>
              <a:noFill/>
            </a:ln>
          </p:spPr>
        </p:sp>
        <p:sp>
          <p:nvSpPr>
            <p:cNvPr id="121" name="Google Shape;121;p3"/>
            <p:cNvSpPr txBox="1"/>
            <p:nvPr/>
          </p:nvSpPr>
          <p:spPr>
            <a:xfrm>
              <a:off x="0" y="-38100"/>
              <a:ext cx="3923522" cy="1758479"/>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22" name="Google Shape;122;p3"/>
          <p:cNvSpPr/>
          <p:nvPr/>
        </p:nvSpPr>
        <p:spPr>
          <a:xfrm rot="1686969">
            <a:off x="2042853" y="8963800"/>
            <a:ext cx="1056335" cy="1016094"/>
          </a:xfrm>
          <a:custGeom>
            <a:avLst/>
            <a:gdLst/>
            <a:ahLst/>
            <a:cxnLst/>
            <a:rect l="l" t="t" r="r" b="b"/>
            <a:pathLst>
              <a:path w="1056335" h="1016094" extrusionOk="0">
                <a:moveTo>
                  <a:pt x="0" y="0"/>
                </a:moveTo>
                <a:lnTo>
                  <a:pt x="1056335" y="0"/>
                </a:lnTo>
                <a:lnTo>
                  <a:pt x="1056335" y="1016093"/>
                </a:lnTo>
                <a:lnTo>
                  <a:pt x="0" y="1016093"/>
                </a:lnTo>
                <a:lnTo>
                  <a:pt x="0" y="0"/>
                </a:lnTo>
                <a:close/>
              </a:path>
            </a:pathLst>
          </a:custGeom>
          <a:blipFill rotWithShape="1">
            <a:blip r:embed="rId3">
              <a:alphaModFix/>
            </a:blip>
            <a:stretch>
              <a:fillRect/>
            </a:stretch>
          </a:blipFill>
          <a:ln>
            <a:noFill/>
          </a:ln>
        </p:spPr>
      </p:sp>
      <p:grpSp>
        <p:nvGrpSpPr>
          <p:cNvPr id="123" name="Google Shape;123;p3"/>
          <p:cNvGrpSpPr/>
          <p:nvPr/>
        </p:nvGrpSpPr>
        <p:grpSpPr>
          <a:xfrm>
            <a:off x="4149527" y="-4983272"/>
            <a:ext cx="9988946" cy="6676726"/>
            <a:chOff x="0" y="-38100"/>
            <a:chExt cx="2630833" cy="1758479"/>
          </a:xfrm>
        </p:grpSpPr>
        <p:sp>
          <p:nvSpPr>
            <p:cNvPr id="124" name="Google Shape;124;p3"/>
            <p:cNvSpPr/>
            <p:nvPr/>
          </p:nvSpPr>
          <p:spPr>
            <a:xfrm>
              <a:off x="0" y="0"/>
              <a:ext cx="2630833" cy="1720379"/>
            </a:xfrm>
            <a:custGeom>
              <a:avLst/>
              <a:gdLst/>
              <a:ahLst/>
              <a:cxnLst/>
              <a:rect l="l" t="t" r="r" b="b"/>
              <a:pathLst>
                <a:path w="2630833" h="1720379" extrusionOk="0">
                  <a:moveTo>
                    <a:pt x="0" y="0"/>
                  </a:moveTo>
                  <a:lnTo>
                    <a:pt x="2630833" y="0"/>
                  </a:lnTo>
                  <a:lnTo>
                    <a:pt x="2630833" y="1720379"/>
                  </a:lnTo>
                  <a:lnTo>
                    <a:pt x="0" y="1720379"/>
                  </a:lnTo>
                  <a:close/>
                </a:path>
              </a:pathLst>
            </a:custGeom>
            <a:solidFill>
              <a:srgbClr val="6B9C6F"/>
            </a:solidFill>
            <a:ln>
              <a:noFill/>
            </a:ln>
          </p:spPr>
        </p:sp>
        <p:sp>
          <p:nvSpPr>
            <p:cNvPr id="125" name="Google Shape;125;p3"/>
            <p:cNvSpPr txBox="1"/>
            <p:nvPr/>
          </p:nvSpPr>
          <p:spPr>
            <a:xfrm>
              <a:off x="0" y="-38100"/>
              <a:ext cx="2630833" cy="1758479"/>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26" name="Google Shape;126;p3"/>
          <p:cNvSpPr/>
          <p:nvPr/>
        </p:nvSpPr>
        <p:spPr>
          <a:xfrm rot="-1920449">
            <a:off x="15205282" y="8977558"/>
            <a:ext cx="1056335" cy="1016094"/>
          </a:xfrm>
          <a:custGeom>
            <a:avLst/>
            <a:gdLst/>
            <a:ahLst/>
            <a:cxnLst/>
            <a:rect l="l" t="t" r="r" b="b"/>
            <a:pathLst>
              <a:path w="1056335" h="1016094" extrusionOk="0">
                <a:moveTo>
                  <a:pt x="0" y="0"/>
                </a:moveTo>
                <a:lnTo>
                  <a:pt x="1056335" y="0"/>
                </a:lnTo>
                <a:lnTo>
                  <a:pt x="1056335" y="1016094"/>
                </a:lnTo>
                <a:lnTo>
                  <a:pt x="0" y="1016094"/>
                </a:lnTo>
                <a:lnTo>
                  <a:pt x="0" y="0"/>
                </a:lnTo>
                <a:close/>
              </a:path>
            </a:pathLst>
          </a:custGeom>
          <a:blipFill rotWithShape="1">
            <a:blip r:embed="rId3">
              <a:alphaModFix/>
            </a:blip>
            <a:stretch>
              <a:fillRect/>
            </a:stretch>
          </a:blipFill>
          <a:ln>
            <a:noFill/>
          </a:ln>
        </p:spPr>
      </p:sp>
      <p:sp>
        <p:nvSpPr>
          <p:cNvPr id="127" name="Google Shape;127;p3"/>
          <p:cNvSpPr/>
          <p:nvPr/>
        </p:nvSpPr>
        <p:spPr>
          <a:xfrm>
            <a:off x="3579094" y="4176761"/>
            <a:ext cx="1858324" cy="1858324"/>
          </a:xfrm>
          <a:custGeom>
            <a:avLst/>
            <a:gdLst/>
            <a:ahLst/>
            <a:cxnLst/>
            <a:rect l="l" t="t" r="r" b="b"/>
            <a:pathLst>
              <a:path w="1858324" h="1858324" extrusionOk="0">
                <a:moveTo>
                  <a:pt x="0" y="0"/>
                </a:moveTo>
                <a:lnTo>
                  <a:pt x="1858324" y="0"/>
                </a:lnTo>
                <a:lnTo>
                  <a:pt x="1858324" y="1858324"/>
                </a:lnTo>
                <a:lnTo>
                  <a:pt x="0" y="1858324"/>
                </a:lnTo>
                <a:lnTo>
                  <a:pt x="0" y="0"/>
                </a:lnTo>
                <a:close/>
              </a:path>
            </a:pathLst>
          </a:custGeom>
          <a:blipFill rotWithShape="1">
            <a:blip r:embed="rId4">
              <a:alphaModFix/>
            </a:blip>
            <a:stretch>
              <a:fillRect/>
            </a:stretch>
          </a:blipFill>
          <a:ln>
            <a:noFill/>
          </a:ln>
        </p:spPr>
      </p:sp>
      <p:sp>
        <p:nvSpPr>
          <p:cNvPr id="128" name="Google Shape;128;p3"/>
          <p:cNvSpPr/>
          <p:nvPr/>
        </p:nvSpPr>
        <p:spPr>
          <a:xfrm>
            <a:off x="8476133" y="4452820"/>
            <a:ext cx="1523208" cy="1381359"/>
          </a:xfrm>
          <a:custGeom>
            <a:avLst/>
            <a:gdLst/>
            <a:ahLst/>
            <a:cxnLst/>
            <a:rect l="l" t="t" r="r" b="b"/>
            <a:pathLst>
              <a:path w="1523208" h="1381359" extrusionOk="0">
                <a:moveTo>
                  <a:pt x="0" y="0"/>
                </a:moveTo>
                <a:lnTo>
                  <a:pt x="1523208" y="0"/>
                </a:lnTo>
                <a:lnTo>
                  <a:pt x="1523208" y="1381360"/>
                </a:lnTo>
                <a:lnTo>
                  <a:pt x="0" y="1381360"/>
                </a:lnTo>
                <a:lnTo>
                  <a:pt x="0" y="0"/>
                </a:lnTo>
                <a:close/>
              </a:path>
            </a:pathLst>
          </a:custGeom>
          <a:blipFill rotWithShape="1">
            <a:blip r:embed="rId5">
              <a:alphaModFix/>
            </a:blip>
            <a:stretch>
              <a:fillRect/>
            </a:stretch>
          </a:blipFill>
          <a:ln>
            <a:noFill/>
          </a:ln>
        </p:spPr>
      </p:sp>
      <p:sp>
        <p:nvSpPr>
          <p:cNvPr id="129" name="Google Shape;129;p3"/>
          <p:cNvSpPr/>
          <p:nvPr/>
        </p:nvSpPr>
        <p:spPr>
          <a:xfrm>
            <a:off x="13302834" y="4377666"/>
            <a:ext cx="1456514" cy="1456514"/>
          </a:xfrm>
          <a:custGeom>
            <a:avLst/>
            <a:gdLst/>
            <a:ahLst/>
            <a:cxnLst/>
            <a:rect l="l" t="t" r="r" b="b"/>
            <a:pathLst>
              <a:path w="1456514" h="1456514" extrusionOk="0">
                <a:moveTo>
                  <a:pt x="0" y="0"/>
                </a:moveTo>
                <a:lnTo>
                  <a:pt x="1456514" y="0"/>
                </a:lnTo>
                <a:lnTo>
                  <a:pt x="1456514" y="1456514"/>
                </a:lnTo>
                <a:lnTo>
                  <a:pt x="0" y="1456514"/>
                </a:lnTo>
                <a:lnTo>
                  <a:pt x="0" y="0"/>
                </a:lnTo>
                <a:close/>
              </a:path>
            </a:pathLst>
          </a:custGeom>
          <a:blipFill rotWithShape="1">
            <a:blip r:embed="rId6">
              <a:alphaModFix/>
            </a:blip>
            <a:stretch>
              <a:fillRect/>
            </a:stretch>
          </a:blipFill>
          <a:ln>
            <a:noFill/>
          </a:ln>
        </p:spPr>
      </p:sp>
      <p:sp>
        <p:nvSpPr>
          <p:cNvPr id="130" name="Google Shape;130;p3"/>
          <p:cNvSpPr txBox="1"/>
          <p:nvPr/>
        </p:nvSpPr>
        <p:spPr>
          <a:xfrm>
            <a:off x="4857118" y="234221"/>
            <a:ext cx="8590798" cy="1061722"/>
          </a:xfrm>
          <a:prstGeom prst="rect">
            <a:avLst/>
          </a:prstGeom>
          <a:noFill/>
          <a:ln>
            <a:noFill/>
          </a:ln>
        </p:spPr>
        <p:txBody>
          <a:bodyPr spcFirstLastPara="1" wrap="square" lIns="0" tIns="0" rIns="0" bIns="0" anchor="t" anchorCtr="0">
            <a:spAutoFit/>
          </a:bodyPr>
          <a:lstStyle/>
          <a:p>
            <a:pPr marL="0" marR="0" lvl="0" indent="0" algn="ctr" rtl="0">
              <a:lnSpc>
                <a:spcPct val="140006"/>
              </a:lnSpc>
              <a:spcBef>
                <a:spcPts val="0"/>
              </a:spcBef>
              <a:spcAft>
                <a:spcPts val="0"/>
              </a:spcAft>
              <a:buNone/>
            </a:pPr>
            <a:r>
              <a:rPr lang="en-US" sz="6199" b="1" i="0" u="none" strike="noStrike" cap="none">
                <a:solidFill>
                  <a:srgbClr val="FFFFFF"/>
                </a:solidFill>
                <a:latin typeface="Roboto"/>
                <a:ea typeface="Roboto"/>
                <a:cs typeface="Roboto"/>
                <a:sym typeface="Roboto"/>
              </a:rPr>
              <a:t>¿Qué resuelve PetPass?</a:t>
            </a:r>
            <a:endParaRPr/>
          </a:p>
        </p:txBody>
      </p:sp>
      <p:sp>
        <p:nvSpPr>
          <p:cNvPr id="131" name="Google Shape;131;p3"/>
          <p:cNvSpPr txBox="1"/>
          <p:nvPr/>
        </p:nvSpPr>
        <p:spPr>
          <a:xfrm>
            <a:off x="2571020" y="7174119"/>
            <a:ext cx="3874472" cy="1063624"/>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Riesgo de pérdida, deterioro y falta de respaldo de los registros médicos en papel.</a:t>
            </a:r>
            <a:endParaRPr/>
          </a:p>
        </p:txBody>
      </p:sp>
      <p:sp>
        <p:nvSpPr>
          <p:cNvPr id="132" name="Google Shape;132;p3"/>
          <p:cNvSpPr txBox="1"/>
          <p:nvPr/>
        </p:nvSpPr>
        <p:spPr>
          <a:xfrm>
            <a:off x="7035482" y="7174119"/>
            <a:ext cx="4404510" cy="1063624"/>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Terceros no pueden acceder a datos de contacto ni antecedentes médicos ante un extravío.</a:t>
            </a:r>
            <a:endParaRPr/>
          </a:p>
        </p:txBody>
      </p:sp>
      <p:sp>
        <p:nvSpPr>
          <p:cNvPr id="133" name="Google Shape;133;p3"/>
          <p:cNvSpPr txBox="1"/>
          <p:nvPr/>
        </p:nvSpPr>
        <p:spPr>
          <a:xfrm>
            <a:off x="12030542" y="7174119"/>
            <a:ext cx="4001098" cy="711199"/>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Dificultad para identificar al animal y contactar rápidamente a su tutor.</a:t>
            </a:r>
            <a:endParaRPr/>
          </a:p>
        </p:txBody>
      </p:sp>
      <p:sp>
        <p:nvSpPr>
          <p:cNvPr id="134" name="Google Shape;134;p3"/>
          <p:cNvSpPr txBox="1"/>
          <p:nvPr/>
        </p:nvSpPr>
        <p:spPr>
          <a:xfrm>
            <a:off x="2571020" y="6225527"/>
            <a:ext cx="3874472" cy="431799"/>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500" b="1" i="1" u="none" strike="noStrike" cap="none">
                <a:solidFill>
                  <a:srgbClr val="FFFFFF"/>
                </a:solidFill>
                <a:latin typeface="Roboto"/>
                <a:ea typeface="Roboto"/>
                <a:cs typeface="Roboto"/>
                <a:sym typeface="Roboto"/>
              </a:rPr>
              <a:t>Carnets físicos vulnerables</a:t>
            </a:r>
            <a:endParaRPr/>
          </a:p>
        </p:txBody>
      </p:sp>
      <p:sp>
        <p:nvSpPr>
          <p:cNvPr id="135" name="Google Shape;135;p3"/>
          <p:cNvSpPr txBox="1"/>
          <p:nvPr/>
        </p:nvSpPr>
        <p:spPr>
          <a:xfrm>
            <a:off x="7318893" y="6225527"/>
            <a:ext cx="4008942" cy="431799"/>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500" b="1" i="1" u="none" strike="noStrike" cap="none">
                <a:solidFill>
                  <a:srgbClr val="FFFFFF"/>
                </a:solidFill>
                <a:latin typeface="Roboto"/>
                <a:ea typeface="Roboto"/>
                <a:cs typeface="Roboto"/>
                <a:sym typeface="Roboto"/>
              </a:rPr>
              <a:t>Emergencia sin información</a:t>
            </a:r>
            <a:endParaRPr/>
          </a:p>
        </p:txBody>
      </p:sp>
      <p:sp>
        <p:nvSpPr>
          <p:cNvPr id="136" name="Google Shape;136;p3"/>
          <p:cNvSpPr txBox="1"/>
          <p:nvPr/>
        </p:nvSpPr>
        <p:spPr>
          <a:xfrm>
            <a:off x="12201237" y="6225527"/>
            <a:ext cx="3639148" cy="431799"/>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500" b="1" i="1" u="none" strike="noStrike" cap="none">
                <a:solidFill>
                  <a:srgbClr val="FFFFFF"/>
                </a:solidFill>
                <a:latin typeface="Roboto"/>
                <a:ea typeface="Roboto"/>
                <a:cs typeface="Roboto"/>
                <a:sym typeface="Roboto"/>
              </a:rPr>
              <a:t>Mascotas Extraviadas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4"/>
          <p:cNvSpPr/>
          <p:nvPr/>
        </p:nvSpPr>
        <p:spPr>
          <a:xfrm>
            <a:off x="1674628" y="4131196"/>
            <a:ext cx="1425796" cy="1492980"/>
          </a:xfrm>
          <a:custGeom>
            <a:avLst/>
            <a:gdLst/>
            <a:ahLst/>
            <a:cxnLst/>
            <a:rect l="l" t="t" r="r" b="b"/>
            <a:pathLst>
              <a:path w="1425796" h="1492980" extrusionOk="0">
                <a:moveTo>
                  <a:pt x="0" y="0"/>
                </a:moveTo>
                <a:lnTo>
                  <a:pt x="1425796" y="0"/>
                </a:lnTo>
                <a:lnTo>
                  <a:pt x="1425796" y="1492980"/>
                </a:lnTo>
                <a:lnTo>
                  <a:pt x="0" y="1492980"/>
                </a:lnTo>
                <a:lnTo>
                  <a:pt x="0" y="0"/>
                </a:lnTo>
                <a:close/>
              </a:path>
            </a:pathLst>
          </a:custGeom>
          <a:blipFill rotWithShape="1">
            <a:blip r:embed="rId3">
              <a:alphaModFix/>
            </a:blip>
            <a:stretch>
              <a:fillRect/>
            </a:stretch>
          </a:blipFill>
          <a:ln>
            <a:noFill/>
          </a:ln>
        </p:spPr>
      </p:sp>
      <p:sp>
        <p:nvSpPr>
          <p:cNvPr id="142" name="Google Shape;142;p4"/>
          <p:cNvSpPr/>
          <p:nvPr/>
        </p:nvSpPr>
        <p:spPr>
          <a:xfrm>
            <a:off x="6257982" y="4515778"/>
            <a:ext cx="1641104" cy="1255445"/>
          </a:xfrm>
          <a:custGeom>
            <a:avLst/>
            <a:gdLst/>
            <a:ahLst/>
            <a:cxnLst/>
            <a:rect l="l" t="t" r="r" b="b"/>
            <a:pathLst>
              <a:path w="1641104" h="1255445" extrusionOk="0">
                <a:moveTo>
                  <a:pt x="0" y="0"/>
                </a:moveTo>
                <a:lnTo>
                  <a:pt x="1641104" y="0"/>
                </a:lnTo>
                <a:lnTo>
                  <a:pt x="1641104" y="1255444"/>
                </a:lnTo>
                <a:lnTo>
                  <a:pt x="0" y="1255444"/>
                </a:lnTo>
                <a:lnTo>
                  <a:pt x="0" y="0"/>
                </a:lnTo>
                <a:close/>
              </a:path>
            </a:pathLst>
          </a:custGeom>
          <a:blipFill rotWithShape="1">
            <a:blip r:embed="rId4">
              <a:alphaModFix/>
            </a:blip>
            <a:stretch>
              <a:fillRect/>
            </a:stretch>
          </a:blipFill>
          <a:ln>
            <a:noFill/>
          </a:ln>
        </p:spPr>
      </p:sp>
      <p:sp>
        <p:nvSpPr>
          <p:cNvPr id="143" name="Google Shape;143;p4"/>
          <p:cNvSpPr/>
          <p:nvPr/>
        </p:nvSpPr>
        <p:spPr>
          <a:xfrm>
            <a:off x="11061386" y="4384675"/>
            <a:ext cx="1095372" cy="1386547"/>
          </a:xfrm>
          <a:custGeom>
            <a:avLst/>
            <a:gdLst/>
            <a:ahLst/>
            <a:cxnLst/>
            <a:rect l="l" t="t" r="r" b="b"/>
            <a:pathLst>
              <a:path w="1095372" h="1386547" extrusionOk="0">
                <a:moveTo>
                  <a:pt x="0" y="0"/>
                </a:moveTo>
                <a:lnTo>
                  <a:pt x="1095373" y="0"/>
                </a:lnTo>
                <a:lnTo>
                  <a:pt x="1095373" y="1386547"/>
                </a:lnTo>
                <a:lnTo>
                  <a:pt x="0" y="1386547"/>
                </a:lnTo>
                <a:lnTo>
                  <a:pt x="0" y="0"/>
                </a:lnTo>
                <a:close/>
              </a:path>
            </a:pathLst>
          </a:custGeom>
          <a:blipFill rotWithShape="1">
            <a:blip r:embed="rId5">
              <a:alphaModFix/>
            </a:blip>
            <a:stretch>
              <a:fillRect/>
            </a:stretch>
          </a:blipFill>
          <a:ln>
            <a:noFill/>
          </a:ln>
        </p:spPr>
      </p:sp>
      <p:sp>
        <p:nvSpPr>
          <p:cNvPr id="144" name="Google Shape;144;p4"/>
          <p:cNvSpPr/>
          <p:nvPr/>
        </p:nvSpPr>
        <p:spPr>
          <a:xfrm>
            <a:off x="15797975" y="4375657"/>
            <a:ext cx="1461325" cy="1395565"/>
          </a:xfrm>
          <a:custGeom>
            <a:avLst/>
            <a:gdLst/>
            <a:ahLst/>
            <a:cxnLst/>
            <a:rect l="l" t="t" r="r" b="b"/>
            <a:pathLst>
              <a:path w="1461325" h="1395565" extrusionOk="0">
                <a:moveTo>
                  <a:pt x="0" y="0"/>
                </a:moveTo>
                <a:lnTo>
                  <a:pt x="1461325" y="0"/>
                </a:lnTo>
                <a:lnTo>
                  <a:pt x="1461325" y="1395565"/>
                </a:lnTo>
                <a:lnTo>
                  <a:pt x="0" y="1395565"/>
                </a:lnTo>
                <a:lnTo>
                  <a:pt x="0" y="0"/>
                </a:lnTo>
                <a:close/>
              </a:path>
            </a:pathLst>
          </a:custGeom>
          <a:blipFill rotWithShape="1">
            <a:blip r:embed="rId6">
              <a:alphaModFix/>
            </a:blip>
            <a:stretch>
              <a:fillRect/>
            </a:stretch>
          </a:blipFill>
          <a:ln>
            <a:noFill/>
          </a:ln>
        </p:spPr>
      </p:sp>
      <p:sp>
        <p:nvSpPr>
          <p:cNvPr id="145" name="Google Shape;145;p4"/>
          <p:cNvSpPr/>
          <p:nvPr/>
        </p:nvSpPr>
        <p:spPr>
          <a:xfrm>
            <a:off x="3623050" y="4877686"/>
            <a:ext cx="2112306" cy="591446"/>
          </a:xfrm>
          <a:custGeom>
            <a:avLst/>
            <a:gdLst/>
            <a:ahLst/>
            <a:cxnLst/>
            <a:rect l="l" t="t" r="r" b="b"/>
            <a:pathLst>
              <a:path w="2112306" h="591446" extrusionOk="0">
                <a:moveTo>
                  <a:pt x="0" y="0"/>
                </a:moveTo>
                <a:lnTo>
                  <a:pt x="2112306" y="0"/>
                </a:lnTo>
                <a:lnTo>
                  <a:pt x="2112306" y="591446"/>
                </a:lnTo>
                <a:lnTo>
                  <a:pt x="0" y="591446"/>
                </a:lnTo>
                <a:lnTo>
                  <a:pt x="0" y="0"/>
                </a:lnTo>
                <a:close/>
              </a:path>
            </a:pathLst>
          </a:custGeom>
          <a:blipFill rotWithShape="1">
            <a:blip r:embed="rId7">
              <a:alphaModFix/>
            </a:blip>
            <a:stretch>
              <a:fillRect/>
            </a:stretch>
          </a:blipFill>
          <a:ln>
            <a:noFill/>
          </a:ln>
        </p:spPr>
      </p:sp>
      <p:sp>
        <p:nvSpPr>
          <p:cNvPr id="146" name="Google Shape;146;p4"/>
          <p:cNvSpPr txBox="1"/>
          <p:nvPr/>
        </p:nvSpPr>
        <p:spPr>
          <a:xfrm>
            <a:off x="1028700" y="705803"/>
            <a:ext cx="12099668" cy="664844"/>
          </a:xfrm>
          <a:prstGeom prst="rect">
            <a:avLst/>
          </a:prstGeom>
          <a:noFill/>
          <a:ln>
            <a:noFill/>
          </a:ln>
        </p:spPr>
        <p:txBody>
          <a:bodyPr spcFirstLastPara="1" wrap="square" lIns="0" tIns="0" rIns="0" bIns="0" anchor="t" anchorCtr="0">
            <a:spAutoFit/>
          </a:bodyPr>
          <a:lstStyle/>
          <a:p>
            <a:pPr marL="0" marR="0" lvl="0" indent="0" algn="l" rtl="0">
              <a:lnSpc>
                <a:spcPct val="112002"/>
              </a:lnSpc>
              <a:spcBef>
                <a:spcPts val="0"/>
              </a:spcBef>
              <a:spcAft>
                <a:spcPts val="0"/>
              </a:spcAft>
              <a:buNone/>
            </a:pPr>
            <a:r>
              <a:rPr lang="en-US" sz="4499" b="0" i="0" u="none" strike="noStrike" cap="none">
                <a:solidFill>
                  <a:srgbClr val="000000"/>
                </a:solidFill>
                <a:latin typeface="Roboto"/>
                <a:ea typeface="Roboto"/>
                <a:cs typeface="Roboto"/>
                <a:sym typeface="Roboto"/>
              </a:rPr>
              <a:t>CÓMO LO RESOLVEREMOS</a:t>
            </a:r>
            <a:endParaRPr/>
          </a:p>
        </p:txBody>
      </p:sp>
      <p:sp>
        <p:nvSpPr>
          <p:cNvPr id="147" name="Google Shape;147;p4"/>
          <p:cNvSpPr txBox="1"/>
          <p:nvPr/>
        </p:nvSpPr>
        <p:spPr>
          <a:xfrm>
            <a:off x="1403117" y="6042025"/>
            <a:ext cx="1968817"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1" i="0" u="none" strike="noStrike" cap="none">
                <a:solidFill>
                  <a:srgbClr val="000000"/>
                </a:solidFill>
                <a:latin typeface="Roboto"/>
                <a:ea typeface="Roboto"/>
                <a:cs typeface="Roboto"/>
                <a:sym typeface="Roboto"/>
              </a:rPr>
              <a:t>Carnet físico</a:t>
            </a:r>
            <a:endParaRPr/>
          </a:p>
        </p:txBody>
      </p:sp>
      <p:sp>
        <p:nvSpPr>
          <p:cNvPr id="148" name="Google Shape;148;p4"/>
          <p:cNvSpPr txBox="1"/>
          <p:nvPr/>
        </p:nvSpPr>
        <p:spPr>
          <a:xfrm>
            <a:off x="769466" y="6685826"/>
            <a:ext cx="3236119" cy="869949"/>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500" b="0" i="0" u="none" strike="noStrike" cap="none">
                <a:solidFill>
                  <a:srgbClr val="000000"/>
                </a:solidFill>
                <a:latin typeface="Roboto"/>
                <a:ea typeface="Roboto"/>
                <a:cs typeface="Roboto"/>
                <a:sym typeface="Roboto"/>
              </a:rPr>
              <a:t>Vacunas, tratamientos </a:t>
            </a:r>
            <a:endParaRPr/>
          </a:p>
          <a:p>
            <a:pPr marL="0" marR="0" lvl="0" indent="0" algn="ctr" rtl="0">
              <a:lnSpc>
                <a:spcPct val="140000"/>
              </a:lnSpc>
              <a:spcBef>
                <a:spcPts val="0"/>
              </a:spcBef>
              <a:spcAft>
                <a:spcPts val="0"/>
              </a:spcAft>
              <a:buNone/>
            </a:pPr>
            <a:r>
              <a:rPr lang="en-US" sz="2500" b="0" i="0" u="none" strike="noStrike" cap="none">
                <a:solidFill>
                  <a:srgbClr val="000000"/>
                </a:solidFill>
                <a:latin typeface="Roboto"/>
                <a:ea typeface="Roboto"/>
                <a:cs typeface="Roboto"/>
                <a:sym typeface="Roboto"/>
              </a:rPr>
              <a:t>y recetas en papel.</a:t>
            </a:r>
            <a:endParaRPr/>
          </a:p>
        </p:txBody>
      </p:sp>
      <p:sp>
        <p:nvSpPr>
          <p:cNvPr id="149" name="Google Shape;149;p4"/>
          <p:cNvSpPr txBox="1"/>
          <p:nvPr/>
        </p:nvSpPr>
        <p:spPr>
          <a:xfrm>
            <a:off x="5647879" y="6042025"/>
            <a:ext cx="2861310"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1" i="0" u="none" strike="noStrike" cap="none">
                <a:solidFill>
                  <a:srgbClr val="000000"/>
                </a:solidFill>
                <a:latin typeface="Roboto"/>
                <a:ea typeface="Roboto"/>
                <a:cs typeface="Roboto"/>
                <a:sym typeface="Roboto"/>
              </a:rPr>
              <a:t>Digitalización OCR</a:t>
            </a:r>
            <a:endParaRPr/>
          </a:p>
        </p:txBody>
      </p:sp>
      <p:sp>
        <p:nvSpPr>
          <p:cNvPr id="150" name="Google Shape;150;p4"/>
          <p:cNvSpPr txBox="1"/>
          <p:nvPr/>
        </p:nvSpPr>
        <p:spPr>
          <a:xfrm>
            <a:off x="5848637" y="6764020"/>
            <a:ext cx="2459795" cy="860957"/>
          </a:xfrm>
          <a:prstGeom prst="rect">
            <a:avLst/>
          </a:prstGeom>
          <a:noFill/>
          <a:ln>
            <a:noFill/>
          </a:ln>
        </p:spPr>
        <p:txBody>
          <a:bodyPr spcFirstLastPara="1" wrap="square" lIns="0" tIns="0" rIns="0" bIns="0" anchor="t" anchorCtr="0">
            <a:spAutoFit/>
          </a:bodyPr>
          <a:lstStyle/>
          <a:p>
            <a:pPr marL="0" marR="0" lvl="0" indent="0" algn="ctr" rtl="0">
              <a:lnSpc>
                <a:spcPct val="139991"/>
              </a:lnSpc>
              <a:spcBef>
                <a:spcPts val="0"/>
              </a:spcBef>
              <a:spcAft>
                <a:spcPts val="0"/>
              </a:spcAft>
              <a:buNone/>
            </a:pPr>
            <a:r>
              <a:rPr lang="en-US" sz="2443" b="0" i="0" u="none" strike="noStrike" cap="none">
                <a:solidFill>
                  <a:srgbClr val="000000"/>
                </a:solidFill>
                <a:latin typeface="Roboto"/>
                <a:ea typeface="Roboto"/>
                <a:cs typeface="Roboto"/>
                <a:sym typeface="Roboto"/>
              </a:rPr>
              <a:t>El sistema extrae </a:t>
            </a:r>
            <a:endParaRPr/>
          </a:p>
          <a:p>
            <a:pPr marL="0" marR="0" lvl="0" indent="0" algn="ctr" rtl="0">
              <a:lnSpc>
                <a:spcPct val="139991"/>
              </a:lnSpc>
              <a:spcBef>
                <a:spcPts val="0"/>
              </a:spcBef>
              <a:spcAft>
                <a:spcPts val="0"/>
              </a:spcAft>
              <a:buNone/>
            </a:pPr>
            <a:r>
              <a:rPr lang="en-US" sz="2443" b="0" i="0" u="none" strike="noStrike" cap="none">
                <a:solidFill>
                  <a:srgbClr val="000000"/>
                </a:solidFill>
                <a:latin typeface="Roboto"/>
                <a:ea typeface="Roboto"/>
                <a:cs typeface="Roboto"/>
                <a:sym typeface="Roboto"/>
              </a:rPr>
              <a:t>y valida los datos.</a:t>
            </a:r>
            <a:endParaRPr/>
          </a:p>
        </p:txBody>
      </p:sp>
      <p:sp>
        <p:nvSpPr>
          <p:cNvPr id="151" name="Google Shape;151;p4"/>
          <p:cNvSpPr txBox="1"/>
          <p:nvPr/>
        </p:nvSpPr>
        <p:spPr>
          <a:xfrm>
            <a:off x="10354709" y="6042025"/>
            <a:ext cx="2508726"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1" i="0" u="none" strike="noStrike" cap="none">
                <a:solidFill>
                  <a:srgbClr val="000000"/>
                </a:solidFill>
                <a:latin typeface="Roboto"/>
                <a:ea typeface="Roboto"/>
                <a:cs typeface="Roboto"/>
                <a:sym typeface="Roboto"/>
              </a:rPr>
              <a:t>Perfil en la nube</a:t>
            </a:r>
            <a:endParaRPr/>
          </a:p>
        </p:txBody>
      </p:sp>
      <p:sp>
        <p:nvSpPr>
          <p:cNvPr id="152" name="Google Shape;152;p4"/>
          <p:cNvSpPr txBox="1"/>
          <p:nvPr/>
        </p:nvSpPr>
        <p:spPr>
          <a:xfrm>
            <a:off x="10113431" y="6676301"/>
            <a:ext cx="2991282" cy="860957"/>
          </a:xfrm>
          <a:prstGeom prst="rect">
            <a:avLst/>
          </a:prstGeom>
          <a:noFill/>
          <a:ln>
            <a:noFill/>
          </a:ln>
        </p:spPr>
        <p:txBody>
          <a:bodyPr spcFirstLastPara="1" wrap="square" lIns="0" tIns="0" rIns="0" bIns="0" anchor="t" anchorCtr="0">
            <a:spAutoFit/>
          </a:bodyPr>
          <a:lstStyle/>
          <a:p>
            <a:pPr marL="0" marR="0" lvl="0" indent="0" algn="ctr" rtl="0">
              <a:lnSpc>
                <a:spcPct val="139991"/>
              </a:lnSpc>
              <a:spcBef>
                <a:spcPts val="0"/>
              </a:spcBef>
              <a:spcAft>
                <a:spcPts val="0"/>
              </a:spcAft>
              <a:buNone/>
            </a:pPr>
            <a:r>
              <a:rPr lang="en-US" sz="2443" b="0" i="0" u="none" strike="noStrike" cap="none">
                <a:solidFill>
                  <a:srgbClr val="000000"/>
                </a:solidFill>
                <a:latin typeface="Roboto"/>
                <a:ea typeface="Roboto"/>
                <a:cs typeface="Roboto"/>
                <a:sym typeface="Roboto"/>
              </a:rPr>
              <a:t>Historial centralizado</a:t>
            </a:r>
            <a:endParaRPr/>
          </a:p>
          <a:p>
            <a:pPr marL="0" marR="0" lvl="0" indent="0" algn="ctr" rtl="0">
              <a:lnSpc>
                <a:spcPct val="139991"/>
              </a:lnSpc>
              <a:spcBef>
                <a:spcPts val="0"/>
              </a:spcBef>
              <a:spcAft>
                <a:spcPts val="0"/>
              </a:spcAft>
              <a:buNone/>
            </a:pPr>
            <a:r>
              <a:rPr lang="en-US" sz="2443" b="0" i="0" u="none" strike="noStrike" cap="none">
                <a:solidFill>
                  <a:srgbClr val="000000"/>
                </a:solidFill>
                <a:latin typeface="Roboto"/>
                <a:ea typeface="Roboto"/>
                <a:cs typeface="Roboto"/>
                <a:sym typeface="Roboto"/>
              </a:rPr>
              <a:t> y siempre disponible.</a:t>
            </a:r>
            <a:endParaRPr/>
          </a:p>
        </p:txBody>
      </p:sp>
      <p:sp>
        <p:nvSpPr>
          <p:cNvPr id="153" name="Google Shape;153;p4"/>
          <p:cNvSpPr txBox="1"/>
          <p:nvPr/>
        </p:nvSpPr>
        <p:spPr>
          <a:xfrm>
            <a:off x="14888609" y="6042025"/>
            <a:ext cx="3011329"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1" i="0" u="none" strike="noStrike" cap="none">
                <a:solidFill>
                  <a:srgbClr val="000000"/>
                </a:solidFill>
                <a:latin typeface="Roboto"/>
                <a:ea typeface="Roboto"/>
                <a:cs typeface="Roboto"/>
                <a:sym typeface="Roboto"/>
              </a:rPr>
              <a:t>QR/NFC en el collar</a:t>
            </a:r>
            <a:endParaRPr/>
          </a:p>
        </p:txBody>
      </p:sp>
      <p:sp>
        <p:nvSpPr>
          <p:cNvPr id="154" name="Google Shape;154;p4"/>
          <p:cNvSpPr txBox="1"/>
          <p:nvPr/>
        </p:nvSpPr>
        <p:spPr>
          <a:xfrm>
            <a:off x="14471892" y="6676301"/>
            <a:ext cx="3816108" cy="1289126"/>
          </a:xfrm>
          <a:prstGeom prst="rect">
            <a:avLst/>
          </a:prstGeom>
          <a:noFill/>
          <a:ln>
            <a:noFill/>
          </a:ln>
        </p:spPr>
        <p:txBody>
          <a:bodyPr spcFirstLastPara="1" wrap="square" lIns="0" tIns="0" rIns="0" bIns="0" anchor="t" anchorCtr="0">
            <a:spAutoFit/>
          </a:bodyPr>
          <a:lstStyle/>
          <a:p>
            <a:pPr marL="0" marR="0" lvl="0" indent="0" algn="ctr" rtl="0">
              <a:lnSpc>
                <a:spcPct val="139991"/>
              </a:lnSpc>
              <a:spcBef>
                <a:spcPts val="0"/>
              </a:spcBef>
              <a:spcAft>
                <a:spcPts val="0"/>
              </a:spcAft>
              <a:buNone/>
            </a:pPr>
            <a:r>
              <a:rPr lang="en-US" sz="2443" b="0" i="0" u="none" strike="noStrike" cap="none">
                <a:solidFill>
                  <a:srgbClr val="000000"/>
                </a:solidFill>
                <a:latin typeface="Roboto"/>
                <a:ea typeface="Roboto"/>
                <a:cs typeface="Roboto"/>
                <a:sym typeface="Roboto"/>
              </a:rPr>
              <a:t>Acceso instantáneo a datos de emergencia, sin instalar la app.</a:t>
            </a:r>
            <a:endParaRPr/>
          </a:p>
        </p:txBody>
      </p:sp>
      <p:sp>
        <p:nvSpPr>
          <p:cNvPr id="155" name="Google Shape;155;p4"/>
          <p:cNvSpPr/>
          <p:nvPr/>
        </p:nvSpPr>
        <p:spPr>
          <a:xfrm>
            <a:off x="8422961" y="4877686"/>
            <a:ext cx="2112306" cy="591446"/>
          </a:xfrm>
          <a:custGeom>
            <a:avLst/>
            <a:gdLst/>
            <a:ahLst/>
            <a:cxnLst/>
            <a:rect l="l" t="t" r="r" b="b"/>
            <a:pathLst>
              <a:path w="2112306" h="591446" extrusionOk="0">
                <a:moveTo>
                  <a:pt x="0" y="0"/>
                </a:moveTo>
                <a:lnTo>
                  <a:pt x="2112306" y="0"/>
                </a:lnTo>
                <a:lnTo>
                  <a:pt x="2112306" y="591446"/>
                </a:lnTo>
                <a:lnTo>
                  <a:pt x="0" y="591446"/>
                </a:lnTo>
                <a:lnTo>
                  <a:pt x="0" y="0"/>
                </a:lnTo>
                <a:close/>
              </a:path>
            </a:pathLst>
          </a:custGeom>
          <a:blipFill rotWithShape="1">
            <a:blip r:embed="rId7">
              <a:alphaModFix/>
            </a:blip>
            <a:stretch>
              <a:fillRect/>
            </a:stretch>
          </a:blipFill>
          <a:ln>
            <a:noFill/>
          </a:ln>
        </p:spPr>
      </p:sp>
      <p:sp>
        <p:nvSpPr>
          <p:cNvPr id="156" name="Google Shape;156;p4"/>
          <p:cNvSpPr/>
          <p:nvPr/>
        </p:nvSpPr>
        <p:spPr>
          <a:xfrm>
            <a:off x="13128368" y="4847777"/>
            <a:ext cx="2112306" cy="591446"/>
          </a:xfrm>
          <a:custGeom>
            <a:avLst/>
            <a:gdLst/>
            <a:ahLst/>
            <a:cxnLst/>
            <a:rect l="l" t="t" r="r" b="b"/>
            <a:pathLst>
              <a:path w="2112306" h="591446" extrusionOk="0">
                <a:moveTo>
                  <a:pt x="0" y="0"/>
                </a:moveTo>
                <a:lnTo>
                  <a:pt x="2112306" y="0"/>
                </a:lnTo>
                <a:lnTo>
                  <a:pt x="2112306" y="591446"/>
                </a:lnTo>
                <a:lnTo>
                  <a:pt x="0" y="591446"/>
                </a:lnTo>
                <a:lnTo>
                  <a:pt x="0" y="0"/>
                </a:lnTo>
                <a:close/>
              </a:path>
            </a:pathLst>
          </a:custGeom>
          <a:blipFill rotWithShape="1">
            <a:blip r:embed="rId7">
              <a:alphaModFix/>
            </a:blip>
            <a:stretch>
              <a:fillRect/>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grpSp>
        <p:nvGrpSpPr>
          <p:cNvPr id="161" name="Google Shape;161;p5"/>
          <p:cNvGrpSpPr/>
          <p:nvPr/>
        </p:nvGrpSpPr>
        <p:grpSpPr>
          <a:xfrm>
            <a:off x="1028700" y="3617522"/>
            <a:ext cx="16230600" cy="2907295"/>
            <a:chOff x="0" y="-38100"/>
            <a:chExt cx="4274726" cy="765707"/>
          </a:xfrm>
        </p:grpSpPr>
        <p:sp>
          <p:nvSpPr>
            <p:cNvPr id="162" name="Google Shape;162;p5"/>
            <p:cNvSpPr/>
            <p:nvPr/>
          </p:nvSpPr>
          <p:spPr>
            <a:xfrm>
              <a:off x="0" y="0"/>
              <a:ext cx="4274726" cy="727607"/>
            </a:xfrm>
            <a:custGeom>
              <a:avLst/>
              <a:gdLst/>
              <a:ahLst/>
              <a:cxnLst/>
              <a:rect l="l" t="t" r="r" b="b"/>
              <a:pathLst>
                <a:path w="4274726" h="727607" extrusionOk="0">
                  <a:moveTo>
                    <a:pt x="0" y="0"/>
                  </a:moveTo>
                  <a:lnTo>
                    <a:pt x="4274726" y="0"/>
                  </a:lnTo>
                  <a:lnTo>
                    <a:pt x="4274726" y="727607"/>
                  </a:lnTo>
                  <a:lnTo>
                    <a:pt x="0" y="727607"/>
                  </a:lnTo>
                  <a:close/>
                </a:path>
              </a:pathLst>
            </a:custGeom>
            <a:solidFill>
              <a:srgbClr val="6B9C6F"/>
            </a:solidFill>
            <a:ln>
              <a:noFill/>
            </a:ln>
          </p:spPr>
        </p:sp>
        <p:sp>
          <p:nvSpPr>
            <p:cNvPr id="163" name="Google Shape;163;p5"/>
            <p:cNvSpPr txBox="1"/>
            <p:nvPr/>
          </p:nvSpPr>
          <p:spPr>
            <a:xfrm>
              <a:off x="0" y="-38100"/>
              <a:ext cx="4274726" cy="765707"/>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64" name="Google Shape;164;p5"/>
          <p:cNvSpPr/>
          <p:nvPr/>
        </p:nvSpPr>
        <p:spPr>
          <a:xfrm>
            <a:off x="8203019" y="6967899"/>
            <a:ext cx="1881963" cy="1881963"/>
          </a:xfrm>
          <a:custGeom>
            <a:avLst/>
            <a:gdLst/>
            <a:ahLst/>
            <a:cxnLst/>
            <a:rect l="l" t="t" r="r" b="b"/>
            <a:pathLst>
              <a:path w="1881963" h="1881963" extrusionOk="0">
                <a:moveTo>
                  <a:pt x="0" y="0"/>
                </a:moveTo>
                <a:lnTo>
                  <a:pt x="1881962" y="0"/>
                </a:lnTo>
                <a:lnTo>
                  <a:pt x="1881962" y="1881963"/>
                </a:lnTo>
                <a:lnTo>
                  <a:pt x="0" y="1881963"/>
                </a:lnTo>
                <a:lnTo>
                  <a:pt x="0" y="0"/>
                </a:lnTo>
                <a:close/>
              </a:path>
            </a:pathLst>
          </a:custGeom>
          <a:blipFill rotWithShape="1">
            <a:blip r:embed="rId3">
              <a:alphaModFix/>
            </a:blip>
            <a:stretch>
              <a:fillRect/>
            </a:stretch>
          </a:blipFill>
          <a:ln>
            <a:noFill/>
          </a:ln>
        </p:spPr>
      </p:sp>
      <p:sp>
        <p:nvSpPr>
          <p:cNvPr id="165" name="Google Shape;165;p5"/>
          <p:cNvSpPr txBox="1"/>
          <p:nvPr/>
        </p:nvSpPr>
        <p:spPr>
          <a:xfrm>
            <a:off x="1028700" y="705803"/>
            <a:ext cx="12099668" cy="664844"/>
          </a:xfrm>
          <a:prstGeom prst="rect">
            <a:avLst/>
          </a:prstGeom>
          <a:noFill/>
          <a:ln>
            <a:noFill/>
          </a:ln>
        </p:spPr>
        <p:txBody>
          <a:bodyPr spcFirstLastPara="1" wrap="square" lIns="0" tIns="0" rIns="0" bIns="0" anchor="t" anchorCtr="0">
            <a:spAutoFit/>
          </a:bodyPr>
          <a:lstStyle/>
          <a:p>
            <a:pPr marL="0" marR="0" lvl="0" indent="0" algn="l" rtl="0">
              <a:lnSpc>
                <a:spcPct val="112002"/>
              </a:lnSpc>
              <a:spcBef>
                <a:spcPts val="0"/>
              </a:spcBef>
              <a:spcAft>
                <a:spcPts val="0"/>
              </a:spcAft>
              <a:buNone/>
            </a:pPr>
            <a:r>
              <a:rPr lang="en-US" sz="4499" b="0" i="0" u="none" strike="noStrike" cap="none">
                <a:solidFill>
                  <a:srgbClr val="000000"/>
                </a:solidFill>
                <a:latin typeface="Roboto"/>
                <a:ea typeface="Roboto"/>
                <a:cs typeface="Roboto"/>
                <a:sym typeface="Roboto"/>
              </a:rPr>
              <a:t>OBJETIVO GENERAL</a:t>
            </a:r>
            <a:endParaRPr/>
          </a:p>
        </p:txBody>
      </p:sp>
      <p:sp>
        <p:nvSpPr>
          <p:cNvPr id="166" name="Google Shape;166;p5"/>
          <p:cNvSpPr txBox="1"/>
          <p:nvPr/>
        </p:nvSpPr>
        <p:spPr>
          <a:xfrm>
            <a:off x="1594884" y="4210367"/>
            <a:ext cx="15098233" cy="1790066"/>
          </a:xfrm>
          <a:prstGeom prst="rect">
            <a:avLst/>
          </a:prstGeom>
          <a:noFill/>
          <a:ln>
            <a:noFill/>
          </a:ln>
        </p:spPr>
        <p:txBody>
          <a:bodyPr spcFirstLastPara="1" wrap="square" lIns="0" tIns="0" rIns="0" bIns="0" anchor="t" anchorCtr="0">
            <a:spAutoFit/>
          </a:bodyPr>
          <a:lstStyle/>
          <a:p>
            <a:pPr marL="0" marR="0" lvl="0" indent="0" algn="ctr" rtl="0">
              <a:lnSpc>
                <a:spcPct val="140011"/>
              </a:lnSpc>
              <a:spcBef>
                <a:spcPts val="0"/>
              </a:spcBef>
              <a:spcAft>
                <a:spcPts val="0"/>
              </a:spcAft>
              <a:buNone/>
            </a:pPr>
            <a:r>
              <a:rPr lang="en-US" sz="3399" b="0" i="0" u="none" strike="noStrike" cap="none">
                <a:solidFill>
                  <a:srgbClr val="FFFFFF"/>
                </a:solidFill>
                <a:latin typeface="Roboto"/>
                <a:ea typeface="Roboto"/>
                <a:cs typeface="Roboto"/>
                <a:sym typeface="Roboto"/>
              </a:rPr>
              <a:t>Desarrollar una aplicación móvil/web responsiva para la gestión integral de historiales veterinarios mediante tecnologías OCR e identificación por QR/NFC.</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grpSp>
        <p:nvGrpSpPr>
          <p:cNvPr id="171" name="Google Shape;171;p6"/>
          <p:cNvGrpSpPr/>
          <p:nvPr/>
        </p:nvGrpSpPr>
        <p:grpSpPr>
          <a:xfrm>
            <a:off x="858567" y="1116856"/>
            <a:ext cx="16619419" cy="7453486"/>
            <a:chOff x="0" y="-38100"/>
            <a:chExt cx="4377131" cy="1963058"/>
          </a:xfrm>
        </p:grpSpPr>
        <p:sp>
          <p:nvSpPr>
            <p:cNvPr id="172" name="Google Shape;172;p6"/>
            <p:cNvSpPr/>
            <p:nvPr/>
          </p:nvSpPr>
          <p:spPr>
            <a:xfrm>
              <a:off x="0" y="0"/>
              <a:ext cx="4377131" cy="1924958"/>
            </a:xfrm>
            <a:custGeom>
              <a:avLst/>
              <a:gdLst/>
              <a:ahLst/>
              <a:cxnLst/>
              <a:rect l="l" t="t" r="r" b="b"/>
              <a:pathLst>
                <a:path w="4377131" h="1924958" extrusionOk="0">
                  <a:moveTo>
                    <a:pt x="0" y="0"/>
                  </a:moveTo>
                  <a:lnTo>
                    <a:pt x="4377131" y="0"/>
                  </a:lnTo>
                  <a:lnTo>
                    <a:pt x="4377131" y="1924958"/>
                  </a:lnTo>
                  <a:lnTo>
                    <a:pt x="0" y="1924958"/>
                  </a:lnTo>
                  <a:close/>
                </a:path>
              </a:pathLst>
            </a:custGeom>
            <a:solidFill>
              <a:srgbClr val="6B9C6F"/>
            </a:solidFill>
            <a:ln w="133350" cap="sq" cmpd="sng">
              <a:solidFill>
                <a:srgbClr val="6B9C6F"/>
              </a:solidFill>
              <a:prstDash val="solid"/>
              <a:miter lim="8000"/>
              <a:headEnd type="none" w="sm" len="sm"/>
              <a:tailEnd type="none" w="sm" len="sm"/>
            </a:ln>
          </p:spPr>
        </p:sp>
        <p:sp>
          <p:nvSpPr>
            <p:cNvPr id="173" name="Google Shape;173;p6"/>
            <p:cNvSpPr txBox="1"/>
            <p:nvPr/>
          </p:nvSpPr>
          <p:spPr>
            <a:xfrm>
              <a:off x="0" y="-38100"/>
              <a:ext cx="4377131" cy="196305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4" name="Google Shape;174;p6"/>
          <p:cNvGrpSpPr/>
          <p:nvPr/>
        </p:nvGrpSpPr>
        <p:grpSpPr>
          <a:xfrm>
            <a:off x="3091519" y="-144661"/>
            <a:ext cx="15035243" cy="6972699"/>
            <a:chOff x="0" y="-38100"/>
            <a:chExt cx="3959899" cy="1836431"/>
          </a:xfrm>
        </p:grpSpPr>
        <p:sp>
          <p:nvSpPr>
            <p:cNvPr id="175" name="Google Shape;175;p6"/>
            <p:cNvSpPr/>
            <p:nvPr/>
          </p:nvSpPr>
          <p:spPr>
            <a:xfrm>
              <a:off x="0" y="0"/>
              <a:ext cx="3959899" cy="1798331"/>
            </a:xfrm>
            <a:custGeom>
              <a:avLst/>
              <a:gdLst/>
              <a:ahLst/>
              <a:cxnLst/>
              <a:rect l="l" t="t" r="r" b="b"/>
              <a:pathLst>
                <a:path w="3959899" h="1798331" extrusionOk="0">
                  <a:moveTo>
                    <a:pt x="0" y="0"/>
                  </a:moveTo>
                  <a:lnTo>
                    <a:pt x="3959899" y="0"/>
                  </a:lnTo>
                  <a:lnTo>
                    <a:pt x="3959899" y="1798331"/>
                  </a:lnTo>
                  <a:lnTo>
                    <a:pt x="0" y="1798331"/>
                  </a:lnTo>
                  <a:close/>
                </a:path>
              </a:pathLst>
            </a:custGeom>
            <a:solidFill>
              <a:srgbClr val="6B9C6F"/>
            </a:solidFill>
            <a:ln>
              <a:noFill/>
            </a:ln>
          </p:spPr>
        </p:sp>
        <p:sp>
          <p:nvSpPr>
            <p:cNvPr id="176" name="Google Shape;176;p6"/>
            <p:cNvSpPr txBox="1"/>
            <p:nvPr/>
          </p:nvSpPr>
          <p:spPr>
            <a:xfrm>
              <a:off x="0" y="-38100"/>
              <a:ext cx="3959899" cy="1836431"/>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7" name="Google Shape;177;p6"/>
          <p:cNvGrpSpPr/>
          <p:nvPr/>
        </p:nvGrpSpPr>
        <p:grpSpPr>
          <a:xfrm>
            <a:off x="4472820" y="1958133"/>
            <a:ext cx="1140481" cy="1110913"/>
            <a:chOff x="0" y="0"/>
            <a:chExt cx="685800" cy="668020"/>
          </a:xfrm>
        </p:grpSpPr>
        <p:sp>
          <p:nvSpPr>
            <p:cNvPr id="178" name="Google Shape;178;p6"/>
            <p:cNvSpPr/>
            <p:nvPr/>
          </p:nvSpPr>
          <p:spPr>
            <a:xfrm>
              <a:off x="0" y="0"/>
              <a:ext cx="685800" cy="668020"/>
            </a:xfrm>
            <a:custGeom>
              <a:avLst/>
              <a:gdLst/>
              <a:ahLst/>
              <a:cxnLst/>
              <a:rect l="l" t="t" r="r" b="b"/>
              <a:pathLst>
                <a:path w="685800" h="668020" extrusionOk="0">
                  <a:moveTo>
                    <a:pt x="342900" y="0"/>
                  </a:moveTo>
                  <a:lnTo>
                    <a:pt x="434340" y="162560"/>
                  </a:lnTo>
                  <a:lnTo>
                    <a:pt x="618490" y="132080"/>
                  </a:lnTo>
                  <a:lnTo>
                    <a:pt x="547370" y="304800"/>
                  </a:lnTo>
                  <a:lnTo>
                    <a:pt x="685800" y="430530"/>
                  </a:lnTo>
                  <a:lnTo>
                    <a:pt x="506730" y="482600"/>
                  </a:lnTo>
                  <a:lnTo>
                    <a:pt x="495300" y="668020"/>
                  </a:lnTo>
                  <a:lnTo>
                    <a:pt x="342900" y="561340"/>
                  </a:lnTo>
                  <a:lnTo>
                    <a:pt x="190500" y="668020"/>
                  </a:lnTo>
                  <a:lnTo>
                    <a:pt x="179070" y="482600"/>
                  </a:lnTo>
                  <a:lnTo>
                    <a:pt x="0" y="430530"/>
                  </a:lnTo>
                  <a:lnTo>
                    <a:pt x="138430" y="304800"/>
                  </a:lnTo>
                  <a:lnTo>
                    <a:pt x="67310" y="132080"/>
                  </a:lnTo>
                  <a:lnTo>
                    <a:pt x="251460" y="162560"/>
                  </a:lnTo>
                  <a:close/>
                </a:path>
              </a:pathLst>
            </a:custGeom>
            <a:solidFill>
              <a:srgbClr val="FFFFFF"/>
            </a:solidFill>
            <a:ln>
              <a:noFill/>
            </a:ln>
          </p:spPr>
        </p:sp>
        <p:sp>
          <p:nvSpPr>
            <p:cNvPr id="179" name="Google Shape;179;p6"/>
            <p:cNvSpPr txBox="1"/>
            <p:nvPr/>
          </p:nvSpPr>
          <p:spPr>
            <a:xfrm>
              <a:off x="139700" y="127000"/>
              <a:ext cx="406400" cy="4318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80" name="Google Shape;180;p6"/>
          <p:cNvSpPr/>
          <p:nvPr/>
        </p:nvSpPr>
        <p:spPr>
          <a:xfrm>
            <a:off x="10049459" y="1958133"/>
            <a:ext cx="1119361" cy="1119361"/>
          </a:xfrm>
          <a:custGeom>
            <a:avLst/>
            <a:gdLst/>
            <a:ahLst/>
            <a:cxnLst/>
            <a:rect l="l" t="t" r="r" b="b"/>
            <a:pathLst>
              <a:path w="1119361" h="1119361" extrusionOk="0">
                <a:moveTo>
                  <a:pt x="0" y="0"/>
                </a:moveTo>
                <a:lnTo>
                  <a:pt x="1119361" y="0"/>
                </a:lnTo>
                <a:lnTo>
                  <a:pt x="1119361" y="1119361"/>
                </a:lnTo>
                <a:lnTo>
                  <a:pt x="0" y="1119361"/>
                </a:lnTo>
                <a:lnTo>
                  <a:pt x="0" y="0"/>
                </a:lnTo>
                <a:close/>
              </a:path>
            </a:pathLst>
          </a:custGeom>
          <a:blipFill rotWithShape="1">
            <a:blip r:embed="rId3">
              <a:alphaModFix/>
            </a:blip>
            <a:stretch>
              <a:fillRect/>
            </a:stretch>
          </a:blipFill>
          <a:ln>
            <a:noFill/>
          </a:ln>
        </p:spPr>
      </p:sp>
      <p:sp>
        <p:nvSpPr>
          <p:cNvPr id="181" name="Google Shape;181;p6"/>
          <p:cNvSpPr/>
          <p:nvPr/>
        </p:nvSpPr>
        <p:spPr>
          <a:xfrm>
            <a:off x="15088609" y="1885582"/>
            <a:ext cx="1324045" cy="1264463"/>
          </a:xfrm>
          <a:custGeom>
            <a:avLst/>
            <a:gdLst/>
            <a:ahLst/>
            <a:cxnLst/>
            <a:rect l="l" t="t" r="r" b="b"/>
            <a:pathLst>
              <a:path w="1324045" h="1264463" extrusionOk="0">
                <a:moveTo>
                  <a:pt x="0" y="0"/>
                </a:moveTo>
                <a:lnTo>
                  <a:pt x="1324044" y="0"/>
                </a:lnTo>
                <a:lnTo>
                  <a:pt x="1324044" y="1264463"/>
                </a:lnTo>
                <a:lnTo>
                  <a:pt x="0" y="1264463"/>
                </a:lnTo>
                <a:lnTo>
                  <a:pt x="0" y="0"/>
                </a:lnTo>
                <a:close/>
              </a:path>
            </a:pathLst>
          </a:custGeom>
          <a:blipFill rotWithShape="1">
            <a:blip r:embed="rId4">
              <a:alphaModFix/>
            </a:blip>
            <a:stretch>
              <a:fillRect/>
            </a:stretch>
          </a:blipFill>
          <a:ln>
            <a:noFill/>
          </a:ln>
        </p:spPr>
      </p:sp>
      <p:sp>
        <p:nvSpPr>
          <p:cNvPr id="182" name="Google Shape;182;p6"/>
          <p:cNvSpPr txBox="1"/>
          <p:nvPr/>
        </p:nvSpPr>
        <p:spPr>
          <a:xfrm>
            <a:off x="4911741" y="705803"/>
            <a:ext cx="10838889" cy="664844"/>
          </a:xfrm>
          <a:prstGeom prst="rect">
            <a:avLst/>
          </a:prstGeom>
          <a:noFill/>
          <a:ln>
            <a:noFill/>
          </a:ln>
        </p:spPr>
        <p:txBody>
          <a:bodyPr spcFirstLastPara="1" wrap="square" lIns="0" tIns="0" rIns="0" bIns="0" anchor="t" anchorCtr="0">
            <a:spAutoFit/>
          </a:bodyPr>
          <a:lstStyle/>
          <a:p>
            <a:pPr marL="0" marR="0" lvl="0" indent="0" algn="l" rtl="0">
              <a:lnSpc>
                <a:spcPct val="112002"/>
              </a:lnSpc>
              <a:spcBef>
                <a:spcPts val="0"/>
              </a:spcBef>
              <a:spcAft>
                <a:spcPts val="0"/>
              </a:spcAft>
              <a:buNone/>
            </a:pPr>
            <a:r>
              <a:rPr lang="en-US" sz="4499" b="0" i="0" u="none" strike="noStrike" cap="none">
                <a:solidFill>
                  <a:srgbClr val="FFFFFF"/>
                </a:solidFill>
                <a:latin typeface="Roboto"/>
                <a:ea typeface="Roboto"/>
                <a:cs typeface="Roboto"/>
                <a:sym typeface="Roboto"/>
              </a:rPr>
              <a:t>OBJETIVOS ESPECÍFICOS</a:t>
            </a:r>
            <a:endParaRPr/>
          </a:p>
        </p:txBody>
      </p:sp>
      <p:sp>
        <p:nvSpPr>
          <p:cNvPr id="183" name="Google Shape;183;p6"/>
          <p:cNvSpPr txBox="1"/>
          <p:nvPr/>
        </p:nvSpPr>
        <p:spPr>
          <a:xfrm>
            <a:off x="3639941" y="3804679"/>
            <a:ext cx="2806241" cy="2174875"/>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None/>
            </a:pPr>
            <a:r>
              <a:rPr lang="en-US" sz="2499" b="0" i="0" u="none" strike="noStrike" cap="none">
                <a:solidFill>
                  <a:srgbClr val="FFFFFF"/>
                </a:solidFill>
                <a:latin typeface="Roboto"/>
                <a:ea typeface="Roboto"/>
                <a:cs typeface="Roboto"/>
                <a:sym typeface="Roboto"/>
              </a:rPr>
              <a:t>Retención de usuarios activos mensuales al finalizar el primer semestre.</a:t>
            </a:r>
            <a:endParaRPr/>
          </a:p>
        </p:txBody>
      </p:sp>
      <p:sp>
        <p:nvSpPr>
          <p:cNvPr id="184" name="Google Shape;184;p6"/>
          <p:cNvSpPr txBox="1"/>
          <p:nvPr/>
        </p:nvSpPr>
        <p:spPr>
          <a:xfrm>
            <a:off x="4341501" y="3156606"/>
            <a:ext cx="1403120" cy="540386"/>
          </a:xfrm>
          <a:prstGeom prst="rect">
            <a:avLst/>
          </a:prstGeom>
          <a:noFill/>
          <a:ln>
            <a:noFill/>
          </a:ln>
        </p:spPr>
        <p:txBody>
          <a:bodyPr spcFirstLastPara="1" wrap="square" lIns="0" tIns="0" rIns="0" bIns="0" anchor="t" anchorCtr="0">
            <a:spAutoFit/>
          </a:bodyPr>
          <a:lstStyle/>
          <a:p>
            <a:pPr marL="0" marR="0" lvl="0" indent="0" algn="ctr" rtl="0">
              <a:lnSpc>
                <a:spcPct val="140012"/>
              </a:lnSpc>
              <a:spcBef>
                <a:spcPts val="0"/>
              </a:spcBef>
              <a:spcAft>
                <a:spcPts val="0"/>
              </a:spcAft>
              <a:buNone/>
            </a:pPr>
            <a:r>
              <a:rPr lang="en-US" sz="3099" b="1" i="1" u="none" strike="noStrike" cap="none">
                <a:solidFill>
                  <a:srgbClr val="FFFFFF"/>
                </a:solidFill>
                <a:latin typeface="Roboto"/>
                <a:ea typeface="Roboto"/>
                <a:cs typeface="Roboto"/>
                <a:sym typeface="Roboto"/>
              </a:rPr>
              <a:t>40%</a:t>
            </a:r>
            <a:endParaRPr/>
          </a:p>
        </p:txBody>
      </p:sp>
      <p:sp>
        <p:nvSpPr>
          <p:cNvPr id="185" name="Google Shape;185;p6"/>
          <p:cNvSpPr txBox="1"/>
          <p:nvPr/>
        </p:nvSpPr>
        <p:spPr>
          <a:xfrm>
            <a:off x="9907580" y="3156606"/>
            <a:ext cx="1403120" cy="540386"/>
          </a:xfrm>
          <a:prstGeom prst="rect">
            <a:avLst/>
          </a:prstGeom>
          <a:noFill/>
          <a:ln>
            <a:noFill/>
          </a:ln>
        </p:spPr>
        <p:txBody>
          <a:bodyPr spcFirstLastPara="1" wrap="square" lIns="0" tIns="0" rIns="0" bIns="0" anchor="t" anchorCtr="0">
            <a:spAutoFit/>
          </a:bodyPr>
          <a:lstStyle/>
          <a:p>
            <a:pPr marL="0" marR="0" lvl="0" indent="0" algn="ctr" rtl="0">
              <a:lnSpc>
                <a:spcPct val="140012"/>
              </a:lnSpc>
              <a:spcBef>
                <a:spcPts val="0"/>
              </a:spcBef>
              <a:spcAft>
                <a:spcPts val="0"/>
              </a:spcAft>
              <a:buNone/>
            </a:pPr>
            <a:r>
              <a:rPr lang="en-US" sz="3099" b="1" i="1" u="none" strike="noStrike" cap="none">
                <a:solidFill>
                  <a:srgbClr val="FFFFFF"/>
                </a:solidFill>
                <a:latin typeface="Roboto"/>
                <a:ea typeface="Roboto"/>
                <a:cs typeface="Roboto"/>
                <a:sym typeface="Roboto"/>
              </a:rPr>
              <a:t>4.0/5</a:t>
            </a:r>
            <a:endParaRPr/>
          </a:p>
        </p:txBody>
      </p:sp>
      <p:sp>
        <p:nvSpPr>
          <p:cNvPr id="186" name="Google Shape;186;p6"/>
          <p:cNvSpPr txBox="1"/>
          <p:nvPr/>
        </p:nvSpPr>
        <p:spPr>
          <a:xfrm>
            <a:off x="9206019" y="3804679"/>
            <a:ext cx="2806241" cy="2613025"/>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None/>
            </a:pPr>
            <a:r>
              <a:rPr lang="en-US" sz="2499" b="0" i="0" u="none" strike="noStrike" cap="none">
                <a:solidFill>
                  <a:srgbClr val="FFFFFF"/>
                </a:solidFill>
                <a:latin typeface="Roboto"/>
                <a:ea typeface="Roboto"/>
                <a:cs typeface="Roboto"/>
                <a:sym typeface="Roboto"/>
              </a:rPr>
              <a:t>Calificación promedio en tiendas de aplicaciones al finalizar el primer año.</a:t>
            </a:r>
            <a:endParaRPr/>
          </a:p>
        </p:txBody>
      </p:sp>
      <p:sp>
        <p:nvSpPr>
          <p:cNvPr id="187" name="Google Shape;187;p6"/>
          <p:cNvSpPr txBox="1"/>
          <p:nvPr/>
        </p:nvSpPr>
        <p:spPr>
          <a:xfrm>
            <a:off x="15009533" y="3156606"/>
            <a:ext cx="1403120" cy="540386"/>
          </a:xfrm>
          <a:prstGeom prst="rect">
            <a:avLst/>
          </a:prstGeom>
          <a:noFill/>
          <a:ln>
            <a:noFill/>
          </a:ln>
        </p:spPr>
        <p:txBody>
          <a:bodyPr spcFirstLastPara="1" wrap="square" lIns="0" tIns="0" rIns="0" bIns="0" anchor="t" anchorCtr="0">
            <a:spAutoFit/>
          </a:bodyPr>
          <a:lstStyle/>
          <a:p>
            <a:pPr marL="0" marR="0" lvl="0" indent="0" algn="ctr" rtl="0">
              <a:lnSpc>
                <a:spcPct val="140012"/>
              </a:lnSpc>
              <a:spcBef>
                <a:spcPts val="0"/>
              </a:spcBef>
              <a:spcAft>
                <a:spcPts val="0"/>
              </a:spcAft>
              <a:buNone/>
            </a:pPr>
            <a:r>
              <a:rPr lang="en-US" sz="3099" b="1" i="1" u="none" strike="noStrike" cap="none">
                <a:solidFill>
                  <a:srgbClr val="FFFFFF"/>
                </a:solidFill>
                <a:latin typeface="Roboto"/>
                <a:ea typeface="Roboto"/>
                <a:cs typeface="Roboto"/>
                <a:sym typeface="Roboto"/>
              </a:rPr>
              <a:t>30%</a:t>
            </a:r>
            <a:endParaRPr/>
          </a:p>
        </p:txBody>
      </p:sp>
      <p:sp>
        <p:nvSpPr>
          <p:cNvPr id="188" name="Google Shape;188;p6"/>
          <p:cNvSpPr txBox="1"/>
          <p:nvPr/>
        </p:nvSpPr>
        <p:spPr>
          <a:xfrm>
            <a:off x="14307972" y="3804679"/>
            <a:ext cx="2806241" cy="2174875"/>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None/>
            </a:pPr>
            <a:r>
              <a:rPr lang="en-US" sz="2499" b="0" i="0" u="none" strike="noStrike" cap="none">
                <a:solidFill>
                  <a:srgbClr val="FFFFFF"/>
                </a:solidFill>
                <a:latin typeface="Roboto"/>
                <a:ea typeface="Roboto"/>
                <a:cs typeface="Roboto"/>
                <a:sym typeface="Roboto"/>
              </a:rPr>
              <a:t>De los usuarios vincula una placa NFC física a su mascota en los primeros 6 meses.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grpSp>
        <p:nvGrpSpPr>
          <p:cNvPr id="193" name="Google Shape;193;p7"/>
          <p:cNvGrpSpPr/>
          <p:nvPr/>
        </p:nvGrpSpPr>
        <p:grpSpPr>
          <a:xfrm>
            <a:off x="217565" y="81343"/>
            <a:ext cx="11021452" cy="1550094"/>
            <a:chOff x="0" y="-38100"/>
            <a:chExt cx="2902769" cy="408255"/>
          </a:xfrm>
        </p:grpSpPr>
        <p:sp>
          <p:nvSpPr>
            <p:cNvPr id="194" name="Google Shape;194;p7"/>
            <p:cNvSpPr/>
            <p:nvPr/>
          </p:nvSpPr>
          <p:spPr>
            <a:xfrm>
              <a:off x="0" y="0"/>
              <a:ext cx="2902769" cy="370155"/>
            </a:xfrm>
            <a:custGeom>
              <a:avLst/>
              <a:gdLst/>
              <a:ahLst/>
              <a:cxnLst/>
              <a:rect l="l" t="t" r="r" b="b"/>
              <a:pathLst>
                <a:path w="2902769" h="370155" extrusionOk="0">
                  <a:moveTo>
                    <a:pt x="0" y="0"/>
                  </a:moveTo>
                  <a:lnTo>
                    <a:pt x="2902769" y="0"/>
                  </a:lnTo>
                  <a:lnTo>
                    <a:pt x="2902769" y="370155"/>
                  </a:lnTo>
                  <a:lnTo>
                    <a:pt x="0" y="370155"/>
                  </a:lnTo>
                  <a:close/>
                </a:path>
              </a:pathLst>
            </a:custGeom>
            <a:solidFill>
              <a:srgbClr val="6B9C6F"/>
            </a:solidFill>
            <a:ln>
              <a:noFill/>
            </a:ln>
          </p:spPr>
        </p:sp>
        <p:sp>
          <p:nvSpPr>
            <p:cNvPr id="195" name="Google Shape;195;p7"/>
            <p:cNvSpPr txBox="1"/>
            <p:nvPr/>
          </p:nvSpPr>
          <p:spPr>
            <a:xfrm>
              <a:off x="0" y="-38100"/>
              <a:ext cx="2902769" cy="408255"/>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aphicFrame>
        <p:nvGraphicFramePr>
          <p:cNvPr id="196" name="Google Shape;196;p7"/>
          <p:cNvGraphicFramePr/>
          <p:nvPr/>
        </p:nvGraphicFramePr>
        <p:xfrm>
          <a:off x="1028700" y="1891288"/>
          <a:ext cx="3000000" cy="3000000"/>
        </p:xfrm>
        <a:graphic>
          <a:graphicData uri="http://schemas.openxmlformats.org/drawingml/2006/table">
            <a:tbl>
              <a:tblPr>
                <a:noFill/>
                <a:tableStyleId>{5230AA4D-C7A1-4F07-9B54-CFA76B847E16}</a:tableStyleId>
              </a:tblPr>
              <a:tblGrid>
                <a:gridCol w="8197050">
                  <a:extLst>
                    <a:ext uri="{9D8B030D-6E8A-4147-A177-3AD203B41FA5}">
                      <a16:colId xmlns:a16="http://schemas.microsoft.com/office/drawing/2014/main" val="20000"/>
                    </a:ext>
                  </a:extLst>
                </a:gridCol>
                <a:gridCol w="8197050">
                  <a:extLst>
                    <a:ext uri="{9D8B030D-6E8A-4147-A177-3AD203B41FA5}">
                      <a16:colId xmlns:a16="http://schemas.microsoft.com/office/drawing/2014/main" val="20001"/>
                    </a:ext>
                  </a:extLst>
                </a:gridCol>
              </a:tblGrid>
              <a:tr h="1341075">
                <a:tc>
                  <a:txBody>
                    <a:bodyPr/>
                    <a:lstStyle/>
                    <a:p>
                      <a:pPr marL="0" marR="0" lvl="0" indent="0" algn="ctr" rtl="0">
                        <a:lnSpc>
                          <a:spcPct val="140011"/>
                        </a:lnSpc>
                        <a:spcBef>
                          <a:spcPts val="0"/>
                        </a:spcBef>
                        <a:spcAft>
                          <a:spcPts val="0"/>
                        </a:spcAft>
                        <a:buNone/>
                      </a:pPr>
                      <a:r>
                        <a:rPr lang="en-US" sz="3399" b="1" u="none" strike="noStrike" cap="none">
                          <a:solidFill>
                            <a:srgbClr val="FFFFFF"/>
                          </a:solidFill>
                          <a:latin typeface="Roboto"/>
                          <a:ea typeface="Roboto"/>
                          <a:cs typeface="Roboto"/>
                          <a:sym typeface="Roboto"/>
                        </a:rPr>
                        <a:t>Alcances</a:t>
                      </a:r>
                      <a:endParaRPr sz="1100" u="none" strike="noStrike" cap="none"/>
                    </a:p>
                  </a:txBody>
                  <a:tcPr marL="190500" marR="190500" marT="190500" marB="190500" anchor="ctr">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solidFill>
                      <a:srgbClr val="3E5F59"/>
                    </a:solidFill>
                  </a:tcPr>
                </a:tc>
                <a:tc>
                  <a:txBody>
                    <a:bodyPr/>
                    <a:lstStyle/>
                    <a:p>
                      <a:pPr marL="0" marR="0" lvl="0" indent="0" algn="ctr" rtl="0">
                        <a:lnSpc>
                          <a:spcPct val="140011"/>
                        </a:lnSpc>
                        <a:spcBef>
                          <a:spcPts val="0"/>
                        </a:spcBef>
                        <a:spcAft>
                          <a:spcPts val="0"/>
                        </a:spcAft>
                        <a:buNone/>
                      </a:pPr>
                      <a:r>
                        <a:rPr lang="en-US" sz="3399" b="1" u="none" strike="noStrike" cap="none">
                          <a:solidFill>
                            <a:srgbClr val="FFFFFF"/>
                          </a:solidFill>
                          <a:latin typeface="Roboto"/>
                          <a:ea typeface="Roboto"/>
                          <a:cs typeface="Roboto"/>
                          <a:sym typeface="Roboto"/>
                        </a:rPr>
                        <a:t>Limitaciones</a:t>
                      </a:r>
                      <a:endParaRPr sz="1100" u="none" strike="noStrike" cap="none"/>
                    </a:p>
                  </a:txBody>
                  <a:tcPr marL="190500" marR="190500" marT="190500" marB="190500" anchor="ctr">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solidFill>
                      <a:srgbClr val="D13434"/>
                    </a:solidFill>
                  </a:tcPr>
                </a:tc>
                <a:extLst>
                  <a:ext uri="{0D108BD9-81ED-4DB2-BD59-A6C34878D82A}">
                    <a16:rowId xmlns:a16="http://schemas.microsoft.com/office/drawing/2014/main" val="10000"/>
                  </a:ext>
                </a:extLst>
              </a:tr>
              <a:tr h="1341075">
                <a:tc>
                  <a:txBody>
                    <a:bodyPr/>
                    <a:lstStyle/>
                    <a:p>
                      <a:pPr marL="0" marR="0" lvl="0" indent="0" algn="r" rtl="0">
                        <a:lnSpc>
                          <a:spcPct val="140000"/>
                        </a:lnSpc>
                        <a:spcBef>
                          <a:spcPts val="0"/>
                        </a:spcBef>
                        <a:spcAft>
                          <a:spcPts val="0"/>
                        </a:spcAft>
                        <a:buNone/>
                      </a:pPr>
                      <a:r>
                        <a:rPr lang="en-US" sz="1700" u="none" strike="noStrike" cap="none">
                          <a:solidFill>
                            <a:srgbClr val="000000"/>
                          </a:solidFill>
                          <a:latin typeface="Roboto"/>
                          <a:ea typeface="Roboto"/>
                          <a:cs typeface="Roboto"/>
                          <a:sym typeface="Roboto"/>
                        </a:rPr>
                        <a:t>Aplicación móvil/web responsiva (foco exclusivo del proyecto)</a:t>
                      </a:r>
                      <a:endParaRPr sz="1100" u="none" strike="noStrike" cap="none"/>
                    </a:p>
                  </a:txBody>
                  <a:tcPr marL="190500" marR="190500" marT="190500" marB="190500" anchor="ctr">
                    <a:lnL w="38100" cap="flat" cmpd="sng">
                      <a:solidFill>
                        <a:srgbClr val="FFFFFF"/>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FFFFFF"/>
                      </a:solidFill>
                      <a:prstDash val="solid"/>
                      <a:round/>
                      <a:headEnd type="none" w="sm" len="sm"/>
                      <a:tailEnd type="none" w="sm" len="sm"/>
                    </a:lnB>
                  </a:tcPr>
                </a:tc>
                <a:tc>
                  <a:txBody>
                    <a:bodyPr/>
                    <a:lstStyle/>
                    <a:p>
                      <a:pPr marL="0" marR="0" lvl="0" indent="0" algn="r" rtl="0">
                        <a:lnSpc>
                          <a:spcPct val="140000"/>
                        </a:lnSpc>
                        <a:spcBef>
                          <a:spcPts val="0"/>
                        </a:spcBef>
                        <a:spcAft>
                          <a:spcPts val="0"/>
                        </a:spcAft>
                        <a:buNone/>
                      </a:pPr>
                      <a:r>
                        <a:rPr lang="en-US" sz="1700" u="none" strike="noStrike" cap="none">
                          <a:solidFill>
                            <a:srgbClr val="000000"/>
                          </a:solidFill>
                          <a:latin typeface="Roboto"/>
                          <a:ea typeface="Roboto"/>
                          <a:cs typeface="Roboto"/>
                          <a:sym typeface="Roboto"/>
                        </a:rPr>
                        <a:t>Precisión del OCR limitada en carnets escritos a mano</a:t>
                      </a:r>
                      <a:endParaRPr sz="1100" u="none" strike="noStrike" cap="none"/>
                    </a:p>
                  </a:txBody>
                  <a:tcPr marL="190500" marR="190500" marT="190500" marB="190500" anchor="ctr">
                    <a:lnL w="38100" cap="flat" cmpd="sng">
                      <a:solidFill>
                        <a:srgbClr val="FFFFFF"/>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FFFFFF"/>
                      </a:solidFill>
                      <a:prstDash val="solid"/>
                      <a:round/>
                      <a:headEnd type="none" w="sm" len="sm"/>
                      <a:tailEnd type="none" w="sm" len="sm"/>
                    </a:lnB>
                  </a:tcPr>
                </a:tc>
                <a:extLst>
                  <a:ext uri="{0D108BD9-81ED-4DB2-BD59-A6C34878D82A}">
                    <a16:rowId xmlns:a16="http://schemas.microsoft.com/office/drawing/2014/main" val="10001"/>
                  </a:ext>
                </a:extLst>
              </a:tr>
              <a:tr h="1341075">
                <a:tc>
                  <a:txBody>
                    <a:bodyPr/>
                    <a:lstStyle/>
                    <a:p>
                      <a:pPr marL="0" marR="0" lvl="0" indent="0" algn="r" rtl="0">
                        <a:lnSpc>
                          <a:spcPct val="140000"/>
                        </a:lnSpc>
                        <a:spcBef>
                          <a:spcPts val="0"/>
                        </a:spcBef>
                        <a:spcAft>
                          <a:spcPts val="0"/>
                        </a:spcAft>
                        <a:buNone/>
                      </a:pPr>
                      <a:r>
                        <a:rPr lang="en-US" sz="1700" u="none" strike="noStrike" cap="none">
                          <a:solidFill>
                            <a:srgbClr val="000000"/>
                          </a:solidFill>
                          <a:latin typeface="Roboto"/>
                          <a:ea typeface="Roboto"/>
                          <a:cs typeface="Roboto"/>
                          <a:sym typeface="Roboto"/>
                        </a:rPr>
                        <a:t>Digitalización de carnets y recetas mediante motor OCR</a:t>
                      </a:r>
                      <a:endParaRPr sz="1100" u="none" strike="noStrike" cap="none"/>
                    </a:p>
                  </a:txBody>
                  <a:tcPr marL="190500" marR="190500" marT="190500" marB="190500" anchor="ctr">
                    <a:lnL w="38100" cap="flat" cmpd="sng">
                      <a:solidFill>
                        <a:srgbClr val="FFFFFF"/>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c>
                  <a:txBody>
                    <a:bodyPr/>
                    <a:lstStyle/>
                    <a:p>
                      <a:pPr marL="0" marR="0" lvl="0" indent="0" algn="r" rtl="0">
                        <a:lnSpc>
                          <a:spcPct val="140000"/>
                        </a:lnSpc>
                        <a:spcBef>
                          <a:spcPts val="0"/>
                        </a:spcBef>
                        <a:spcAft>
                          <a:spcPts val="0"/>
                        </a:spcAft>
                        <a:buNone/>
                      </a:pPr>
                      <a:r>
                        <a:rPr lang="en-US" sz="1700" u="none" strike="noStrike" cap="none">
                          <a:solidFill>
                            <a:srgbClr val="000000"/>
                          </a:solidFill>
                          <a:latin typeface="Roboto"/>
                          <a:ea typeface="Roboto"/>
                          <a:cs typeface="Roboto"/>
                          <a:sym typeface="Roboto"/>
                        </a:rPr>
                        <a:t>Alcance y tiempos acotados a la duración del semestre académico</a:t>
                      </a:r>
                      <a:endParaRPr sz="1100" u="none" strike="noStrike" cap="none"/>
                    </a:p>
                  </a:txBody>
                  <a:tcPr marL="190500" marR="190500" marT="190500" marB="190500" anchor="ctr">
                    <a:lnL w="38100" cap="flat" cmpd="sng">
                      <a:solidFill>
                        <a:srgbClr val="FFFFFF"/>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extLst>
                  <a:ext uri="{0D108BD9-81ED-4DB2-BD59-A6C34878D82A}">
                    <a16:rowId xmlns:a16="http://schemas.microsoft.com/office/drawing/2014/main" val="10002"/>
                  </a:ext>
                </a:extLst>
              </a:tr>
              <a:tr h="1341075">
                <a:tc>
                  <a:txBody>
                    <a:bodyPr/>
                    <a:lstStyle/>
                    <a:p>
                      <a:pPr marL="0" marR="0" lvl="0" indent="0" algn="r" rtl="0">
                        <a:lnSpc>
                          <a:spcPct val="140000"/>
                        </a:lnSpc>
                        <a:spcBef>
                          <a:spcPts val="0"/>
                        </a:spcBef>
                        <a:spcAft>
                          <a:spcPts val="0"/>
                        </a:spcAft>
                        <a:buNone/>
                      </a:pPr>
                      <a:r>
                        <a:rPr lang="en-US" sz="1700" u="none" strike="noStrike" cap="none">
                          <a:solidFill>
                            <a:srgbClr val="000000"/>
                          </a:solidFill>
                          <a:latin typeface="Roboto"/>
                          <a:ea typeface="Roboto"/>
                          <a:cs typeface="Roboto"/>
                          <a:sym typeface="Roboto"/>
                        </a:rPr>
                        <a:t>Identificación por código QR y etiqueta NFC en el collar</a:t>
                      </a:r>
                      <a:endParaRPr sz="1100" u="none" strike="noStrike" cap="none"/>
                    </a:p>
                  </a:txBody>
                  <a:tcPr marL="190500" marR="190500" marT="190500" marB="190500" anchor="ctr">
                    <a:lnL w="38100" cap="flat" cmpd="sng">
                      <a:solidFill>
                        <a:srgbClr val="FFFFFF"/>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c rowSpan="3">
                  <a:txBody>
                    <a:bodyPr/>
                    <a:lstStyle/>
                    <a:p>
                      <a:pPr marL="0" marR="0" lvl="0" indent="0" algn="r" rtl="0">
                        <a:lnSpc>
                          <a:spcPct val="216363"/>
                        </a:lnSpc>
                        <a:spcBef>
                          <a:spcPts val="0"/>
                        </a:spcBef>
                        <a:spcAft>
                          <a:spcPts val="0"/>
                        </a:spcAft>
                        <a:buNone/>
                      </a:pPr>
                      <a:endParaRPr sz="1100" u="none" strike="noStrike" cap="none"/>
                    </a:p>
                  </a:txBody>
                  <a:tcPr marL="190500" marR="190500" marT="190500" marB="190500" anchor="ctr">
                    <a:lnL w="38100" cap="flat" cmpd="sng">
                      <a:solidFill>
                        <a:srgbClr val="FFFFFF"/>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1341075">
                <a:tc>
                  <a:txBody>
                    <a:bodyPr/>
                    <a:lstStyle/>
                    <a:p>
                      <a:pPr marL="0" marR="0" lvl="0" indent="0" algn="r" rtl="0">
                        <a:lnSpc>
                          <a:spcPct val="140000"/>
                        </a:lnSpc>
                        <a:spcBef>
                          <a:spcPts val="0"/>
                        </a:spcBef>
                        <a:spcAft>
                          <a:spcPts val="0"/>
                        </a:spcAft>
                        <a:buNone/>
                      </a:pPr>
                      <a:r>
                        <a:rPr lang="en-US" sz="1700" u="none" strike="noStrike" cap="none">
                          <a:solidFill>
                            <a:srgbClr val="000000"/>
                          </a:solidFill>
                          <a:latin typeface="Roboto"/>
                          <a:ea typeface="Roboto"/>
                          <a:cs typeface="Roboto"/>
                          <a:sym typeface="Roboto"/>
                        </a:rPr>
                        <a:t>Ficha web pública de emergencia, sin instalar la app</a:t>
                      </a:r>
                      <a:endParaRPr sz="1100" u="none" strike="noStrike" cap="none"/>
                    </a:p>
                  </a:txBody>
                  <a:tcPr marL="190500" marR="190500" marT="190500" marB="190500" anchor="ctr">
                    <a:lnL w="38100" cap="flat" cmpd="sng">
                      <a:solidFill>
                        <a:srgbClr val="FFFFFF"/>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c vMerge="1">
                  <a:txBody>
                    <a:bodyPr/>
                    <a:lstStyle/>
                    <a:p>
                      <a:endParaRPr lang="es-CL"/>
                    </a:p>
                  </a:txBody>
                  <a:tcPr/>
                </a:tc>
                <a:extLst>
                  <a:ext uri="{0D108BD9-81ED-4DB2-BD59-A6C34878D82A}">
                    <a16:rowId xmlns:a16="http://schemas.microsoft.com/office/drawing/2014/main" val="10004"/>
                  </a:ext>
                </a:extLst>
              </a:tr>
              <a:tr h="1341075">
                <a:tc>
                  <a:txBody>
                    <a:bodyPr/>
                    <a:lstStyle/>
                    <a:p>
                      <a:pPr marL="0" marR="0" lvl="0" indent="0" algn="r" rtl="0">
                        <a:lnSpc>
                          <a:spcPct val="140000"/>
                        </a:lnSpc>
                        <a:spcBef>
                          <a:spcPts val="0"/>
                        </a:spcBef>
                        <a:spcAft>
                          <a:spcPts val="0"/>
                        </a:spcAft>
                        <a:buNone/>
                      </a:pPr>
                      <a:r>
                        <a:rPr lang="en-US" sz="1700" u="none" strike="noStrike" cap="none">
                          <a:solidFill>
                            <a:srgbClr val="000000"/>
                          </a:solidFill>
                          <a:latin typeface="Roboto"/>
                          <a:ea typeface="Roboto"/>
                          <a:cs typeface="Roboto"/>
                          <a:sym typeface="Roboto"/>
                        </a:rPr>
                        <a:t>Disponibilidad de 99% y respuesta de emergencia &lt; 2 segundos</a:t>
                      </a:r>
                      <a:endParaRPr sz="1100" u="none" strike="noStrike" cap="none"/>
                    </a:p>
                  </a:txBody>
                  <a:tcPr marL="190500" marR="190500" marT="190500" marB="190500" anchor="ctr">
                    <a:lnL w="38100" cap="flat" cmpd="sng">
                      <a:solidFill>
                        <a:srgbClr val="FFFFFF"/>
                      </a:solidFill>
                      <a:prstDash val="solid"/>
                      <a:round/>
                      <a:headEnd type="none" w="sm" len="sm"/>
                      <a:tailEnd type="none" w="sm" len="sm"/>
                    </a:lnL>
                    <a:lnR w="381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c vMerge="1">
                  <a:txBody>
                    <a:bodyPr/>
                    <a:lstStyle/>
                    <a:p>
                      <a:endParaRPr lang="es-CL"/>
                    </a:p>
                  </a:txBody>
                  <a:tcPr/>
                </a:tc>
                <a:extLst>
                  <a:ext uri="{0D108BD9-81ED-4DB2-BD59-A6C34878D82A}">
                    <a16:rowId xmlns:a16="http://schemas.microsoft.com/office/drawing/2014/main" val="10005"/>
                  </a:ext>
                </a:extLst>
              </a:tr>
            </a:tbl>
          </a:graphicData>
        </a:graphic>
      </p:graphicFrame>
      <p:sp>
        <p:nvSpPr>
          <p:cNvPr id="197" name="Google Shape;197;p7"/>
          <p:cNvSpPr/>
          <p:nvPr/>
        </p:nvSpPr>
        <p:spPr>
          <a:xfrm>
            <a:off x="2086734" y="3570235"/>
            <a:ext cx="529389" cy="529389"/>
          </a:xfrm>
          <a:custGeom>
            <a:avLst/>
            <a:gdLst/>
            <a:ahLst/>
            <a:cxnLst/>
            <a:rect l="l" t="t" r="r" b="b"/>
            <a:pathLst>
              <a:path w="529389" h="529389" extrusionOk="0">
                <a:moveTo>
                  <a:pt x="0" y="0"/>
                </a:moveTo>
                <a:lnTo>
                  <a:pt x="529390" y="0"/>
                </a:lnTo>
                <a:lnTo>
                  <a:pt x="529390" y="529390"/>
                </a:lnTo>
                <a:lnTo>
                  <a:pt x="0" y="529390"/>
                </a:lnTo>
                <a:lnTo>
                  <a:pt x="0" y="0"/>
                </a:lnTo>
                <a:close/>
              </a:path>
            </a:pathLst>
          </a:custGeom>
          <a:blipFill rotWithShape="1">
            <a:blip r:embed="rId3">
              <a:alphaModFix/>
            </a:blip>
            <a:stretch>
              <a:fillRect/>
            </a:stretch>
          </a:blipFill>
          <a:ln>
            <a:noFill/>
          </a:ln>
        </p:spPr>
      </p:sp>
      <p:sp>
        <p:nvSpPr>
          <p:cNvPr id="198" name="Google Shape;198;p7"/>
          <p:cNvSpPr/>
          <p:nvPr/>
        </p:nvSpPr>
        <p:spPr>
          <a:xfrm>
            <a:off x="2086734" y="4878805"/>
            <a:ext cx="529389" cy="529389"/>
          </a:xfrm>
          <a:custGeom>
            <a:avLst/>
            <a:gdLst/>
            <a:ahLst/>
            <a:cxnLst/>
            <a:rect l="l" t="t" r="r" b="b"/>
            <a:pathLst>
              <a:path w="529389" h="529389" extrusionOk="0">
                <a:moveTo>
                  <a:pt x="0" y="0"/>
                </a:moveTo>
                <a:lnTo>
                  <a:pt x="529390" y="0"/>
                </a:lnTo>
                <a:lnTo>
                  <a:pt x="529390" y="529390"/>
                </a:lnTo>
                <a:lnTo>
                  <a:pt x="0" y="529390"/>
                </a:lnTo>
                <a:lnTo>
                  <a:pt x="0" y="0"/>
                </a:lnTo>
                <a:close/>
              </a:path>
            </a:pathLst>
          </a:custGeom>
          <a:blipFill rotWithShape="1">
            <a:blip r:embed="rId3">
              <a:alphaModFix/>
            </a:blip>
            <a:stretch>
              <a:fillRect/>
            </a:stretch>
          </a:blipFill>
          <a:ln>
            <a:noFill/>
          </a:ln>
        </p:spPr>
      </p:sp>
      <p:sp>
        <p:nvSpPr>
          <p:cNvPr id="199" name="Google Shape;199;p7"/>
          <p:cNvSpPr/>
          <p:nvPr/>
        </p:nvSpPr>
        <p:spPr>
          <a:xfrm>
            <a:off x="2086734" y="6189245"/>
            <a:ext cx="529389" cy="529389"/>
          </a:xfrm>
          <a:custGeom>
            <a:avLst/>
            <a:gdLst/>
            <a:ahLst/>
            <a:cxnLst/>
            <a:rect l="l" t="t" r="r" b="b"/>
            <a:pathLst>
              <a:path w="529389" h="529389" extrusionOk="0">
                <a:moveTo>
                  <a:pt x="0" y="0"/>
                </a:moveTo>
                <a:lnTo>
                  <a:pt x="529390" y="0"/>
                </a:lnTo>
                <a:lnTo>
                  <a:pt x="529390" y="529389"/>
                </a:lnTo>
                <a:lnTo>
                  <a:pt x="0" y="529389"/>
                </a:lnTo>
                <a:lnTo>
                  <a:pt x="0" y="0"/>
                </a:lnTo>
                <a:close/>
              </a:path>
            </a:pathLst>
          </a:custGeom>
          <a:blipFill rotWithShape="1">
            <a:blip r:embed="rId3">
              <a:alphaModFix/>
            </a:blip>
            <a:stretch>
              <a:fillRect/>
            </a:stretch>
          </a:blipFill>
          <a:ln>
            <a:noFill/>
          </a:ln>
        </p:spPr>
      </p:sp>
      <p:sp>
        <p:nvSpPr>
          <p:cNvPr id="200" name="Google Shape;200;p7"/>
          <p:cNvSpPr/>
          <p:nvPr/>
        </p:nvSpPr>
        <p:spPr>
          <a:xfrm>
            <a:off x="2086734" y="7499684"/>
            <a:ext cx="529389" cy="529389"/>
          </a:xfrm>
          <a:custGeom>
            <a:avLst/>
            <a:gdLst/>
            <a:ahLst/>
            <a:cxnLst/>
            <a:rect l="l" t="t" r="r" b="b"/>
            <a:pathLst>
              <a:path w="529389" h="529389" extrusionOk="0">
                <a:moveTo>
                  <a:pt x="0" y="0"/>
                </a:moveTo>
                <a:lnTo>
                  <a:pt x="529390" y="0"/>
                </a:lnTo>
                <a:lnTo>
                  <a:pt x="529390" y="529390"/>
                </a:lnTo>
                <a:lnTo>
                  <a:pt x="0" y="529390"/>
                </a:lnTo>
                <a:lnTo>
                  <a:pt x="0" y="0"/>
                </a:lnTo>
                <a:close/>
              </a:path>
            </a:pathLst>
          </a:custGeom>
          <a:blipFill rotWithShape="1">
            <a:blip r:embed="rId3">
              <a:alphaModFix/>
            </a:blip>
            <a:stretch>
              <a:fillRect/>
            </a:stretch>
          </a:blipFill>
          <a:ln>
            <a:noFill/>
          </a:ln>
        </p:spPr>
      </p:sp>
      <p:sp>
        <p:nvSpPr>
          <p:cNvPr id="201" name="Google Shape;201;p7"/>
          <p:cNvSpPr/>
          <p:nvPr/>
        </p:nvSpPr>
        <p:spPr>
          <a:xfrm>
            <a:off x="2086734" y="8810124"/>
            <a:ext cx="529389" cy="529389"/>
          </a:xfrm>
          <a:custGeom>
            <a:avLst/>
            <a:gdLst/>
            <a:ahLst/>
            <a:cxnLst/>
            <a:rect l="l" t="t" r="r" b="b"/>
            <a:pathLst>
              <a:path w="529389" h="529389" extrusionOk="0">
                <a:moveTo>
                  <a:pt x="0" y="0"/>
                </a:moveTo>
                <a:lnTo>
                  <a:pt x="529390" y="0"/>
                </a:lnTo>
                <a:lnTo>
                  <a:pt x="529390" y="529389"/>
                </a:lnTo>
                <a:lnTo>
                  <a:pt x="0" y="529389"/>
                </a:lnTo>
                <a:lnTo>
                  <a:pt x="0" y="0"/>
                </a:lnTo>
                <a:close/>
              </a:path>
            </a:pathLst>
          </a:custGeom>
          <a:blipFill rotWithShape="1">
            <a:blip r:embed="rId3">
              <a:alphaModFix/>
            </a:blip>
            <a:stretch>
              <a:fillRect/>
            </a:stretch>
          </a:blipFill>
          <a:ln>
            <a:noFill/>
          </a:ln>
        </p:spPr>
      </p:sp>
      <p:sp>
        <p:nvSpPr>
          <p:cNvPr id="202" name="Google Shape;202;p7"/>
          <p:cNvSpPr/>
          <p:nvPr/>
        </p:nvSpPr>
        <p:spPr>
          <a:xfrm>
            <a:off x="9858096" y="3570235"/>
            <a:ext cx="529389" cy="529389"/>
          </a:xfrm>
          <a:custGeom>
            <a:avLst/>
            <a:gdLst/>
            <a:ahLst/>
            <a:cxnLst/>
            <a:rect l="l" t="t" r="r" b="b"/>
            <a:pathLst>
              <a:path w="529389" h="529389" extrusionOk="0">
                <a:moveTo>
                  <a:pt x="0" y="0"/>
                </a:moveTo>
                <a:lnTo>
                  <a:pt x="529389" y="0"/>
                </a:lnTo>
                <a:lnTo>
                  <a:pt x="529389" y="529390"/>
                </a:lnTo>
                <a:lnTo>
                  <a:pt x="0" y="529390"/>
                </a:lnTo>
                <a:lnTo>
                  <a:pt x="0" y="0"/>
                </a:lnTo>
                <a:close/>
              </a:path>
            </a:pathLst>
          </a:custGeom>
          <a:blipFill rotWithShape="1">
            <a:blip r:embed="rId4">
              <a:alphaModFix/>
            </a:blip>
            <a:stretch>
              <a:fillRect/>
            </a:stretch>
          </a:blipFill>
          <a:ln>
            <a:noFill/>
          </a:ln>
        </p:spPr>
      </p:sp>
      <p:sp>
        <p:nvSpPr>
          <p:cNvPr id="203" name="Google Shape;203;p7"/>
          <p:cNvSpPr txBox="1"/>
          <p:nvPr/>
        </p:nvSpPr>
        <p:spPr>
          <a:xfrm>
            <a:off x="774020" y="705803"/>
            <a:ext cx="10838889" cy="664844"/>
          </a:xfrm>
          <a:prstGeom prst="rect">
            <a:avLst/>
          </a:prstGeom>
          <a:noFill/>
          <a:ln>
            <a:noFill/>
          </a:ln>
        </p:spPr>
        <p:txBody>
          <a:bodyPr spcFirstLastPara="1" wrap="square" lIns="0" tIns="0" rIns="0" bIns="0" anchor="t" anchorCtr="0">
            <a:spAutoFit/>
          </a:bodyPr>
          <a:lstStyle/>
          <a:p>
            <a:pPr marL="0" marR="0" lvl="0" indent="0" algn="l" rtl="0">
              <a:lnSpc>
                <a:spcPct val="112002"/>
              </a:lnSpc>
              <a:spcBef>
                <a:spcPts val="0"/>
              </a:spcBef>
              <a:spcAft>
                <a:spcPts val="0"/>
              </a:spcAft>
              <a:buNone/>
            </a:pPr>
            <a:r>
              <a:rPr lang="en-US" sz="4499" b="0" i="0" u="none" strike="noStrike" cap="none">
                <a:solidFill>
                  <a:srgbClr val="FFFFFF"/>
                </a:solidFill>
                <a:latin typeface="Roboto"/>
                <a:ea typeface="Roboto"/>
                <a:cs typeface="Roboto"/>
                <a:sym typeface="Roboto"/>
              </a:rPr>
              <a:t>QUÉ INCLUYE Y QUÉ NO</a:t>
            </a:r>
            <a:endParaRPr/>
          </a:p>
        </p:txBody>
      </p:sp>
      <p:sp>
        <p:nvSpPr>
          <p:cNvPr id="204" name="Google Shape;204;p7"/>
          <p:cNvSpPr/>
          <p:nvPr/>
        </p:nvSpPr>
        <p:spPr>
          <a:xfrm>
            <a:off x="9858096" y="4878805"/>
            <a:ext cx="529389" cy="529389"/>
          </a:xfrm>
          <a:custGeom>
            <a:avLst/>
            <a:gdLst/>
            <a:ahLst/>
            <a:cxnLst/>
            <a:rect l="l" t="t" r="r" b="b"/>
            <a:pathLst>
              <a:path w="529389" h="529389" extrusionOk="0">
                <a:moveTo>
                  <a:pt x="0" y="0"/>
                </a:moveTo>
                <a:lnTo>
                  <a:pt x="529389" y="0"/>
                </a:lnTo>
                <a:lnTo>
                  <a:pt x="529389" y="529390"/>
                </a:lnTo>
                <a:lnTo>
                  <a:pt x="0" y="529390"/>
                </a:lnTo>
                <a:lnTo>
                  <a:pt x="0" y="0"/>
                </a:lnTo>
                <a:close/>
              </a:path>
            </a:pathLst>
          </a:custGeom>
          <a:blipFill rotWithShape="1">
            <a:blip r:embed="rId4">
              <a:alphaModFix/>
            </a:blip>
            <a:stretch>
              <a:fillRect/>
            </a:stretch>
          </a:blipFill>
          <a:ln>
            <a:no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grpSp>
        <p:nvGrpSpPr>
          <p:cNvPr id="209" name="Google Shape;209;p8"/>
          <p:cNvGrpSpPr/>
          <p:nvPr/>
        </p:nvGrpSpPr>
        <p:grpSpPr>
          <a:xfrm>
            <a:off x="0" y="884039"/>
            <a:ext cx="6577793" cy="1311860"/>
            <a:chOff x="0" y="-38100"/>
            <a:chExt cx="1732423" cy="345511"/>
          </a:xfrm>
        </p:grpSpPr>
        <p:sp>
          <p:nvSpPr>
            <p:cNvPr id="210" name="Google Shape;210;p8"/>
            <p:cNvSpPr/>
            <p:nvPr/>
          </p:nvSpPr>
          <p:spPr>
            <a:xfrm>
              <a:off x="0" y="0"/>
              <a:ext cx="1732423" cy="307411"/>
            </a:xfrm>
            <a:custGeom>
              <a:avLst/>
              <a:gdLst/>
              <a:ahLst/>
              <a:cxnLst/>
              <a:rect l="l" t="t" r="r" b="b"/>
              <a:pathLst>
                <a:path w="1732423" h="307411" extrusionOk="0">
                  <a:moveTo>
                    <a:pt x="0" y="0"/>
                  </a:moveTo>
                  <a:lnTo>
                    <a:pt x="1732423" y="0"/>
                  </a:lnTo>
                  <a:lnTo>
                    <a:pt x="1732423" y="307411"/>
                  </a:lnTo>
                  <a:lnTo>
                    <a:pt x="0" y="307411"/>
                  </a:lnTo>
                  <a:close/>
                </a:path>
              </a:pathLst>
            </a:custGeom>
            <a:solidFill>
              <a:srgbClr val="6B9C6F"/>
            </a:solidFill>
            <a:ln>
              <a:noFill/>
            </a:ln>
          </p:spPr>
        </p:sp>
        <p:sp>
          <p:nvSpPr>
            <p:cNvPr id="211" name="Google Shape;211;p8"/>
            <p:cNvSpPr txBox="1"/>
            <p:nvPr/>
          </p:nvSpPr>
          <p:spPr>
            <a:xfrm>
              <a:off x="0" y="-38100"/>
              <a:ext cx="1732423" cy="345511"/>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2" name="Google Shape;212;p8"/>
          <p:cNvSpPr/>
          <p:nvPr/>
        </p:nvSpPr>
        <p:spPr>
          <a:xfrm>
            <a:off x="2115550" y="3446871"/>
            <a:ext cx="14000126" cy="910008"/>
          </a:xfrm>
          <a:custGeom>
            <a:avLst/>
            <a:gdLst/>
            <a:ahLst/>
            <a:cxnLst/>
            <a:rect l="l" t="t" r="r" b="b"/>
            <a:pathLst>
              <a:path w="14000126" h="910008" extrusionOk="0">
                <a:moveTo>
                  <a:pt x="0" y="0"/>
                </a:moveTo>
                <a:lnTo>
                  <a:pt x="14000125" y="0"/>
                </a:lnTo>
                <a:lnTo>
                  <a:pt x="14000125" y="910008"/>
                </a:lnTo>
                <a:lnTo>
                  <a:pt x="0" y="910008"/>
                </a:lnTo>
                <a:lnTo>
                  <a:pt x="0" y="0"/>
                </a:lnTo>
                <a:close/>
              </a:path>
            </a:pathLst>
          </a:custGeom>
          <a:blipFill rotWithShape="1">
            <a:blip r:embed="rId3">
              <a:alphaModFix/>
            </a:blip>
            <a:stretch>
              <a:fillRect/>
            </a:stretch>
          </a:blipFill>
          <a:ln>
            <a:noFill/>
          </a:ln>
        </p:spPr>
      </p:sp>
      <p:sp>
        <p:nvSpPr>
          <p:cNvPr id="213" name="Google Shape;213;p8"/>
          <p:cNvSpPr/>
          <p:nvPr/>
        </p:nvSpPr>
        <p:spPr>
          <a:xfrm>
            <a:off x="1065325" y="4976004"/>
            <a:ext cx="3732357" cy="3732357"/>
          </a:xfrm>
          <a:custGeom>
            <a:avLst/>
            <a:gdLst/>
            <a:ahLst/>
            <a:cxnLst/>
            <a:rect l="l" t="t" r="r" b="b"/>
            <a:pathLst>
              <a:path w="3732357" h="3732357" extrusionOk="0">
                <a:moveTo>
                  <a:pt x="0" y="0"/>
                </a:moveTo>
                <a:lnTo>
                  <a:pt x="3732357" y="0"/>
                </a:lnTo>
                <a:lnTo>
                  <a:pt x="3732357" y="3732357"/>
                </a:lnTo>
                <a:lnTo>
                  <a:pt x="0" y="3732357"/>
                </a:lnTo>
                <a:lnTo>
                  <a:pt x="0" y="0"/>
                </a:lnTo>
                <a:close/>
              </a:path>
            </a:pathLst>
          </a:custGeom>
          <a:blipFill rotWithShape="1">
            <a:blip r:embed="rId4">
              <a:alphaModFix/>
            </a:blip>
            <a:stretch>
              <a:fillRect/>
            </a:stretch>
          </a:blipFill>
          <a:ln>
            <a:noFill/>
          </a:ln>
        </p:spPr>
      </p:sp>
      <p:sp>
        <p:nvSpPr>
          <p:cNvPr id="214" name="Google Shape;214;p8"/>
          <p:cNvSpPr txBox="1"/>
          <p:nvPr/>
        </p:nvSpPr>
        <p:spPr>
          <a:xfrm>
            <a:off x="350372" y="1062094"/>
            <a:ext cx="5597889" cy="1105890"/>
          </a:xfrm>
          <a:prstGeom prst="rect">
            <a:avLst/>
          </a:prstGeom>
          <a:noFill/>
          <a:ln>
            <a:noFill/>
          </a:ln>
        </p:spPr>
        <p:txBody>
          <a:bodyPr spcFirstLastPara="1" wrap="square" lIns="0" tIns="0" rIns="0" bIns="0" anchor="t" anchorCtr="0">
            <a:spAutoFit/>
          </a:bodyPr>
          <a:lstStyle/>
          <a:p>
            <a:pPr marL="0" marR="0" lvl="0" indent="0" algn="l" rtl="0">
              <a:lnSpc>
                <a:spcPct val="112009"/>
              </a:lnSpc>
              <a:spcBef>
                <a:spcPts val="0"/>
              </a:spcBef>
              <a:spcAft>
                <a:spcPts val="0"/>
              </a:spcAft>
              <a:buNone/>
            </a:pPr>
            <a:r>
              <a:rPr lang="en-US" sz="3847" b="0" i="0" u="none" strike="noStrike" cap="none">
                <a:solidFill>
                  <a:srgbClr val="FFFFFF"/>
                </a:solidFill>
                <a:latin typeface="Roboto"/>
                <a:ea typeface="Roboto"/>
                <a:cs typeface="Roboto"/>
                <a:sym typeface="Roboto"/>
              </a:rPr>
              <a:t>METODOLOGÍA:SCRUM ÁGIL</a:t>
            </a:r>
            <a:endParaRPr/>
          </a:p>
        </p:txBody>
      </p:sp>
      <p:sp>
        <p:nvSpPr>
          <p:cNvPr id="215" name="Google Shape;215;p8"/>
          <p:cNvSpPr txBox="1"/>
          <p:nvPr/>
        </p:nvSpPr>
        <p:spPr>
          <a:xfrm>
            <a:off x="264842" y="5095875"/>
            <a:ext cx="2806241" cy="31623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800" b="0" i="0" u="none" strike="noStrike" cap="none">
                <a:solidFill>
                  <a:srgbClr val="FFFFFF"/>
                </a:solidFill>
                <a:latin typeface="Roboto"/>
                <a:ea typeface="Roboto"/>
                <a:cs typeface="Roboto"/>
                <a:sym typeface="Roboto"/>
              </a:rPr>
              <a:t>Fase 1 </a:t>
            </a:r>
            <a:endParaRPr/>
          </a:p>
        </p:txBody>
      </p:sp>
      <p:sp>
        <p:nvSpPr>
          <p:cNvPr id="216" name="Google Shape;216;p8"/>
          <p:cNvSpPr txBox="1"/>
          <p:nvPr/>
        </p:nvSpPr>
        <p:spPr>
          <a:xfrm>
            <a:off x="1221308" y="5527434"/>
            <a:ext cx="2806241" cy="31623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800" b="0" i="0" u="none" strike="noStrike" cap="none">
                <a:solidFill>
                  <a:srgbClr val="FFFFFF"/>
                </a:solidFill>
                <a:latin typeface="Roboto"/>
                <a:ea typeface="Roboto"/>
                <a:cs typeface="Roboto"/>
                <a:sym typeface="Roboto"/>
              </a:rPr>
              <a:t>Levantamiento y diseño</a:t>
            </a:r>
            <a:endParaRPr/>
          </a:p>
        </p:txBody>
      </p:sp>
      <p:sp>
        <p:nvSpPr>
          <p:cNvPr id="217" name="Google Shape;217;p8"/>
          <p:cNvSpPr txBox="1"/>
          <p:nvPr/>
        </p:nvSpPr>
        <p:spPr>
          <a:xfrm>
            <a:off x="1145267" y="6410082"/>
            <a:ext cx="3572472" cy="1599146"/>
          </a:xfrm>
          <a:prstGeom prst="rect">
            <a:avLst/>
          </a:prstGeom>
          <a:noFill/>
          <a:ln>
            <a:noFill/>
          </a:ln>
        </p:spPr>
        <p:txBody>
          <a:bodyPr spcFirstLastPara="1" wrap="square" lIns="0" tIns="0" rIns="0" bIns="0" anchor="t" anchorCtr="0">
            <a:spAutoFit/>
          </a:bodyPr>
          <a:lstStyle/>
          <a:p>
            <a:pPr marL="0" marR="0" lvl="0" indent="0" algn="ctr" rtl="0">
              <a:lnSpc>
                <a:spcPct val="140026"/>
              </a:lnSpc>
              <a:spcBef>
                <a:spcPts val="0"/>
              </a:spcBef>
              <a:spcAft>
                <a:spcPts val="0"/>
              </a:spcAft>
              <a:buNone/>
            </a:pPr>
            <a:r>
              <a:rPr lang="en-US" sz="2291" b="0" i="0" u="none" strike="noStrike" cap="none">
                <a:solidFill>
                  <a:srgbClr val="FFFFFF"/>
                </a:solidFill>
                <a:latin typeface="Roboto"/>
                <a:ea typeface="Roboto"/>
                <a:cs typeface="Roboto"/>
                <a:sym typeface="Roboto"/>
              </a:rPr>
              <a:t>Product backlog, arquitectura de datos, wireframes UI/UX y stack tecnológico.</a:t>
            </a:r>
            <a:endParaRPr/>
          </a:p>
        </p:txBody>
      </p:sp>
      <p:sp>
        <p:nvSpPr>
          <p:cNvPr id="218" name="Google Shape;218;p8"/>
          <p:cNvSpPr/>
          <p:nvPr/>
        </p:nvSpPr>
        <p:spPr>
          <a:xfrm>
            <a:off x="5210956" y="4976004"/>
            <a:ext cx="3732357" cy="3732357"/>
          </a:xfrm>
          <a:custGeom>
            <a:avLst/>
            <a:gdLst/>
            <a:ahLst/>
            <a:cxnLst/>
            <a:rect l="l" t="t" r="r" b="b"/>
            <a:pathLst>
              <a:path w="3732357" h="3732357" extrusionOk="0">
                <a:moveTo>
                  <a:pt x="0" y="0"/>
                </a:moveTo>
                <a:lnTo>
                  <a:pt x="3732356" y="0"/>
                </a:lnTo>
                <a:lnTo>
                  <a:pt x="3732356" y="3732357"/>
                </a:lnTo>
                <a:lnTo>
                  <a:pt x="0" y="3732357"/>
                </a:lnTo>
                <a:lnTo>
                  <a:pt x="0" y="0"/>
                </a:lnTo>
                <a:close/>
              </a:path>
            </a:pathLst>
          </a:custGeom>
          <a:blipFill rotWithShape="1">
            <a:blip r:embed="rId4">
              <a:alphaModFix/>
            </a:blip>
            <a:stretch>
              <a:fillRect/>
            </a:stretch>
          </a:blipFill>
          <a:ln>
            <a:noFill/>
          </a:ln>
        </p:spPr>
      </p:sp>
      <p:sp>
        <p:nvSpPr>
          <p:cNvPr id="219" name="Google Shape;219;p8"/>
          <p:cNvSpPr txBox="1"/>
          <p:nvPr/>
        </p:nvSpPr>
        <p:spPr>
          <a:xfrm>
            <a:off x="4410473" y="5095875"/>
            <a:ext cx="2806241" cy="31623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800" b="0" i="0" u="none" strike="noStrike" cap="none">
                <a:solidFill>
                  <a:srgbClr val="FFFFFF"/>
                </a:solidFill>
                <a:latin typeface="Roboto"/>
                <a:ea typeface="Roboto"/>
                <a:cs typeface="Roboto"/>
                <a:sym typeface="Roboto"/>
              </a:rPr>
              <a:t>Fase 2</a:t>
            </a:r>
            <a:endParaRPr/>
          </a:p>
        </p:txBody>
      </p:sp>
      <p:sp>
        <p:nvSpPr>
          <p:cNvPr id="220" name="Google Shape;220;p8"/>
          <p:cNvSpPr txBox="1"/>
          <p:nvPr/>
        </p:nvSpPr>
        <p:spPr>
          <a:xfrm>
            <a:off x="4956859" y="5527434"/>
            <a:ext cx="2806241" cy="31623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800" b="0" i="0" u="none" strike="noStrike" cap="none">
                <a:solidFill>
                  <a:srgbClr val="FFFFFF"/>
                </a:solidFill>
                <a:latin typeface="Roboto"/>
                <a:ea typeface="Roboto"/>
                <a:cs typeface="Roboto"/>
                <a:sym typeface="Roboto"/>
              </a:rPr>
              <a:t>Desarrollo Core</a:t>
            </a:r>
            <a:endParaRPr/>
          </a:p>
        </p:txBody>
      </p:sp>
      <p:sp>
        <p:nvSpPr>
          <p:cNvPr id="221" name="Google Shape;221;p8"/>
          <p:cNvSpPr txBox="1"/>
          <p:nvPr/>
        </p:nvSpPr>
        <p:spPr>
          <a:xfrm>
            <a:off x="5290898" y="6410082"/>
            <a:ext cx="3572472" cy="1599146"/>
          </a:xfrm>
          <a:prstGeom prst="rect">
            <a:avLst/>
          </a:prstGeom>
          <a:noFill/>
          <a:ln>
            <a:noFill/>
          </a:ln>
        </p:spPr>
        <p:txBody>
          <a:bodyPr spcFirstLastPara="1" wrap="square" lIns="0" tIns="0" rIns="0" bIns="0" anchor="t" anchorCtr="0">
            <a:spAutoFit/>
          </a:bodyPr>
          <a:lstStyle/>
          <a:p>
            <a:pPr marL="0" marR="0" lvl="0" indent="0" algn="ctr" rtl="0">
              <a:lnSpc>
                <a:spcPct val="140026"/>
              </a:lnSpc>
              <a:spcBef>
                <a:spcPts val="0"/>
              </a:spcBef>
              <a:spcAft>
                <a:spcPts val="0"/>
              </a:spcAft>
              <a:buNone/>
            </a:pPr>
            <a:r>
              <a:rPr lang="en-US" sz="2291" b="0" i="0" u="none" strike="noStrike" cap="none">
                <a:solidFill>
                  <a:srgbClr val="FFFFFF"/>
                </a:solidFill>
                <a:latin typeface="Roboto"/>
                <a:ea typeface="Roboto"/>
                <a:cs typeface="Roboto"/>
                <a:sym typeface="Roboto"/>
              </a:rPr>
              <a:t>Backend (autenticación, CRUD de mascotas) y frontend móvil con integración OCR.</a:t>
            </a:r>
            <a:endParaRPr/>
          </a:p>
        </p:txBody>
      </p:sp>
      <p:sp>
        <p:nvSpPr>
          <p:cNvPr id="222" name="Google Shape;222;p8"/>
          <p:cNvSpPr/>
          <p:nvPr/>
        </p:nvSpPr>
        <p:spPr>
          <a:xfrm>
            <a:off x="9354662" y="4976004"/>
            <a:ext cx="3732357" cy="3732357"/>
          </a:xfrm>
          <a:custGeom>
            <a:avLst/>
            <a:gdLst/>
            <a:ahLst/>
            <a:cxnLst/>
            <a:rect l="l" t="t" r="r" b="b"/>
            <a:pathLst>
              <a:path w="3732357" h="3732357" extrusionOk="0">
                <a:moveTo>
                  <a:pt x="0" y="0"/>
                </a:moveTo>
                <a:lnTo>
                  <a:pt x="3732357" y="0"/>
                </a:lnTo>
                <a:lnTo>
                  <a:pt x="3732357" y="3732357"/>
                </a:lnTo>
                <a:lnTo>
                  <a:pt x="0" y="3732357"/>
                </a:lnTo>
                <a:lnTo>
                  <a:pt x="0" y="0"/>
                </a:lnTo>
                <a:close/>
              </a:path>
            </a:pathLst>
          </a:custGeom>
          <a:blipFill rotWithShape="1">
            <a:blip r:embed="rId4">
              <a:alphaModFix/>
            </a:blip>
            <a:stretch>
              <a:fillRect/>
            </a:stretch>
          </a:blipFill>
          <a:ln>
            <a:noFill/>
          </a:ln>
        </p:spPr>
      </p:sp>
      <p:sp>
        <p:nvSpPr>
          <p:cNvPr id="223" name="Google Shape;223;p8"/>
          <p:cNvSpPr txBox="1"/>
          <p:nvPr/>
        </p:nvSpPr>
        <p:spPr>
          <a:xfrm>
            <a:off x="8554179" y="5095875"/>
            <a:ext cx="2806241" cy="31623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800" b="0" i="0" u="none" strike="noStrike" cap="none">
                <a:solidFill>
                  <a:srgbClr val="FFFFFF"/>
                </a:solidFill>
                <a:latin typeface="Roboto"/>
                <a:ea typeface="Roboto"/>
                <a:cs typeface="Roboto"/>
                <a:sym typeface="Roboto"/>
              </a:rPr>
              <a:t>Fase 3</a:t>
            </a:r>
            <a:endParaRPr/>
          </a:p>
        </p:txBody>
      </p:sp>
      <p:sp>
        <p:nvSpPr>
          <p:cNvPr id="224" name="Google Shape;224;p8"/>
          <p:cNvSpPr txBox="1"/>
          <p:nvPr/>
        </p:nvSpPr>
        <p:spPr>
          <a:xfrm>
            <a:off x="9510644" y="5527434"/>
            <a:ext cx="2806241" cy="31623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800" b="0" i="0" u="none" strike="noStrike" cap="none">
                <a:solidFill>
                  <a:srgbClr val="FFFFFF"/>
                </a:solidFill>
                <a:latin typeface="Roboto"/>
                <a:ea typeface="Roboto"/>
                <a:cs typeface="Roboto"/>
                <a:sym typeface="Roboto"/>
              </a:rPr>
              <a:t>Integración de hardware</a:t>
            </a:r>
            <a:endParaRPr/>
          </a:p>
        </p:txBody>
      </p:sp>
      <p:sp>
        <p:nvSpPr>
          <p:cNvPr id="225" name="Google Shape;225;p8"/>
          <p:cNvSpPr txBox="1"/>
          <p:nvPr/>
        </p:nvSpPr>
        <p:spPr>
          <a:xfrm>
            <a:off x="9434604" y="6410082"/>
            <a:ext cx="3572472" cy="1999196"/>
          </a:xfrm>
          <a:prstGeom prst="rect">
            <a:avLst/>
          </a:prstGeom>
          <a:noFill/>
          <a:ln>
            <a:noFill/>
          </a:ln>
        </p:spPr>
        <p:txBody>
          <a:bodyPr spcFirstLastPara="1" wrap="square" lIns="0" tIns="0" rIns="0" bIns="0" anchor="t" anchorCtr="0">
            <a:spAutoFit/>
          </a:bodyPr>
          <a:lstStyle/>
          <a:p>
            <a:pPr marL="0" marR="0" lvl="0" indent="0" algn="ctr" rtl="0">
              <a:lnSpc>
                <a:spcPct val="140026"/>
              </a:lnSpc>
              <a:spcBef>
                <a:spcPts val="0"/>
              </a:spcBef>
              <a:spcAft>
                <a:spcPts val="0"/>
              </a:spcAft>
              <a:buNone/>
            </a:pPr>
            <a:r>
              <a:rPr lang="en-US" sz="2291" b="0" i="0" u="none" strike="noStrike" cap="none">
                <a:solidFill>
                  <a:srgbClr val="FFFFFF"/>
                </a:solidFill>
                <a:latin typeface="Roboto"/>
                <a:ea typeface="Roboto"/>
                <a:cs typeface="Roboto"/>
                <a:sym typeface="Roboto"/>
              </a:rPr>
              <a:t>Generación de QR y vinculación NFC en la app, junto con el despliegue de la ficha web pública de emergencia.</a:t>
            </a:r>
            <a:endParaRPr/>
          </a:p>
        </p:txBody>
      </p:sp>
      <p:sp>
        <p:nvSpPr>
          <p:cNvPr id="226" name="Google Shape;226;p8"/>
          <p:cNvSpPr/>
          <p:nvPr/>
        </p:nvSpPr>
        <p:spPr>
          <a:xfrm>
            <a:off x="13526943" y="4976004"/>
            <a:ext cx="3732357" cy="3732357"/>
          </a:xfrm>
          <a:custGeom>
            <a:avLst/>
            <a:gdLst/>
            <a:ahLst/>
            <a:cxnLst/>
            <a:rect l="l" t="t" r="r" b="b"/>
            <a:pathLst>
              <a:path w="3732357" h="3732357" extrusionOk="0">
                <a:moveTo>
                  <a:pt x="0" y="0"/>
                </a:moveTo>
                <a:lnTo>
                  <a:pt x="3732357" y="0"/>
                </a:lnTo>
                <a:lnTo>
                  <a:pt x="3732357" y="3732357"/>
                </a:lnTo>
                <a:lnTo>
                  <a:pt x="0" y="3732357"/>
                </a:lnTo>
                <a:lnTo>
                  <a:pt x="0" y="0"/>
                </a:lnTo>
                <a:close/>
              </a:path>
            </a:pathLst>
          </a:custGeom>
          <a:blipFill rotWithShape="1">
            <a:blip r:embed="rId4">
              <a:alphaModFix/>
            </a:blip>
            <a:stretch>
              <a:fillRect/>
            </a:stretch>
          </a:blipFill>
          <a:ln>
            <a:noFill/>
          </a:ln>
        </p:spPr>
      </p:sp>
      <p:sp>
        <p:nvSpPr>
          <p:cNvPr id="227" name="Google Shape;227;p8"/>
          <p:cNvSpPr txBox="1"/>
          <p:nvPr/>
        </p:nvSpPr>
        <p:spPr>
          <a:xfrm>
            <a:off x="12726460" y="5095875"/>
            <a:ext cx="2806241" cy="31623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800" b="0" i="0" u="none" strike="noStrike" cap="none">
                <a:solidFill>
                  <a:srgbClr val="FFFFFF"/>
                </a:solidFill>
                <a:latin typeface="Roboto"/>
                <a:ea typeface="Roboto"/>
                <a:cs typeface="Roboto"/>
                <a:sym typeface="Roboto"/>
              </a:rPr>
              <a:t>Fase 4</a:t>
            </a:r>
            <a:endParaRPr/>
          </a:p>
        </p:txBody>
      </p:sp>
      <p:sp>
        <p:nvSpPr>
          <p:cNvPr id="228" name="Google Shape;228;p8"/>
          <p:cNvSpPr txBox="1"/>
          <p:nvPr/>
        </p:nvSpPr>
        <p:spPr>
          <a:xfrm>
            <a:off x="13496594" y="5527434"/>
            <a:ext cx="2806241" cy="31623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800" b="0" i="0" u="none" strike="noStrike" cap="none">
                <a:solidFill>
                  <a:srgbClr val="FFFFFF"/>
                </a:solidFill>
                <a:latin typeface="Roboto"/>
                <a:ea typeface="Roboto"/>
                <a:cs typeface="Roboto"/>
                <a:sym typeface="Roboto"/>
              </a:rPr>
              <a:t>Pruebas y despliegue</a:t>
            </a:r>
            <a:endParaRPr/>
          </a:p>
        </p:txBody>
      </p:sp>
      <p:sp>
        <p:nvSpPr>
          <p:cNvPr id="229" name="Google Shape;229;p8"/>
          <p:cNvSpPr txBox="1"/>
          <p:nvPr/>
        </p:nvSpPr>
        <p:spPr>
          <a:xfrm>
            <a:off x="13582319" y="6577089"/>
            <a:ext cx="3572472" cy="1199096"/>
          </a:xfrm>
          <a:prstGeom prst="rect">
            <a:avLst/>
          </a:prstGeom>
          <a:noFill/>
          <a:ln>
            <a:noFill/>
          </a:ln>
        </p:spPr>
        <p:txBody>
          <a:bodyPr spcFirstLastPara="1" wrap="square" lIns="0" tIns="0" rIns="0" bIns="0" anchor="t" anchorCtr="0">
            <a:spAutoFit/>
          </a:bodyPr>
          <a:lstStyle/>
          <a:p>
            <a:pPr marL="0" marR="0" lvl="0" indent="0" algn="ctr" rtl="0">
              <a:lnSpc>
                <a:spcPct val="140026"/>
              </a:lnSpc>
              <a:spcBef>
                <a:spcPts val="0"/>
              </a:spcBef>
              <a:spcAft>
                <a:spcPts val="0"/>
              </a:spcAft>
              <a:buNone/>
            </a:pPr>
            <a:r>
              <a:rPr lang="en-US" sz="2291" b="0" i="0" u="none" strike="noStrike" cap="none">
                <a:solidFill>
                  <a:srgbClr val="FFFFFF"/>
                </a:solidFill>
                <a:latin typeface="Roboto"/>
                <a:ea typeface="Roboto"/>
                <a:cs typeface="Roboto"/>
                <a:sym typeface="Roboto"/>
              </a:rPr>
              <a:t>Rendimiento (&lt;2s), seguridad, corrección de errores y versión final.</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9"/>
          <p:cNvSpPr/>
          <p:nvPr/>
        </p:nvSpPr>
        <p:spPr>
          <a:xfrm>
            <a:off x="1628893" y="2681319"/>
            <a:ext cx="3382006" cy="3382006"/>
          </a:xfrm>
          <a:custGeom>
            <a:avLst/>
            <a:gdLst/>
            <a:ahLst/>
            <a:cxnLst/>
            <a:rect l="l" t="t" r="r" b="b"/>
            <a:pathLst>
              <a:path w="3382006" h="3382006" extrusionOk="0">
                <a:moveTo>
                  <a:pt x="0" y="0"/>
                </a:moveTo>
                <a:lnTo>
                  <a:pt x="3382006" y="0"/>
                </a:lnTo>
                <a:lnTo>
                  <a:pt x="3382006" y="3382006"/>
                </a:lnTo>
                <a:lnTo>
                  <a:pt x="0" y="3382006"/>
                </a:lnTo>
                <a:lnTo>
                  <a:pt x="0" y="0"/>
                </a:lnTo>
                <a:close/>
              </a:path>
            </a:pathLst>
          </a:custGeom>
          <a:blipFill rotWithShape="1">
            <a:blip r:embed="rId3">
              <a:alphaModFix/>
            </a:blip>
            <a:stretch>
              <a:fillRect/>
            </a:stretch>
          </a:blipFill>
          <a:ln>
            <a:noFill/>
          </a:ln>
        </p:spPr>
      </p:sp>
      <p:grpSp>
        <p:nvGrpSpPr>
          <p:cNvPr id="235" name="Google Shape;235;p9"/>
          <p:cNvGrpSpPr/>
          <p:nvPr/>
        </p:nvGrpSpPr>
        <p:grpSpPr>
          <a:xfrm>
            <a:off x="0" y="884039"/>
            <a:ext cx="6577793" cy="1311860"/>
            <a:chOff x="0" y="-38100"/>
            <a:chExt cx="1732423" cy="345511"/>
          </a:xfrm>
        </p:grpSpPr>
        <p:sp>
          <p:nvSpPr>
            <p:cNvPr id="236" name="Google Shape;236;p9"/>
            <p:cNvSpPr/>
            <p:nvPr/>
          </p:nvSpPr>
          <p:spPr>
            <a:xfrm>
              <a:off x="0" y="0"/>
              <a:ext cx="1732423" cy="307411"/>
            </a:xfrm>
            <a:custGeom>
              <a:avLst/>
              <a:gdLst/>
              <a:ahLst/>
              <a:cxnLst/>
              <a:rect l="l" t="t" r="r" b="b"/>
              <a:pathLst>
                <a:path w="1732423" h="307411" extrusionOk="0">
                  <a:moveTo>
                    <a:pt x="0" y="0"/>
                  </a:moveTo>
                  <a:lnTo>
                    <a:pt x="1732423" y="0"/>
                  </a:lnTo>
                  <a:lnTo>
                    <a:pt x="1732423" y="307411"/>
                  </a:lnTo>
                  <a:lnTo>
                    <a:pt x="0" y="307411"/>
                  </a:lnTo>
                  <a:close/>
                </a:path>
              </a:pathLst>
            </a:custGeom>
            <a:solidFill>
              <a:srgbClr val="6B9C6F"/>
            </a:solidFill>
            <a:ln>
              <a:noFill/>
            </a:ln>
          </p:spPr>
        </p:sp>
        <p:sp>
          <p:nvSpPr>
            <p:cNvPr id="237" name="Google Shape;237;p9"/>
            <p:cNvSpPr txBox="1"/>
            <p:nvPr/>
          </p:nvSpPr>
          <p:spPr>
            <a:xfrm>
              <a:off x="0" y="-38100"/>
              <a:ext cx="1732423" cy="345511"/>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8" name="Google Shape;238;p9"/>
          <p:cNvSpPr/>
          <p:nvPr/>
        </p:nvSpPr>
        <p:spPr>
          <a:xfrm>
            <a:off x="5382450" y="2681319"/>
            <a:ext cx="3382006" cy="3382006"/>
          </a:xfrm>
          <a:custGeom>
            <a:avLst/>
            <a:gdLst/>
            <a:ahLst/>
            <a:cxnLst/>
            <a:rect l="l" t="t" r="r" b="b"/>
            <a:pathLst>
              <a:path w="3382006" h="3382006" extrusionOk="0">
                <a:moveTo>
                  <a:pt x="0" y="0"/>
                </a:moveTo>
                <a:lnTo>
                  <a:pt x="3382007" y="0"/>
                </a:lnTo>
                <a:lnTo>
                  <a:pt x="3382007" y="3382006"/>
                </a:lnTo>
                <a:lnTo>
                  <a:pt x="0" y="3382006"/>
                </a:lnTo>
                <a:lnTo>
                  <a:pt x="0" y="0"/>
                </a:lnTo>
                <a:close/>
              </a:path>
            </a:pathLst>
          </a:custGeom>
          <a:blipFill rotWithShape="1">
            <a:blip r:embed="rId3">
              <a:alphaModFix/>
            </a:blip>
            <a:stretch>
              <a:fillRect/>
            </a:stretch>
          </a:blipFill>
          <a:ln>
            <a:noFill/>
          </a:ln>
        </p:spPr>
      </p:sp>
      <p:sp>
        <p:nvSpPr>
          <p:cNvPr id="239" name="Google Shape;239;p9"/>
          <p:cNvSpPr/>
          <p:nvPr/>
        </p:nvSpPr>
        <p:spPr>
          <a:xfrm>
            <a:off x="9135932" y="2681319"/>
            <a:ext cx="3382006" cy="3382006"/>
          </a:xfrm>
          <a:custGeom>
            <a:avLst/>
            <a:gdLst/>
            <a:ahLst/>
            <a:cxnLst/>
            <a:rect l="l" t="t" r="r" b="b"/>
            <a:pathLst>
              <a:path w="3382006" h="3382006" extrusionOk="0">
                <a:moveTo>
                  <a:pt x="0" y="0"/>
                </a:moveTo>
                <a:lnTo>
                  <a:pt x="3382006" y="0"/>
                </a:lnTo>
                <a:lnTo>
                  <a:pt x="3382006" y="3382006"/>
                </a:lnTo>
                <a:lnTo>
                  <a:pt x="0" y="3382006"/>
                </a:lnTo>
                <a:lnTo>
                  <a:pt x="0" y="0"/>
                </a:lnTo>
                <a:close/>
              </a:path>
            </a:pathLst>
          </a:custGeom>
          <a:blipFill rotWithShape="1">
            <a:blip r:embed="rId3">
              <a:alphaModFix/>
            </a:blip>
            <a:stretch>
              <a:fillRect/>
            </a:stretch>
          </a:blipFill>
          <a:ln>
            <a:noFill/>
          </a:ln>
        </p:spPr>
      </p:sp>
      <p:sp>
        <p:nvSpPr>
          <p:cNvPr id="240" name="Google Shape;240;p9"/>
          <p:cNvSpPr/>
          <p:nvPr/>
        </p:nvSpPr>
        <p:spPr>
          <a:xfrm>
            <a:off x="12889413" y="2681319"/>
            <a:ext cx="3382006" cy="3382006"/>
          </a:xfrm>
          <a:custGeom>
            <a:avLst/>
            <a:gdLst/>
            <a:ahLst/>
            <a:cxnLst/>
            <a:rect l="l" t="t" r="r" b="b"/>
            <a:pathLst>
              <a:path w="3382006" h="3382006" extrusionOk="0">
                <a:moveTo>
                  <a:pt x="0" y="0"/>
                </a:moveTo>
                <a:lnTo>
                  <a:pt x="3382006" y="0"/>
                </a:lnTo>
                <a:lnTo>
                  <a:pt x="3382006" y="3382006"/>
                </a:lnTo>
                <a:lnTo>
                  <a:pt x="0" y="3382006"/>
                </a:lnTo>
                <a:lnTo>
                  <a:pt x="0" y="0"/>
                </a:lnTo>
                <a:close/>
              </a:path>
            </a:pathLst>
          </a:custGeom>
          <a:blipFill rotWithShape="1">
            <a:blip r:embed="rId3">
              <a:alphaModFix/>
            </a:blip>
            <a:stretch>
              <a:fillRect/>
            </a:stretch>
          </a:blipFill>
          <a:ln>
            <a:noFill/>
          </a:ln>
        </p:spPr>
      </p:sp>
      <p:sp>
        <p:nvSpPr>
          <p:cNvPr id="241" name="Google Shape;241;p9"/>
          <p:cNvSpPr/>
          <p:nvPr/>
        </p:nvSpPr>
        <p:spPr>
          <a:xfrm>
            <a:off x="1628893" y="6393002"/>
            <a:ext cx="3382006" cy="3382006"/>
          </a:xfrm>
          <a:custGeom>
            <a:avLst/>
            <a:gdLst/>
            <a:ahLst/>
            <a:cxnLst/>
            <a:rect l="l" t="t" r="r" b="b"/>
            <a:pathLst>
              <a:path w="3382006" h="3382006" extrusionOk="0">
                <a:moveTo>
                  <a:pt x="0" y="0"/>
                </a:moveTo>
                <a:lnTo>
                  <a:pt x="3382006" y="0"/>
                </a:lnTo>
                <a:lnTo>
                  <a:pt x="3382006" y="3382007"/>
                </a:lnTo>
                <a:lnTo>
                  <a:pt x="0" y="3382007"/>
                </a:lnTo>
                <a:lnTo>
                  <a:pt x="0" y="0"/>
                </a:lnTo>
                <a:close/>
              </a:path>
            </a:pathLst>
          </a:custGeom>
          <a:blipFill rotWithShape="1">
            <a:blip r:embed="rId3">
              <a:alphaModFix/>
            </a:blip>
            <a:stretch>
              <a:fillRect/>
            </a:stretch>
          </a:blipFill>
          <a:ln>
            <a:noFill/>
          </a:ln>
        </p:spPr>
      </p:sp>
      <p:sp>
        <p:nvSpPr>
          <p:cNvPr id="242" name="Google Shape;242;p9"/>
          <p:cNvSpPr/>
          <p:nvPr/>
        </p:nvSpPr>
        <p:spPr>
          <a:xfrm>
            <a:off x="5382450" y="6393002"/>
            <a:ext cx="3382006" cy="3382006"/>
          </a:xfrm>
          <a:custGeom>
            <a:avLst/>
            <a:gdLst/>
            <a:ahLst/>
            <a:cxnLst/>
            <a:rect l="l" t="t" r="r" b="b"/>
            <a:pathLst>
              <a:path w="3382006" h="3382006" extrusionOk="0">
                <a:moveTo>
                  <a:pt x="0" y="0"/>
                </a:moveTo>
                <a:lnTo>
                  <a:pt x="3382007" y="0"/>
                </a:lnTo>
                <a:lnTo>
                  <a:pt x="3382007" y="3382007"/>
                </a:lnTo>
                <a:lnTo>
                  <a:pt x="0" y="3382007"/>
                </a:lnTo>
                <a:lnTo>
                  <a:pt x="0" y="0"/>
                </a:lnTo>
                <a:close/>
              </a:path>
            </a:pathLst>
          </a:custGeom>
          <a:blipFill rotWithShape="1">
            <a:blip r:embed="rId3">
              <a:alphaModFix/>
            </a:blip>
            <a:stretch>
              <a:fillRect/>
            </a:stretch>
          </a:blipFill>
          <a:ln>
            <a:noFill/>
          </a:ln>
        </p:spPr>
      </p:sp>
      <p:sp>
        <p:nvSpPr>
          <p:cNvPr id="243" name="Google Shape;243;p9"/>
          <p:cNvSpPr/>
          <p:nvPr/>
        </p:nvSpPr>
        <p:spPr>
          <a:xfrm>
            <a:off x="9135932" y="6393002"/>
            <a:ext cx="3382006" cy="3382006"/>
          </a:xfrm>
          <a:custGeom>
            <a:avLst/>
            <a:gdLst/>
            <a:ahLst/>
            <a:cxnLst/>
            <a:rect l="l" t="t" r="r" b="b"/>
            <a:pathLst>
              <a:path w="3382006" h="3382006" extrusionOk="0">
                <a:moveTo>
                  <a:pt x="0" y="0"/>
                </a:moveTo>
                <a:lnTo>
                  <a:pt x="3382006" y="0"/>
                </a:lnTo>
                <a:lnTo>
                  <a:pt x="3382006" y="3382007"/>
                </a:lnTo>
                <a:lnTo>
                  <a:pt x="0" y="3382007"/>
                </a:lnTo>
                <a:lnTo>
                  <a:pt x="0" y="0"/>
                </a:lnTo>
                <a:close/>
              </a:path>
            </a:pathLst>
          </a:custGeom>
          <a:blipFill rotWithShape="1">
            <a:blip r:embed="rId3">
              <a:alphaModFix/>
            </a:blip>
            <a:stretch>
              <a:fillRect/>
            </a:stretch>
          </a:blipFill>
          <a:ln>
            <a:noFill/>
          </a:ln>
        </p:spPr>
      </p:sp>
      <p:sp>
        <p:nvSpPr>
          <p:cNvPr id="244" name="Google Shape;244;p9"/>
          <p:cNvSpPr/>
          <p:nvPr/>
        </p:nvSpPr>
        <p:spPr>
          <a:xfrm>
            <a:off x="12889413" y="6393002"/>
            <a:ext cx="3382006" cy="3382006"/>
          </a:xfrm>
          <a:custGeom>
            <a:avLst/>
            <a:gdLst/>
            <a:ahLst/>
            <a:cxnLst/>
            <a:rect l="l" t="t" r="r" b="b"/>
            <a:pathLst>
              <a:path w="3382006" h="3382006" extrusionOk="0">
                <a:moveTo>
                  <a:pt x="0" y="0"/>
                </a:moveTo>
                <a:lnTo>
                  <a:pt x="3382006" y="0"/>
                </a:lnTo>
                <a:lnTo>
                  <a:pt x="3382006" y="3382007"/>
                </a:lnTo>
                <a:lnTo>
                  <a:pt x="0" y="3382007"/>
                </a:lnTo>
                <a:lnTo>
                  <a:pt x="0" y="0"/>
                </a:lnTo>
                <a:close/>
              </a:path>
            </a:pathLst>
          </a:custGeom>
          <a:blipFill rotWithShape="1">
            <a:blip r:embed="rId3">
              <a:alphaModFix/>
            </a:blip>
            <a:stretch>
              <a:fillRect/>
            </a:stretch>
          </a:blipFill>
          <a:ln>
            <a:noFill/>
          </a:ln>
        </p:spPr>
      </p:sp>
      <p:sp>
        <p:nvSpPr>
          <p:cNvPr id="245" name="Google Shape;245;p9"/>
          <p:cNvSpPr/>
          <p:nvPr/>
        </p:nvSpPr>
        <p:spPr>
          <a:xfrm>
            <a:off x="2735468" y="2770658"/>
            <a:ext cx="1106856" cy="1106856"/>
          </a:xfrm>
          <a:custGeom>
            <a:avLst/>
            <a:gdLst/>
            <a:ahLst/>
            <a:cxnLst/>
            <a:rect l="l" t="t" r="r" b="b"/>
            <a:pathLst>
              <a:path w="1106856" h="1106856" extrusionOk="0">
                <a:moveTo>
                  <a:pt x="0" y="0"/>
                </a:moveTo>
                <a:lnTo>
                  <a:pt x="1106857" y="0"/>
                </a:lnTo>
                <a:lnTo>
                  <a:pt x="1106857" y="1106856"/>
                </a:lnTo>
                <a:lnTo>
                  <a:pt x="0" y="1106856"/>
                </a:lnTo>
                <a:lnTo>
                  <a:pt x="0" y="0"/>
                </a:lnTo>
                <a:close/>
              </a:path>
            </a:pathLst>
          </a:custGeom>
          <a:blipFill rotWithShape="1">
            <a:blip r:embed="rId4">
              <a:alphaModFix/>
            </a:blip>
            <a:stretch>
              <a:fillRect/>
            </a:stretch>
          </a:blipFill>
          <a:ln>
            <a:noFill/>
          </a:ln>
        </p:spPr>
      </p:sp>
      <p:sp>
        <p:nvSpPr>
          <p:cNvPr id="246" name="Google Shape;246;p9"/>
          <p:cNvSpPr/>
          <p:nvPr/>
        </p:nvSpPr>
        <p:spPr>
          <a:xfrm>
            <a:off x="6419500" y="2895003"/>
            <a:ext cx="1107311" cy="858166"/>
          </a:xfrm>
          <a:custGeom>
            <a:avLst/>
            <a:gdLst/>
            <a:ahLst/>
            <a:cxnLst/>
            <a:rect l="l" t="t" r="r" b="b"/>
            <a:pathLst>
              <a:path w="1107311" h="858166" extrusionOk="0">
                <a:moveTo>
                  <a:pt x="0" y="0"/>
                </a:moveTo>
                <a:lnTo>
                  <a:pt x="1107312" y="0"/>
                </a:lnTo>
                <a:lnTo>
                  <a:pt x="1107312" y="858166"/>
                </a:lnTo>
                <a:lnTo>
                  <a:pt x="0" y="858166"/>
                </a:lnTo>
                <a:lnTo>
                  <a:pt x="0" y="0"/>
                </a:lnTo>
                <a:close/>
              </a:path>
            </a:pathLst>
          </a:custGeom>
          <a:blipFill rotWithShape="1">
            <a:blip r:embed="rId5">
              <a:alphaModFix/>
            </a:blip>
            <a:stretch>
              <a:fillRect/>
            </a:stretch>
          </a:blipFill>
          <a:ln>
            <a:noFill/>
          </a:ln>
        </p:spPr>
      </p:sp>
      <p:sp>
        <p:nvSpPr>
          <p:cNvPr id="247" name="Google Shape;247;p9"/>
          <p:cNvSpPr/>
          <p:nvPr/>
        </p:nvSpPr>
        <p:spPr>
          <a:xfrm>
            <a:off x="10289925" y="2913273"/>
            <a:ext cx="1074020" cy="821625"/>
          </a:xfrm>
          <a:custGeom>
            <a:avLst/>
            <a:gdLst/>
            <a:ahLst/>
            <a:cxnLst/>
            <a:rect l="l" t="t" r="r" b="b"/>
            <a:pathLst>
              <a:path w="1074020" h="821625" extrusionOk="0">
                <a:moveTo>
                  <a:pt x="0" y="0"/>
                </a:moveTo>
                <a:lnTo>
                  <a:pt x="1074020" y="0"/>
                </a:lnTo>
                <a:lnTo>
                  <a:pt x="1074020" y="821626"/>
                </a:lnTo>
                <a:lnTo>
                  <a:pt x="0" y="821626"/>
                </a:lnTo>
                <a:lnTo>
                  <a:pt x="0" y="0"/>
                </a:lnTo>
                <a:close/>
              </a:path>
            </a:pathLst>
          </a:custGeom>
          <a:blipFill rotWithShape="1">
            <a:blip r:embed="rId6">
              <a:alphaModFix/>
            </a:blip>
            <a:stretch>
              <a:fillRect/>
            </a:stretch>
          </a:blipFill>
          <a:ln>
            <a:noFill/>
          </a:ln>
        </p:spPr>
      </p:sp>
      <p:sp>
        <p:nvSpPr>
          <p:cNvPr id="248" name="Google Shape;248;p9"/>
          <p:cNvSpPr/>
          <p:nvPr/>
        </p:nvSpPr>
        <p:spPr>
          <a:xfrm>
            <a:off x="14173676" y="2854268"/>
            <a:ext cx="813481" cy="1023247"/>
          </a:xfrm>
          <a:custGeom>
            <a:avLst/>
            <a:gdLst/>
            <a:ahLst/>
            <a:cxnLst/>
            <a:rect l="l" t="t" r="r" b="b"/>
            <a:pathLst>
              <a:path w="813481" h="1023247" extrusionOk="0">
                <a:moveTo>
                  <a:pt x="0" y="0"/>
                </a:moveTo>
                <a:lnTo>
                  <a:pt x="813481" y="0"/>
                </a:lnTo>
                <a:lnTo>
                  <a:pt x="813481" y="1023246"/>
                </a:lnTo>
                <a:lnTo>
                  <a:pt x="0" y="1023246"/>
                </a:lnTo>
                <a:lnTo>
                  <a:pt x="0" y="0"/>
                </a:lnTo>
                <a:close/>
              </a:path>
            </a:pathLst>
          </a:custGeom>
          <a:blipFill rotWithShape="1">
            <a:blip r:embed="rId7">
              <a:alphaModFix/>
            </a:blip>
            <a:stretch>
              <a:fillRect/>
            </a:stretch>
          </a:blipFill>
          <a:ln>
            <a:noFill/>
          </a:ln>
        </p:spPr>
      </p:sp>
      <p:sp>
        <p:nvSpPr>
          <p:cNvPr id="249" name="Google Shape;249;p9"/>
          <p:cNvSpPr/>
          <p:nvPr/>
        </p:nvSpPr>
        <p:spPr>
          <a:xfrm>
            <a:off x="2952805" y="6549100"/>
            <a:ext cx="672184" cy="850866"/>
          </a:xfrm>
          <a:custGeom>
            <a:avLst/>
            <a:gdLst/>
            <a:ahLst/>
            <a:cxnLst/>
            <a:rect l="l" t="t" r="r" b="b"/>
            <a:pathLst>
              <a:path w="672184" h="850866" extrusionOk="0">
                <a:moveTo>
                  <a:pt x="0" y="0"/>
                </a:moveTo>
                <a:lnTo>
                  <a:pt x="672184" y="0"/>
                </a:lnTo>
                <a:lnTo>
                  <a:pt x="672184" y="850866"/>
                </a:lnTo>
                <a:lnTo>
                  <a:pt x="0" y="850866"/>
                </a:lnTo>
                <a:lnTo>
                  <a:pt x="0" y="0"/>
                </a:lnTo>
                <a:close/>
              </a:path>
            </a:pathLst>
          </a:custGeom>
          <a:blipFill rotWithShape="1">
            <a:blip r:embed="rId8">
              <a:alphaModFix/>
            </a:blip>
            <a:stretch>
              <a:fillRect/>
            </a:stretch>
          </a:blipFill>
          <a:ln>
            <a:noFill/>
          </a:ln>
        </p:spPr>
      </p:sp>
      <p:sp>
        <p:nvSpPr>
          <p:cNvPr id="250" name="Google Shape;250;p9"/>
          <p:cNvSpPr/>
          <p:nvPr/>
        </p:nvSpPr>
        <p:spPr>
          <a:xfrm>
            <a:off x="6601436" y="6470084"/>
            <a:ext cx="743441" cy="984690"/>
          </a:xfrm>
          <a:custGeom>
            <a:avLst/>
            <a:gdLst/>
            <a:ahLst/>
            <a:cxnLst/>
            <a:rect l="l" t="t" r="r" b="b"/>
            <a:pathLst>
              <a:path w="743441" h="984690" extrusionOk="0">
                <a:moveTo>
                  <a:pt x="0" y="0"/>
                </a:moveTo>
                <a:lnTo>
                  <a:pt x="743441" y="0"/>
                </a:lnTo>
                <a:lnTo>
                  <a:pt x="743441" y="984690"/>
                </a:lnTo>
                <a:lnTo>
                  <a:pt x="0" y="984690"/>
                </a:lnTo>
                <a:lnTo>
                  <a:pt x="0" y="0"/>
                </a:lnTo>
                <a:close/>
              </a:path>
            </a:pathLst>
          </a:custGeom>
          <a:blipFill rotWithShape="1">
            <a:blip r:embed="rId9">
              <a:alphaModFix/>
            </a:blip>
            <a:stretch>
              <a:fillRect/>
            </a:stretch>
          </a:blipFill>
          <a:ln>
            <a:noFill/>
          </a:ln>
        </p:spPr>
      </p:sp>
      <p:sp>
        <p:nvSpPr>
          <p:cNvPr id="251" name="Google Shape;251;p9"/>
          <p:cNvSpPr/>
          <p:nvPr/>
        </p:nvSpPr>
        <p:spPr>
          <a:xfrm>
            <a:off x="10202332" y="6549100"/>
            <a:ext cx="1249206" cy="905674"/>
          </a:xfrm>
          <a:custGeom>
            <a:avLst/>
            <a:gdLst/>
            <a:ahLst/>
            <a:cxnLst/>
            <a:rect l="l" t="t" r="r" b="b"/>
            <a:pathLst>
              <a:path w="1249206" h="905674" extrusionOk="0">
                <a:moveTo>
                  <a:pt x="0" y="0"/>
                </a:moveTo>
                <a:lnTo>
                  <a:pt x="1249206" y="0"/>
                </a:lnTo>
                <a:lnTo>
                  <a:pt x="1249206" y="905674"/>
                </a:lnTo>
                <a:lnTo>
                  <a:pt x="0" y="905674"/>
                </a:lnTo>
                <a:lnTo>
                  <a:pt x="0" y="0"/>
                </a:lnTo>
                <a:close/>
              </a:path>
            </a:pathLst>
          </a:custGeom>
          <a:blipFill rotWithShape="1">
            <a:blip r:embed="rId10">
              <a:alphaModFix/>
            </a:blip>
            <a:stretch>
              <a:fillRect/>
            </a:stretch>
          </a:blipFill>
          <a:ln>
            <a:noFill/>
          </a:ln>
        </p:spPr>
      </p:sp>
      <p:sp>
        <p:nvSpPr>
          <p:cNvPr id="252" name="Google Shape;252;p9"/>
          <p:cNvSpPr/>
          <p:nvPr/>
        </p:nvSpPr>
        <p:spPr>
          <a:xfrm>
            <a:off x="14093288" y="6549100"/>
            <a:ext cx="974256" cy="974256"/>
          </a:xfrm>
          <a:custGeom>
            <a:avLst/>
            <a:gdLst/>
            <a:ahLst/>
            <a:cxnLst/>
            <a:rect l="l" t="t" r="r" b="b"/>
            <a:pathLst>
              <a:path w="974256" h="974256" extrusionOk="0">
                <a:moveTo>
                  <a:pt x="0" y="0"/>
                </a:moveTo>
                <a:lnTo>
                  <a:pt x="974256" y="0"/>
                </a:lnTo>
                <a:lnTo>
                  <a:pt x="974256" y="974256"/>
                </a:lnTo>
                <a:lnTo>
                  <a:pt x="0" y="974256"/>
                </a:lnTo>
                <a:lnTo>
                  <a:pt x="0" y="0"/>
                </a:lnTo>
                <a:close/>
              </a:path>
            </a:pathLst>
          </a:custGeom>
          <a:blipFill rotWithShape="1">
            <a:blip r:embed="rId11">
              <a:alphaModFix/>
            </a:blip>
            <a:stretch>
              <a:fillRect/>
            </a:stretch>
          </a:blipFill>
          <a:ln>
            <a:noFill/>
          </a:ln>
        </p:spPr>
      </p:sp>
      <p:sp>
        <p:nvSpPr>
          <p:cNvPr id="253" name="Google Shape;253;p9"/>
          <p:cNvSpPr txBox="1"/>
          <p:nvPr/>
        </p:nvSpPr>
        <p:spPr>
          <a:xfrm>
            <a:off x="350372" y="1062094"/>
            <a:ext cx="5597889" cy="1105890"/>
          </a:xfrm>
          <a:prstGeom prst="rect">
            <a:avLst/>
          </a:prstGeom>
          <a:noFill/>
          <a:ln>
            <a:noFill/>
          </a:ln>
        </p:spPr>
        <p:txBody>
          <a:bodyPr spcFirstLastPara="1" wrap="square" lIns="0" tIns="0" rIns="0" bIns="0" anchor="t" anchorCtr="0">
            <a:spAutoFit/>
          </a:bodyPr>
          <a:lstStyle/>
          <a:p>
            <a:pPr marL="0" marR="0" lvl="0" indent="0" algn="l" rtl="0">
              <a:lnSpc>
                <a:spcPct val="112009"/>
              </a:lnSpc>
              <a:spcBef>
                <a:spcPts val="0"/>
              </a:spcBef>
              <a:spcAft>
                <a:spcPts val="0"/>
              </a:spcAft>
              <a:buNone/>
            </a:pPr>
            <a:r>
              <a:rPr lang="en-US" sz="3847" b="0" i="0" u="none" strike="noStrike" cap="none">
                <a:solidFill>
                  <a:srgbClr val="FFFFFF"/>
                </a:solidFill>
                <a:latin typeface="Roboto"/>
                <a:ea typeface="Roboto"/>
                <a:cs typeface="Roboto"/>
                <a:sym typeface="Roboto"/>
              </a:rPr>
              <a:t>STACK TECNOLÓGICO</a:t>
            </a:r>
            <a:endParaRPr/>
          </a:p>
        </p:txBody>
      </p:sp>
      <p:sp>
        <p:nvSpPr>
          <p:cNvPr id="254" name="Google Shape;254;p9"/>
          <p:cNvSpPr txBox="1"/>
          <p:nvPr/>
        </p:nvSpPr>
        <p:spPr>
          <a:xfrm>
            <a:off x="1885776" y="3969469"/>
            <a:ext cx="2806241" cy="31623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800" b="0" i="0" u="none" strike="noStrike" cap="none">
                <a:solidFill>
                  <a:srgbClr val="6B9C6F"/>
                </a:solidFill>
                <a:latin typeface="Roboto"/>
                <a:ea typeface="Roboto"/>
                <a:cs typeface="Roboto"/>
                <a:sym typeface="Roboto"/>
              </a:rPr>
              <a:t>Desarrollo móvil</a:t>
            </a:r>
            <a:endParaRPr/>
          </a:p>
        </p:txBody>
      </p:sp>
      <p:sp>
        <p:nvSpPr>
          <p:cNvPr id="255" name="Google Shape;255;p9"/>
          <p:cNvSpPr txBox="1"/>
          <p:nvPr/>
        </p:nvSpPr>
        <p:spPr>
          <a:xfrm>
            <a:off x="1502661" y="4612815"/>
            <a:ext cx="3572472" cy="737451"/>
          </a:xfrm>
          <a:prstGeom prst="rect">
            <a:avLst/>
          </a:prstGeom>
          <a:noFill/>
          <a:ln>
            <a:noFill/>
          </a:ln>
        </p:spPr>
        <p:txBody>
          <a:bodyPr spcFirstLastPara="1" wrap="square" lIns="0" tIns="0" rIns="0" bIns="0" anchor="t" anchorCtr="0">
            <a:spAutoFit/>
          </a:bodyPr>
          <a:lstStyle/>
          <a:p>
            <a:pPr marL="0" marR="0" lvl="0" indent="0" algn="ctr" rtl="0">
              <a:lnSpc>
                <a:spcPct val="140028"/>
              </a:lnSpc>
              <a:spcBef>
                <a:spcPts val="0"/>
              </a:spcBef>
              <a:spcAft>
                <a:spcPts val="0"/>
              </a:spcAft>
              <a:buNone/>
            </a:pPr>
            <a:r>
              <a:rPr lang="en-US" sz="2091" b="0" i="0" u="none" strike="noStrike" cap="none">
                <a:solidFill>
                  <a:srgbClr val="6B9C6F"/>
                </a:solidFill>
                <a:latin typeface="Roboto"/>
                <a:ea typeface="Roboto"/>
                <a:cs typeface="Roboto"/>
                <a:sym typeface="Roboto"/>
              </a:rPr>
              <a:t>Android Studio/multiplataforma</a:t>
            </a:r>
            <a:endParaRPr/>
          </a:p>
        </p:txBody>
      </p:sp>
      <p:sp>
        <p:nvSpPr>
          <p:cNvPr id="256" name="Google Shape;256;p9"/>
          <p:cNvSpPr txBox="1"/>
          <p:nvPr/>
        </p:nvSpPr>
        <p:spPr>
          <a:xfrm>
            <a:off x="5570036" y="3969469"/>
            <a:ext cx="2806241" cy="31623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800" b="0" i="0" u="none" strike="noStrike" cap="none">
                <a:solidFill>
                  <a:srgbClr val="6B9C6F"/>
                </a:solidFill>
                <a:latin typeface="Roboto"/>
                <a:ea typeface="Roboto"/>
                <a:cs typeface="Roboto"/>
                <a:sym typeface="Roboto"/>
              </a:rPr>
              <a:t>Cloud</a:t>
            </a:r>
            <a:endParaRPr/>
          </a:p>
        </p:txBody>
      </p:sp>
      <p:sp>
        <p:nvSpPr>
          <p:cNvPr id="257" name="Google Shape;257;p9"/>
          <p:cNvSpPr txBox="1"/>
          <p:nvPr/>
        </p:nvSpPr>
        <p:spPr>
          <a:xfrm>
            <a:off x="5186920" y="4798552"/>
            <a:ext cx="3572472" cy="365976"/>
          </a:xfrm>
          <a:prstGeom prst="rect">
            <a:avLst/>
          </a:prstGeom>
          <a:noFill/>
          <a:ln>
            <a:noFill/>
          </a:ln>
        </p:spPr>
        <p:txBody>
          <a:bodyPr spcFirstLastPara="1" wrap="square" lIns="0" tIns="0" rIns="0" bIns="0" anchor="t" anchorCtr="0">
            <a:spAutoFit/>
          </a:bodyPr>
          <a:lstStyle/>
          <a:p>
            <a:pPr marL="0" marR="0" lvl="0" indent="0" algn="ctr" rtl="0">
              <a:lnSpc>
                <a:spcPct val="140028"/>
              </a:lnSpc>
              <a:spcBef>
                <a:spcPts val="0"/>
              </a:spcBef>
              <a:spcAft>
                <a:spcPts val="0"/>
              </a:spcAft>
              <a:buNone/>
            </a:pPr>
            <a:r>
              <a:rPr lang="en-US" sz="2091" b="0" i="0" u="none" strike="noStrike" cap="none">
                <a:solidFill>
                  <a:srgbClr val="6B9C6F"/>
                </a:solidFill>
                <a:latin typeface="Roboto"/>
                <a:ea typeface="Roboto"/>
                <a:cs typeface="Roboto"/>
                <a:sym typeface="Roboto"/>
              </a:rPr>
              <a:t>AWS/GCP</a:t>
            </a:r>
            <a:endParaRPr/>
          </a:p>
        </p:txBody>
      </p:sp>
      <p:sp>
        <p:nvSpPr>
          <p:cNvPr id="258" name="Google Shape;258;p9"/>
          <p:cNvSpPr txBox="1"/>
          <p:nvPr/>
        </p:nvSpPr>
        <p:spPr>
          <a:xfrm>
            <a:off x="9423814" y="3969469"/>
            <a:ext cx="2806241" cy="31623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800" b="0" i="0" u="none" strike="noStrike" cap="none">
                <a:solidFill>
                  <a:srgbClr val="6B9C6F"/>
                </a:solidFill>
                <a:latin typeface="Roboto"/>
                <a:ea typeface="Roboto"/>
                <a:cs typeface="Roboto"/>
                <a:sym typeface="Roboto"/>
              </a:rPr>
              <a:t>Motor OCR</a:t>
            </a:r>
            <a:endParaRPr/>
          </a:p>
        </p:txBody>
      </p:sp>
      <p:sp>
        <p:nvSpPr>
          <p:cNvPr id="259" name="Google Shape;259;p9"/>
          <p:cNvSpPr txBox="1"/>
          <p:nvPr/>
        </p:nvSpPr>
        <p:spPr>
          <a:xfrm>
            <a:off x="8945466" y="4671413"/>
            <a:ext cx="3572472" cy="737451"/>
          </a:xfrm>
          <a:prstGeom prst="rect">
            <a:avLst/>
          </a:prstGeom>
          <a:noFill/>
          <a:ln>
            <a:noFill/>
          </a:ln>
        </p:spPr>
        <p:txBody>
          <a:bodyPr spcFirstLastPara="1" wrap="square" lIns="0" tIns="0" rIns="0" bIns="0" anchor="t" anchorCtr="0">
            <a:spAutoFit/>
          </a:bodyPr>
          <a:lstStyle/>
          <a:p>
            <a:pPr marL="0" marR="0" lvl="0" indent="0" algn="ctr" rtl="0">
              <a:lnSpc>
                <a:spcPct val="140028"/>
              </a:lnSpc>
              <a:spcBef>
                <a:spcPts val="0"/>
              </a:spcBef>
              <a:spcAft>
                <a:spcPts val="0"/>
              </a:spcAft>
              <a:buNone/>
            </a:pPr>
            <a:r>
              <a:rPr lang="en-US" sz="2091" b="0" i="0" u="none" strike="noStrike" cap="none">
                <a:solidFill>
                  <a:srgbClr val="6B9C6F"/>
                </a:solidFill>
                <a:latin typeface="Roboto"/>
                <a:ea typeface="Roboto"/>
                <a:cs typeface="Roboto"/>
                <a:sym typeface="Roboto"/>
              </a:rPr>
              <a:t>API de reconocimiento</a:t>
            </a:r>
            <a:endParaRPr/>
          </a:p>
          <a:p>
            <a:pPr marL="0" marR="0" lvl="0" indent="0" algn="ctr" rtl="0">
              <a:lnSpc>
                <a:spcPct val="140028"/>
              </a:lnSpc>
              <a:spcBef>
                <a:spcPts val="0"/>
              </a:spcBef>
              <a:spcAft>
                <a:spcPts val="0"/>
              </a:spcAft>
              <a:buNone/>
            </a:pPr>
            <a:r>
              <a:rPr lang="en-US" sz="2091" b="0" i="0" u="none" strike="noStrike" cap="none">
                <a:solidFill>
                  <a:srgbClr val="6B9C6F"/>
                </a:solidFill>
                <a:latin typeface="Roboto"/>
                <a:ea typeface="Roboto"/>
                <a:cs typeface="Roboto"/>
                <a:sym typeface="Roboto"/>
              </a:rPr>
              <a:t> óptico</a:t>
            </a:r>
            <a:endParaRPr/>
          </a:p>
        </p:txBody>
      </p:sp>
      <p:sp>
        <p:nvSpPr>
          <p:cNvPr id="260" name="Google Shape;260;p9"/>
          <p:cNvSpPr txBox="1"/>
          <p:nvPr/>
        </p:nvSpPr>
        <p:spPr>
          <a:xfrm>
            <a:off x="13177296" y="3969469"/>
            <a:ext cx="2806241" cy="31623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800" b="0" i="0" u="none" strike="noStrike" cap="none">
                <a:solidFill>
                  <a:srgbClr val="6B9C6F"/>
                </a:solidFill>
                <a:latin typeface="Roboto"/>
                <a:ea typeface="Roboto"/>
                <a:cs typeface="Roboto"/>
                <a:sym typeface="Roboto"/>
              </a:rPr>
              <a:t>QR/NFC</a:t>
            </a:r>
            <a:endParaRPr/>
          </a:p>
        </p:txBody>
      </p:sp>
      <p:sp>
        <p:nvSpPr>
          <p:cNvPr id="261" name="Google Shape;261;p9"/>
          <p:cNvSpPr txBox="1"/>
          <p:nvPr/>
        </p:nvSpPr>
        <p:spPr>
          <a:xfrm>
            <a:off x="12794180" y="4671413"/>
            <a:ext cx="3572472" cy="737451"/>
          </a:xfrm>
          <a:prstGeom prst="rect">
            <a:avLst/>
          </a:prstGeom>
          <a:noFill/>
          <a:ln>
            <a:noFill/>
          </a:ln>
        </p:spPr>
        <p:txBody>
          <a:bodyPr spcFirstLastPara="1" wrap="square" lIns="0" tIns="0" rIns="0" bIns="0" anchor="t" anchorCtr="0">
            <a:spAutoFit/>
          </a:bodyPr>
          <a:lstStyle/>
          <a:p>
            <a:pPr marL="0" marR="0" lvl="0" indent="0" algn="ctr" rtl="0">
              <a:lnSpc>
                <a:spcPct val="140028"/>
              </a:lnSpc>
              <a:spcBef>
                <a:spcPts val="0"/>
              </a:spcBef>
              <a:spcAft>
                <a:spcPts val="0"/>
              </a:spcAft>
              <a:buNone/>
            </a:pPr>
            <a:r>
              <a:rPr lang="en-US" sz="2091" b="0" i="0" u="none" strike="noStrike" cap="none">
                <a:solidFill>
                  <a:srgbClr val="6B9C6F"/>
                </a:solidFill>
                <a:latin typeface="Roboto"/>
                <a:ea typeface="Roboto"/>
                <a:cs typeface="Roboto"/>
                <a:sym typeface="Roboto"/>
              </a:rPr>
              <a:t>Identificación física en el collar</a:t>
            </a:r>
            <a:endParaRPr/>
          </a:p>
        </p:txBody>
      </p:sp>
      <p:sp>
        <p:nvSpPr>
          <p:cNvPr id="262" name="Google Shape;262;p9"/>
          <p:cNvSpPr txBox="1"/>
          <p:nvPr/>
        </p:nvSpPr>
        <p:spPr>
          <a:xfrm>
            <a:off x="1885776" y="7495216"/>
            <a:ext cx="2806241" cy="31623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800" b="0" i="0" u="none" strike="noStrike" cap="none">
                <a:solidFill>
                  <a:srgbClr val="6B9C6F"/>
                </a:solidFill>
                <a:latin typeface="Roboto"/>
                <a:ea typeface="Roboto"/>
                <a:cs typeface="Roboto"/>
                <a:sym typeface="Roboto"/>
              </a:rPr>
              <a:t>Base de datos</a:t>
            </a:r>
            <a:endParaRPr/>
          </a:p>
        </p:txBody>
      </p:sp>
      <p:sp>
        <p:nvSpPr>
          <p:cNvPr id="263" name="Google Shape;263;p9"/>
          <p:cNvSpPr txBox="1"/>
          <p:nvPr/>
        </p:nvSpPr>
        <p:spPr>
          <a:xfrm>
            <a:off x="1533660" y="8135295"/>
            <a:ext cx="3572472" cy="365976"/>
          </a:xfrm>
          <a:prstGeom prst="rect">
            <a:avLst/>
          </a:prstGeom>
          <a:noFill/>
          <a:ln>
            <a:noFill/>
          </a:ln>
        </p:spPr>
        <p:txBody>
          <a:bodyPr spcFirstLastPara="1" wrap="square" lIns="0" tIns="0" rIns="0" bIns="0" anchor="t" anchorCtr="0">
            <a:spAutoFit/>
          </a:bodyPr>
          <a:lstStyle/>
          <a:p>
            <a:pPr marL="0" marR="0" lvl="0" indent="0" algn="ctr" rtl="0">
              <a:lnSpc>
                <a:spcPct val="140028"/>
              </a:lnSpc>
              <a:spcBef>
                <a:spcPts val="0"/>
              </a:spcBef>
              <a:spcAft>
                <a:spcPts val="0"/>
              </a:spcAft>
              <a:buNone/>
            </a:pPr>
            <a:r>
              <a:rPr lang="en-US" sz="2091" b="0" i="0" u="none" strike="noStrike" cap="none">
                <a:solidFill>
                  <a:srgbClr val="6B9C6F"/>
                </a:solidFill>
                <a:latin typeface="Roboto"/>
                <a:ea typeface="Roboto"/>
                <a:cs typeface="Roboto"/>
                <a:sym typeface="Roboto"/>
              </a:rPr>
              <a:t>NoSQL en la nube</a:t>
            </a:r>
            <a:endParaRPr/>
          </a:p>
        </p:txBody>
      </p:sp>
      <p:sp>
        <p:nvSpPr>
          <p:cNvPr id="264" name="Google Shape;264;p9"/>
          <p:cNvSpPr txBox="1"/>
          <p:nvPr/>
        </p:nvSpPr>
        <p:spPr>
          <a:xfrm>
            <a:off x="5670333" y="7495216"/>
            <a:ext cx="2806241" cy="31623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800" b="0" i="0" u="none" strike="noStrike" cap="none">
                <a:solidFill>
                  <a:srgbClr val="6B9C6F"/>
                </a:solidFill>
                <a:latin typeface="Roboto"/>
                <a:ea typeface="Roboto"/>
                <a:cs typeface="Roboto"/>
                <a:sym typeface="Roboto"/>
              </a:rPr>
              <a:t>Seguridad</a:t>
            </a:r>
            <a:endParaRPr/>
          </a:p>
        </p:txBody>
      </p:sp>
      <p:sp>
        <p:nvSpPr>
          <p:cNvPr id="265" name="Google Shape;265;p9"/>
          <p:cNvSpPr txBox="1"/>
          <p:nvPr/>
        </p:nvSpPr>
        <p:spPr>
          <a:xfrm>
            <a:off x="5287217" y="8135295"/>
            <a:ext cx="3572472" cy="365976"/>
          </a:xfrm>
          <a:prstGeom prst="rect">
            <a:avLst/>
          </a:prstGeom>
          <a:noFill/>
          <a:ln>
            <a:noFill/>
          </a:ln>
        </p:spPr>
        <p:txBody>
          <a:bodyPr spcFirstLastPara="1" wrap="square" lIns="0" tIns="0" rIns="0" bIns="0" anchor="t" anchorCtr="0">
            <a:spAutoFit/>
          </a:bodyPr>
          <a:lstStyle/>
          <a:p>
            <a:pPr marL="0" marR="0" lvl="0" indent="0" algn="ctr" rtl="0">
              <a:lnSpc>
                <a:spcPct val="140028"/>
              </a:lnSpc>
              <a:spcBef>
                <a:spcPts val="0"/>
              </a:spcBef>
              <a:spcAft>
                <a:spcPts val="0"/>
              </a:spcAft>
              <a:buNone/>
            </a:pPr>
            <a:r>
              <a:rPr lang="en-US" sz="2091" b="0" i="0" u="none" strike="noStrike" cap="none">
                <a:solidFill>
                  <a:srgbClr val="6B9C6F"/>
                </a:solidFill>
                <a:latin typeface="Roboto"/>
                <a:ea typeface="Roboto"/>
                <a:cs typeface="Roboto"/>
                <a:sym typeface="Roboto"/>
              </a:rPr>
              <a:t>Protocolo HTTPS</a:t>
            </a:r>
            <a:endParaRPr/>
          </a:p>
        </p:txBody>
      </p:sp>
      <p:sp>
        <p:nvSpPr>
          <p:cNvPr id="266" name="Google Shape;266;p9"/>
          <p:cNvSpPr txBox="1"/>
          <p:nvPr/>
        </p:nvSpPr>
        <p:spPr>
          <a:xfrm>
            <a:off x="9328581" y="7495216"/>
            <a:ext cx="2806241" cy="31623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800" b="0" i="0" u="none" strike="noStrike" cap="none">
                <a:solidFill>
                  <a:srgbClr val="6B9C6F"/>
                </a:solidFill>
                <a:latin typeface="Roboto"/>
                <a:ea typeface="Roboto"/>
                <a:cs typeface="Roboto"/>
                <a:sym typeface="Roboto"/>
              </a:rPr>
              <a:t>Despliegue</a:t>
            </a:r>
            <a:endParaRPr/>
          </a:p>
        </p:txBody>
      </p:sp>
      <p:sp>
        <p:nvSpPr>
          <p:cNvPr id="267" name="Google Shape;267;p9"/>
          <p:cNvSpPr txBox="1"/>
          <p:nvPr/>
        </p:nvSpPr>
        <p:spPr>
          <a:xfrm>
            <a:off x="8945466" y="8135295"/>
            <a:ext cx="3572472" cy="365976"/>
          </a:xfrm>
          <a:prstGeom prst="rect">
            <a:avLst/>
          </a:prstGeom>
          <a:noFill/>
          <a:ln>
            <a:noFill/>
          </a:ln>
        </p:spPr>
        <p:txBody>
          <a:bodyPr spcFirstLastPara="1" wrap="square" lIns="0" tIns="0" rIns="0" bIns="0" anchor="t" anchorCtr="0">
            <a:spAutoFit/>
          </a:bodyPr>
          <a:lstStyle/>
          <a:p>
            <a:pPr marL="0" marR="0" lvl="0" indent="0" algn="ctr" rtl="0">
              <a:lnSpc>
                <a:spcPct val="140028"/>
              </a:lnSpc>
              <a:spcBef>
                <a:spcPts val="0"/>
              </a:spcBef>
              <a:spcAft>
                <a:spcPts val="0"/>
              </a:spcAft>
              <a:buNone/>
            </a:pPr>
            <a:r>
              <a:rPr lang="en-US" sz="2091" b="0" i="0" u="none" strike="noStrike" cap="none">
                <a:solidFill>
                  <a:srgbClr val="6B9C6F"/>
                </a:solidFill>
                <a:latin typeface="Roboto"/>
                <a:ea typeface="Roboto"/>
                <a:cs typeface="Roboto"/>
                <a:sym typeface="Roboto"/>
              </a:rPr>
              <a:t>Docker + CI/CD</a:t>
            </a:r>
            <a:endParaRPr/>
          </a:p>
        </p:txBody>
      </p:sp>
      <p:sp>
        <p:nvSpPr>
          <p:cNvPr id="268" name="Google Shape;268;p9"/>
          <p:cNvSpPr txBox="1"/>
          <p:nvPr/>
        </p:nvSpPr>
        <p:spPr>
          <a:xfrm>
            <a:off x="13177296" y="7495216"/>
            <a:ext cx="2806241" cy="31623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800" b="0" i="0" u="none" strike="noStrike" cap="none">
                <a:solidFill>
                  <a:srgbClr val="688066"/>
                </a:solidFill>
                <a:latin typeface="Roboto"/>
                <a:ea typeface="Roboto"/>
                <a:cs typeface="Roboto"/>
                <a:sym typeface="Roboto"/>
              </a:rPr>
              <a:t>Testing </a:t>
            </a:r>
            <a:endParaRPr/>
          </a:p>
        </p:txBody>
      </p:sp>
      <p:sp>
        <p:nvSpPr>
          <p:cNvPr id="269" name="Google Shape;269;p9"/>
          <p:cNvSpPr txBox="1"/>
          <p:nvPr/>
        </p:nvSpPr>
        <p:spPr>
          <a:xfrm>
            <a:off x="12698913" y="8135295"/>
            <a:ext cx="3572472" cy="365976"/>
          </a:xfrm>
          <a:prstGeom prst="rect">
            <a:avLst/>
          </a:prstGeom>
          <a:noFill/>
          <a:ln>
            <a:noFill/>
          </a:ln>
        </p:spPr>
        <p:txBody>
          <a:bodyPr spcFirstLastPara="1" wrap="square" lIns="0" tIns="0" rIns="0" bIns="0" anchor="t" anchorCtr="0">
            <a:spAutoFit/>
          </a:bodyPr>
          <a:lstStyle/>
          <a:p>
            <a:pPr marL="0" marR="0" lvl="0" indent="0" algn="ctr" rtl="0">
              <a:lnSpc>
                <a:spcPct val="140028"/>
              </a:lnSpc>
              <a:spcBef>
                <a:spcPts val="0"/>
              </a:spcBef>
              <a:spcAft>
                <a:spcPts val="0"/>
              </a:spcAft>
              <a:buNone/>
            </a:pPr>
            <a:r>
              <a:rPr lang="en-US" sz="2091" b="0" i="0" u="none" strike="noStrike" cap="none">
                <a:solidFill>
                  <a:srgbClr val="6B9C6F"/>
                </a:solidFill>
                <a:latin typeface="Roboto"/>
                <a:ea typeface="Roboto"/>
                <a:cs typeface="Roboto"/>
                <a:sym typeface="Roboto"/>
              </a:rPr>
              <a:t>JMeter, Postman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grpSp>
        <p:nvGrpSpPr>
          <p:cNvPr id="274" name="Google Shape;274;p10"/>
          <p:cNvGrpSpPr/>
          <p:nvPr/>
        </p:nvGrpSpPr>
        <p:grpSpPr>
          <a:xfrm>
            <a:off x="0" y="884039"/>
            <a:ext cx="6577793" cy="1311860"/>
            <a:chOff x="0" y="-38100"/>
            <a:chExt cx="1732423" cy="345511"/>
          </a:xfrm>
        </p:grpSpPr>
        <p:sp>
          <p:nvSpPr>
            <p:cNvPr id="275" name="Google Shape;275;p10"/>
            <p:cNvSpPr/>
            <p:nvPr/>
          </p:nvSpPr>
          <p:spPr>
            <a:xfrm>
              <a:off x="0" y="0"/>
              <a:ext cx="1732423" cy="307411"/>
            </a:xfrm>
            <a:custGeom>
              <a:avLst/>
              <a:gdLst/>
              <a:ahLst/>
              <a:cxnLst/>
              <a:rect l="l" t="t" r="r" b="b"/>
              <a:pathLst>
                <a:path w="1732423" h="307411" extrusionOk="0">
                  <a:moveTo>
                    <a:pt x="0" y="0"/>
                  </a:moveTo>
                  <a:lnTo>
                    <a:pt x="1732423" y="0"/>
                  </a:lnTo>
                  <a:lnTo>
                    <a:pt x="1732423" y="307411"/>
                  </a:lnTo>
                  <a:lnTo>
                    <a:pt x="0" y="307411"/>
                  </a:lnTo>
                  <a:close/>
                </a:path>
              </a:pathLst>
            </a:custGeom>
            <a:solidFill>
              <a:srgbClr val="6B9C6F"/>
            </a:solidFill>
            <a:ln>
              <a:noFill/>
            </a:ln>
          </p:spPr>
        </p:sp>
        <p:sp>
          <p:nvSpPr>
            <p:cNvPr id="276" name="Google Shape;276;p10"/>
            <p:cNvSpPr txBox="1"/>
            <p:nvPr/>
          </p:nvSpPr>
          <p:spPr>
            <a:xfrm>
              <a:off x="0" y="-38100"/>
              <a:ext cx="1732423" cy="345511"/>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78" name="Google Shape;278;p10"/>
          <p:cNvSpPr txBox="1"/>
          <p:nvPr/>
        </p:nvSpPr>
        <p:spPr>
          <a:xfrm>
            <a:off x="294540" y="1068880"/>
            <a:ext cx="5597889" cy="1105890"/>
          </a:xfrm>
          <a:prstGeom prst="rect">
            <a:avLst/>
          </a:prstGeom>
          <a:noFill/>
          <a:ln>
            <a:noFill/>
          </a:ln>
        </p:spPr>
        <p:txBody>
          <a:bodyPr spcFirstLastPara="1" wrap="square" lIns="0" tIns="0" rIns="0" bIns="0" anchor="t" anchorCtr="0">
            <a:spAutoFit/>
          </a:bodyPr>
          <a:lstStyle/>
          <a:p>
            <a:pPr marL="0" marR="0" lvl="0" indent="0" algn="l" rtl="0">
              <a:lnSpc>
                <a:spcPct val="112009"/>
              </a:lnSpc>
              <a:spcBef>
                <a:spcPts val="0"/>
              </a:spcBef>
              <a:spcAft>
                <a:spcPts val="0"/>
              </a:spcAft>
              <a:buNone/>
            </a:pPr>
            <a:r>
              <a:rPr lang="en-US" sz="3847" b="0" i="0" u="none" strike="noStrike" cap="none">
                <a:solidFill>
                  <a:srgbClr val="FFFFFF"/>
                </a:solidFill>
                <a:latin typeface="Roboto"/>
                <a:ea typeface="Roboto"/>
                <a:cs typeface="Roboto"/>
                <a:sym typeface="Roboto"/>
              </a:rPr>
              <a:t>PLAN DE TRABAJO</a:t>
            </a:r>
            <a:endParaRPr/>
          </a:p>
        </p:txBody>
      </p:sp>
      <p:pic>
        <p:nvPicPr>
          <p:cNvPr id="2" name="Imagen 1"/>
          <p:cNvPicPr>
            <a:picLocks noChangeAspect="1"/>
          </p:cNvPicPr>
          <p:nvPr/>
        </p:nvPicPr>
        <p:blipFill>
          <a:blip r:embed="rId3"/>
          <a:stretch>
            <a:fillRect/>
          </a:stretch>
        </p:blipFill>
        <p:spPr>
          <a:xfrm>
            <a:off x="2244436" y="2618509"/>
            <a:ext cx="13680886" cy="6552707"/>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grpSp>
        <p:nvGrpSpPr>
          <p:cNvPr id="283" name="Google Shape;283;p11"/>
          <p:cNvGrpSpPr/>
          <p:nvPr/>
        </p:nvGrpSpPr>
        <p:grpSpPr>
          <a:xfrm>
            <a:off x="1626379" y="1584820"/>
            <a:ext cx="15035243" cy="6972699"/>
            <a:chOff x="0" y="-38100"/>
            <a:chExt cx="3959899" cy="1836431"/>
          </a:xfrm>
        </p:grpSpPr>
        <p:sp>
          <p:nvSpPr>
            <p:cNvPr id="284" name="Google Shape;284;p11"/>
            <p:cNvSpPr/>
            <p:nvPr/>
          </p:nvSpPr>
          <p:spPr>
            <a:xfrm>
              <a:off x="0" y="0"/>
              <a:ext cx="3959899" cy="1798331"/>
            </a:xfrm>
            <a:custGeom>
              <a:avLst/>
              <a:gdLst/>
              <a:ahLst/>
              <a:cxnLst/>
              <a:rect l="l" t="t" r="r" b="b"/>
              <a:pathLst>
                <a:path w="3959899" h="1798331" extrusionOk="0">
                  <a:moveTo>
                    <a:pt x="0" y="0"/>
                  </a:moveTo>
                  <a:lnTo>
                    <a:pt x="3959899" y="0"/>
                  </a:lnTo>
                  <a:lnTo>
                    <a:pt x="3959899" y="1798331"/>
                  </a:lnTo>
                  <a:lnTo>
                    <a:pt x="0" y="1798331"/>
                  </a:lnTo>
                  <a:close/>
                </a:path>
              </a:pathLst>
            </a:custGeom>
            <a:solidFill>
              <a:srgbClr val="6B9C6F"/>
            </a:solidFill>
            <a:ln>
              <a:noFill/>
            </a:ln>
          </p:spPr>
        </p:sp>
        <p:sp>
          <p:nvSpPr>
            <p:cNvPr id="285" name="Google Shape;285;p11"/>
            <p:cNvSpPr txBox="1"/>
            <p:nvPr/>
          </p:nvSpPr>
          <p:spPr>
            <a:xfrm>
              <a:off x="0" y="-38100"/>
              <a:ext cx="3959899" cy="1836431"/>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86" name="Google Shape;286;p11"/>
          <p:cNvSpPr txBox="1"/>
          <p:nvPr/>
        </p:nvSpPr>
        <p:spPr>
          <a:xfrm>
            <a:off x="3446601" y="2640996"/>
            <a:ext cx="11394797" cy="655319"/>
          </a:xfrm>
          <a:prstGeom prst="rect">
            <a:avLst/>
          </a:prstGeom>
          <a:noFill/>
          <a:ln>
            <a:noFill/>
          </a:ln>
        </p:spPr>
        <p:txBody>
          <a:bodyPr spcFirstLastPara="1" wrap="square" lIns="0" tIns="0" rIns="0" bIns="0" anchor="t" anchorCtr="0">
            <a:spAutoFit/>
          </a:bodyPr>
          <a:lstStyle/>
          <a:p>
            <a:pPr marL="0" marR="0" lvl="0" indent="0" algn="ctr" rtl="0">
              <a:lnSpc>
                <a:spcPct val="112002"/>
              </a:lnSpc>
              <a:spcBef>
                <a:spcPts val="0"/>
              </a:spcBef>
              <a:spcAft>
                <a:spcPts val="0"/>
              </a:spcAft>
              <a:buNone/>
            </a:pPr>
            <a:r>
              <a:rPr lang="en-US" sz="4499" b="0" i="0" u="none" strike="noStrike" cap="none">
                <a:solidFill>
                  <a:srgbClr val="FFFFFF"/>
                </a:solidFill>
                <a:latin typeface="Arial"/>
                <a:ea typeface="Arial"/>
                <a:cs typeface="Arial"/>
                <a:sym typeface="Arial"/>
              </a:rPr>
              <a:t>COMENTARIO FINAL</a:t>
            </a:r>
            <a:endParaRPr/>
          </a:p>
        </p:txBody>
      </p:sp>
      <p:sp>
        <p:nvSpPr>
          <p:cNvPr id="287" name="Google Shape;287;p11"/>
          <p:cNvSpPr txBox="1"/>
          <p:nvPr/>
        </p:nvSpPr>
        <p:spPr>
          <a:xfrm>
            <a:off x="3446601" y="4617299"/>
            <a:ext cx="11394797" cy="2613025"/>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None/>
            </a:pPr>
            <a:r>
              <a:rPr lang="en-US" sz="2499" b="0" i="0" u="none" strike="noStrike" cap="none">
                <a:solidFill>
                  <a:srgbClr val="FFFFFF"/>
                </a:solidFill>
                <a:latin typeface="Open Sans"/>
                <a:ea typeface="Open Sans"/>
                <a:cs typeface="Open Sans"/>
                <a:sym typeface="Open Sans"/>
              </a:rPr>
              <a:t>Planificar PetPass nos permitió aplicar de forma integral las competencias de nuestro perfil de egreso desde el modelado de datos hasta la definición de procesos de calidad sobre una arquitectura pensada para responder en segundos ante una emergencia real. Más allá del desafío técnico de conectar hardware, software y la nube, lo que nos moviliza como equipo es el propósito de PetPass: cuidar a las mascotas y dar tranquilidad a sus tutores.</a:t>
            </a:r>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551</Words>
  <Application>Microsoft Office PowerPoint</Application>
  <PresentationFormat>Personalizado</PresentationFormat>
  <Paragraphs>81</Paragraphs>
  <Slides>11</Slides>
  <Notes>11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11</vt:i4>
      </vt:variant>
    </vt:vector>
  </HeadingPairs>
  <TitlesOfParts>
    <vt:vector size="16" baseType="lpstr">
      <vt:lpstr>Calibri</vt:lpstr>
      <vt:lpstr>Open Sans</vt:lpstr>
      <vt:lpstr>Arial</vt:lpstr>
      <vt:lpstr>Roboto</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cp:lastModifiedBy>Practica Desarrollo</cp:lastModifiedBy>
  <cp:revision>1</cp:revision>
  <dcterms:created xsi:type="dcterms:W3CDTF">2006-08-16T00:00:00Z</dcterms:created>
  <dcterms:modified xsi:type="dcterms:W3CDTF">2026-09-08T12:34:50Z</dcterms:modified>
</cp:coreProperties>
</file>