
<file path=[Content_Types].xml><?xml version="1.0" encoding="utf-8"?>
<Types xmlns="http://schemas.openxmlformats.org/package/2006/content-types">
  <Default ContentType="application/vnd.openxmlformats-officedocument.oleObject" Extension="bin"/>
  <Default ContentType="application/x-fontdata" Extension="fntdata"/>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Lst>
  <p:sldSz cx="18288000" cy="10287000"/>
  <p:notesSz cx="6858000" cy="9144000"/>
  <p:embeddedFontLst>
    <p:embeddedFont>
      <p:font typeface="Roboto" charset="1" panose="02000000000000000000"/>
      <p:regular r:id="rId17"/>
    </p:embeddedFont>
    <p:embeddedFont>
      <p:font typeface="Roboto Bold" charset="1" panose="02000000000000000000"/>
      <p:regular r:id="rId18"/>
    </p:embeddedFont>
    <p:embeddedFont>
      <p:font typeface="Roboto Bold Italics" charset="1" panose="02000000000000000000"/>
      <p:regular r:id="rId19"/>
    </p:embeddedFont>
    <p:embeddedFont>
      <p:font typeface="Lovelo" charset="1" panose="02000000000000000000"/>
      <p:regular r:id="rId20"/>
    </p:embeddedFont>
    <p:embeddedFont>
      <p:font typeface="Open Sans" charset="1" panose="020B0606030504020204"/>
      <p:regular r:id="rId21"/>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fonts/font17.fntdata" Type="http://schemas.openxmlformats.org/officeDocument/2006/relationships/font"/><Relationship Id="rId18" Target="fonts/font18.fntdata" Type="http://schemas.openxmlformats.org/officeDocument/2006/relationships/font"/><Relationship Id="rId19" Target="fonts/font19.fntdata" Type="http://schemas.openxmlformats.org/officeDocument/2006/relationships/font"/><Relationship Id="rId2" Target="presProps.xml" Type="http://schemas.openxmlformats.org/officeDocument/2006/relationships/presProps"/><Relationship Id="rId20" Target="fonts/font20.fntdata" Type="http://schemas.openxmlformats.org/officeDocument/2006/relationships/font"/><Relationship Id="rId21" Target="fonts/font21.fntdata" Type="http://schemas.openxmlformats.org/officeDocument/2006/relationships/font"/><Relationship Id="rId3" Target="viewProps.xml" Type="http://schemas.openxmlformats.org/officeDocument/2006/relationships/viewProps"/><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pn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png" Type="http://schemas.openxmlformats.org/officeDocument/2006/relationships/image"/><Relationship Id="rId3" Target="../media/image4.svg" Type="http://schemas.openxmlformats.org/officeDocument/2006/relationships/image"/><Relationship Id="rId4" Target="../media/image1.png" Type="http://schemas.openxmlformats.org/officeDocument/2006/relationships/image"/><Relationship Id="rId5" Target="../media/image5.png" Type="http://schemas.openxmlformats.org/officeDocument/2006/relationships/image"/><Relationship Id="rId6" Target="../media/image6.svg"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7.png" Type="http://schemas.openxmlformats.org/officeDocument/2006/relationships/image"/><Relationship Id="rId4" Target="../media/image8.png" Type="http://schemas.openxmlformats.org/officeDocument/2006/relationships/image"/><Relationship Id="rId5" Target="../media/image9.png"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18.png" Type="http://schemas.openxmlformats.org/officeDocument/2006/relationships/image"/><Relationship Id="rId11" Target="../media/image19.svg" Type="http://schemas.openxmlformats.org/officeDocument/2006/relationships/image"/><Relationship Id="rId2" Target="../media/image10.png" Type="http://schemas.openxmlformats.org/officeDocument/2006/relationships/image"/><Relationship Id="rId3" Target="../media/image11.svg" Type="http://schemas.openxmlformats.org/officeDocument/2006/relationships/image"/><Relationship Id="rId4" Target="../media/image12.png" Type="http://schemas.openxmlformats.org/officeDocument/2006/relationships/image"/><Relationship Id="rId5" Target="../media/image13.svg" Type="http://schemas.openxmlformats.org/officeDocument/2006/relationships/image"/><Relationship Id="rId6" Target="../media/image14.png" Type="http://schemas.openxmlformats.org/officeDocument/2006/relationships/image"/><Relationship Id="rId7" Target="../media/image15.svg" Type="http://schemas.openxmlformats.org/officeDocument/2006/relationships/image"/><Relationship Id="rId8" Target="../media/image16.png" Type="http://schemas.openxmlformats.org/officeDocument/2006/relationships/image"/><Relationship Id="rId9" Target="../media/image17.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 Id="rId3" Target="../media/image21.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2.png" Type="http://schemas.openxmlformats.org/officeDocument/2006/relationships/image"/><Relationship Id="rId3" Target="../media/image23.svg" Type="http://schemas.openxmlformats.org/officeDocument/2006/relationships/image"/><Relationship Id="rId4" Target="../media/image24.png" Type="http://schemas.openxmlformats.org/officeDocument/2006/relationships/image"/><Relationship Id="rId5" Target="../media/image25.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6.png" Type="http://schemas.openxmlformats.org/officeDocument/2006/relationships/image"/><Relationship Id="rId3" Target="../media/image27.png" Type="http://schemas.openxmlformats.org/officeDocument/2006/relationships/image"/><Relationship Id="rId4" Target="../media/image28.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9.png" Type="http://schemas.openxmlformats.org/officeDocument/2006/relationships/image"/><Relationship Id="rId3" Target="../media/image30.svg" Type="http://schemas.openxmlformats.org/officeDocument/2006/relationships/image"/><Relationship Id="rId4" Target="../media/image31.png" Type="http://schemas.openxmlformats.org/officeDocument/2006/relationships/image"/><Relationship Id="rId5" Target="../media/image32.sv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5.png" Type="http://schemas.openxmlformats.org/officeDocument/2006/relationships/image"/><Relationship Id="rId11" Target="../media/image6.svg" Type="http://schemas.openxmlformats.org/officeDocument/2006/relationships/image"/><Relationship Id="rId12" Target="../media/image14.png" Type="http://schemas.openxmlformats.org/officeDocument/2006/relationships/image"/><Relationship Id="rId13" Target="../media/image15.svg" Type="http://schemas.openxmlformats.org/officeDocument/2006/relationships/image"/><Relationship Id="rId14" Target="../media/image37.png" Type="http://schemas.openxmlformats.org/officeDocument/2006/relationships/image"/><Relationship Id="rId15" Target="../media/image38.svg" Type="http://schemas.openxmlformats.org/officeDocument/2006/relationships/image"/><Relationship Id="rId16" Target="../media/image39.png" Type="http://schemas.openxmlformats.org/officeDocument/2006/relationships/image"/><Relationship Id="rId17" Target="../media/image40.svg" Type="http://schemas.openxmlformats.org/officeDocument/2006/relationships/image"/><Relationship Id="rId18" Target="../media/image41.png" Type="http://schemas.openxmlformats.org/officeDocument/2006/relationships/image"/><Relationship Id="rId19" Target="../media/image42.svg" Type="http://schemas.openxmlformats.org/officeDocument/2006/relationships/image"/><Relationship Id="rId2" Target="../media/image33.png" Type="http://schemas.openxmlformats.org/officeDocument/2006/relationships/image"/><Relationship Id="rId3" Target="../media/image34.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35.png" Type="http://schemas.openxmlformats.org/officeDocument/2006/relationships/image"/><Relationship Id="rId7" Target="../media/image36.svg" Type="http://schemas.openxmlformats.org/officeDocument/2006/relationships/image"/><Relationship Id="rId8" Target="../media/image12.png" Type="http://schemas.openxmlformats.org/officeDocument/2006/relationships/image"/><Relationship Id="rId9" Target="../media/image13.sv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3.png" Type="http://schemas.openxmlformats.org/officeDocument/2006/relationships/image"/><Relationship Id="rId3" Target="../embeddings/oleObject1.bin" Type="http://schemas.openxmlformats.org/officeDocument/2006/relationships/oleObject"/></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245426" y="0"/>
            <a:ext cx="3086100" cy="10287000"/>
            <a:chOff x="0" y="0"/>
            <a:chExt cx="812800" cy="2709333"/>
          </a:xfrm>
        </p:grpSpPr>
        <p:sp>
          <p:nvSpPr>
            <p:cNvPr name="Freeform 3" id="3"/>
            <p:cNvSpPr/>
            <p:nvPr/>
          </p:nvSpPr>
          <p:spPr>
            <a:xfrm flipH="false" flipV="false" rot="0">
              <a:off x="0" y="0"/>
              <a:ext cx="812800" cy="2709333"/>
            </a:xfrm>
            <a:custGeom>
              <a:avLst/>
              <a:gdLst/>
              <a:ahLst/>
              <a:cxnLst/>
              <a:rect r="r" b="b" t="t" l="l"/>
              <a:pathLst>
                <a:path h="2709333" w="812800">
                  <a:moveTo>
                    <a:pt x="0" y="0"/>
                  </a:moveTo>
                  <a:lnTo>
                    <a:pt x="812800" y="0"/>
                  </a:lnTo>
                  <a:lnTo>
                    <a:pt x="812800" y="2709333"/>
                  </a:lnTo>
                  <a:lnTo>
                    <a:pt x="0" y="2709333"/>
                  </a:lnTo>
                  <a:close/>
                </a:path>
              </a:pathLst>
            </a:custGeom>
            <a:solidFill>
              <a:srgbClr val="6B9C6F"/>
            </a:solidFill>
          </p:spPr>
        </p:sp>
        <p:sp>
          <p:nvSpPr>
            <p:cNvPr name="TextBox 4" id="4"/>
            <p:cNvSpPr txBox="true"/>
            <p:nvPr/>
          </p:nvSpPr>
          <p:spPr>
            <a:xfrm>
              <a:off x="0" y="-38100"/>
              <a:ext cx="812800" cy="2747433"/>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1899350">
            <a:off x="1796275" y="6582383"/>
            <a:ext cx="734644" cy="706658"/>
          </a:xfrm>
          <a:custGeom>
            <a:avLst/>
            <a:gdLst/>
            <a:ahLst/>
            <a:cxnLst/>
            <a:rect r="r" b="b" t="t" l="l"/>
            <a:pathLst>
              <a:path h="706658" w="734644">
                <a:moveTo>
                  <a:pt x="0" y="0"/>
                </a:moveTo>
                <a:lnTo>
                  <a:pt x="734644" y="0"/>
                </a:lnTo>
                <a:lnTo>
                  <a:pt x="734644" y="706658"/>
                </a:lnTo>
                <a:lnTo>
                  <a:pt x="0" y="706658"/>
                </a:lnTo>
                <a:lnTo>
                  <a:pt x="0" y="0"/>
                </a:lnTo>
                <a:close/>
              </a:path>
            </a:pathLst>
          </a:custGeom>
          <a:blipFill>
            <a:blip r:embed="rId2"/>
            <a:stretch>
              <a:fillRect l="0" t="0" r="0" b="0"/>
            </a:stretch>
          </a:blipFill>
        </p:spPr>
      </p:sp>
      <p:sp>
        <p:nvSpPr>
          <p:cNvPr name="Freeform 6" id="6"/>
          <p:cNvSpPr/>
          <p:nvPr/>
        </p:nvSpPr>
        <p:spPr>
          <a:xfrm flipH="false" flipV="false" rot="1686969">
            <a:off x="366604" y="8091052"/>
            <a:ext cx="1324192" cy="1273746"/>
          </a:xfrm>
          <a:custGeom>
            <a:avLst/>
            <a:gdLst/>
            <a:ahLst/>
            <a:cxnLst/>
            <a:rect r="r" b="b" t="t" l="l"/>
            <a:pathLst>
              <a:path h="1273746" w="1324192">
                <a:moveTo>
                  <a:pt x="0" y="0"/>
                </a:moveTo>
                <a:lnTo>
                  <a:pt x="1324192" y="0"/>
                </a:lnTo>
                <a:lnTo>
                  <a:pt x="1324192" y="1273746"/>
                </a:lnTo>
                <a:lnTo>
                  <a:pt x="0" y="1273746"/>
                </a:lnTo>
                <a:lnTo>
                  <a:pt x="0" y="0"/>
                </a:lnTo>
                <a:close/>
              </a:path>
            </a:pathLst>
          </a:custGeom>
          <a:blipFill>
            <a:blip r:embed="rId2"/>
            <a:stretch>
              <a:fillRect l="0" t="0" r="0" b="0"/>
            </a:stretch>
          </a:blipFill>
        </p:spPr>
      </p:sp>
      <p:sp>
        <p:nvSpPr>
          <p:cNvPr name="Freeform 7" id="7"/>
          <p:cNvSpPr/>
          <p:nvPr/>
        </p:nvSpPr>
        <p:spPr>
          <a:xfrm flipH="false" flipV="false" rot="0">
            <a:off x="14219433" y="579375"/>
            <a:ext cx="3212265" cy="2702039"/>
          </a:xfrm>
          <a:custGeom>
            <a:avLst/>
            <a:gdLst/>
            <a:ahLst/>
            <a:cxnLst/>
            <a:rect r="r" b="b" t="t" l="l"/>
            <a:pathLst>
              <a:path h="2702039" w="3212265">
                <a:moveTo>
                  <a:pt x="0" y="0"/>
                </a:moveTo>
                <a:lnTo>
                  <a:pt x="3212265" y="0"/>
                </a:lnTo>
                <a:lnTo>
                  <a:pt x="3212265" y="2702040"/>
                </a:lnTo>
                <a:lnTo>
                  <a:pt x="0" y="2702040"/>
                </a:lnTo>
                <a:lnTo>
                  <a:pt x="0" y="0"/>
                </a:lnTo>
                <a:close/>
              </a:path>
            </a:pathLst>
          </a:custGeom>
          <a:blipFill>
            <a:blip r:embed="rId3"/>
            <a:stretch>
              <a:fillRect l="0" t="0" r="0" b="0"/>
            </a:stretch>
          </a:blipFill>
        </p:spPr>
      </p:sp>
      <p:sp>
        <p:nvSpPr>
          <p:cNvPr name="TextBox 8" id="8"/>
          <p:cNvSpPr txBox="true"/>
          <p:nvPr/>
        </p:nvSpPr>
        <p:spPr>
          <a:xfrm rot="0">
            <a:off x="3932462" y="5067300"/>
            <a:ext cx="11615495" cy="589915"/>
          </a:xfrm>
          <a:prstGeom prst="rect">
            <a:avLst/>
          </a:prstGeom>
        </p:spPr>
        <p:txBody>
          <a:bodyPr anchor="t" rtlCol="false" tIns="0" lIns="0" bIns="0" rIns="0">
            <a:spAutoFit/>
          </a:bodyPr>
          <a:lstStyle/>
          <a:p>
            <a:pPr algn="ctr">
              <a:lnSpc>
                <a:spcPts val="4759"/>
              </a:lnSpc>
            </a:pPr>
            <a:r>
              <a:rPr lang="en-US" sz="3399">
                <a:solidFill>
                  <a:srgbClr val="6B9C6F"/>
                </a:solidFill>
                <a:latin typeface="Roboto"/>
                <a:ea typeface="Roboto"/>
                <a:cs typeface="Roboto"/>
                <a:sym typeface="Roboto"/>
              </a:rPr>
              <a:t>Ficha médica digital e identificación inteligente de mascotas</a:t>
            </a:r>
          </a:p>
        </p:txBody>
      </p:sp>
      <p:sp>
        <p:nvSpPr>
          <p:cNvPr name="TextBox 9" id="9"/>
          <p:cNvSpPr txBox="true"/>
          <p:nvPr/>
        </p:nvSpPr>
        <p:spPr>
          <a:xfrm rot="0">
            <a:off x="3932462" y="3248400"/>
            <a:ext cx="4273616" cy="1543061"/>
          </a:xfrm>
          <a:prstGeom prst="rect">
            <a:avLst/>
          </a:prstGeom>
        </p:spPr>
        <p:txBody>
          <a:bodyPr anchor="t" rtlCol="false" tIns="0" lIns="0" bIns="0" rIns="0">
            <a:spAutoFit/>
          </a:bodyPr>
          <a:lstStyle/>
          <a:p>
            <a:pPr algn="ctr">
              <a:lnSpc>
                <a:spcPts val="12599"/>
              </a:lnSpc>
            </a:pPr>
            <a:r>
              <a:rPr lang="en-US" b="true" sz="8999">
                <a:solidFill>
                  <a:srgbClr val="6B9C6F"/>
                </a:solidFill>
                <a:latin typeface="Roboto Bold"/>
                <a:ea typeface="Roboto Bold"/>
                <a:cs typeface="Roboto Bold"/>
                <a:sym typeface="Roboto Bold"/>
              </a:rPr>
              <a:t>PetPass</a:t>
            </a:r>
          </a:p>
        </p:txBody>
      </p:sp>
      <p:sp>
        <p:nvSpPr>
          <p:cNvPr name="TextBox 10" id="10"/>
          <p:cNvSpPr txBox="true"/>
          <p:nvPr/>
        </p:nvSpPr>
        <p:spPr>
          <a:xfrm rot="0">
            <a:off x="12923858" y="7797037"/>
            <a:ext cx="1757354" cy="431799"/>
          </a:xfrm>
          <a:prstGeom prst="rect">
            <a:avLst/>
          </a:prstGeom>
        </p:spPr>
        <p:txBody>
          <a:bodyPr anchor="t" rtlCol="false" tIns="0" lIns="0" bIns="0" rIns="0">
            <a:spAutoFit/>
          </a:bodyPr>
          <a:lstStyle/>
          <a:p>
            <a:pPr algn="ctr">
              <a:lnSpc>
                <a:spcPts val="3500"/>
              </a:lnSpc>
            </a:pPr>
            <a:r>
              <a:rPr lang="en-US" sz="2500">
                <a:solidFill>
                  <a:srgbClr val="6B9C6F"/>
                </a:solidFill>
                <a:latin typeface="Roboto"/>
                <a:ea typeface="Roboto"/>
                <a:cs typeface="Roboto"/>
                <a:sym typeface="Roboto"/>
              </a:rPr>
              <a:t>Integrantes:</a:t>
            </a:r>
          </a:p>
        </p:txBody>
      </p:sp>
      <p:sp>
        <p:nvSpPr>
          <p:cNvPr name="TextBox 11" id="11"/>
          <p:cNvSpPr txBox="true"/>
          <p:nvPr/>
        </p:nvSpPr>
        <p:spPr>
          <a:xfrm rot="0">
            <a:off x="14798873" y="8382454"/>
            <a:ext cx="2071886" cy="431799"/>
          </a:xfrm>
          <a:prstGeom prst="rect">
            <a:avLst/>
          </a:prstGeom>
        </p:spPr>
        <p:txBody>
          <a:bodyPr anchor="t" rtlCol="false" tIns="0" lIns="0" bIns="0" rIns="0">
            <a:spAutoFit/>
          </a:bodyPr>
          <a:lstStyle/>
          <a:p>
            <a:pPr algn="ctr">
              <a:lnSpc>
                <a:spcPts val="3500"/>
              </a:lnSpc>
            </a:pPr>
            <a:r>
              <a:rPr lang="en-US" sz="2500">
                <a:solidFill>
                  <a:srgbClr val="6B9C6F"/>
                </a:solidFill>
                <a:latin typeface="Roboto"/>
                <a:ea typeface="Roboto"/>
                <a:cs typeface="Roboto"/>
                <a:sym typeface="Roboto"/>
              </a:rPr>
              <a:t>Daniel Cuevas</a:t>
            </a:r>
          </a:p>
        </p:txBody>
      </p:sp>
      <p:sp>
        <p:nvSpPr>
          <p:cNvPr name="TextBox 12" id="12"/>
          <p:cNvSpPr txBox="true"/>
          <p:nvPr/>
        </p:nvSpPr>
        <p:spPr>
          <a:xfrm rot="0">
            <a:off x="14798873" y="7797037"/>
            <a:ext cx="2312412" cy="431799"/>
          </a:xfrm>
          <a:prstGeom prst="rect">
            <a:avLst/>
          </a:prstGeom>
        </p:spPr>
        <p:txBody>
          <a:bodyPr anchor="t" rtlCol="false" tIns="0" lIns="0" bIns="0" rIns="0">
            <a:spAutoFit/>
          </a:bodyPr>
          <a:lstStyle/>
          <a:p>
            <a:pPr algn="ctr">
              <a:lnSpc>
                <a:spcPts val="3500"/>
              </a:lnSpc>
            </a:pPr>
            <a:r>
              <a:rPr lang="en-US" sz="2500">
                <a:solidFill>
                  <a:srgbClr val="6B9C6F"/>
                </a:solidFill>
                <a:latin typeface="Roboto"/>
                <a:ea typeface="Roboto"/>
                <a:cs typeface="Roboto"/>
                <a:sym typeface="Roboto"/>
              </a:rPr>
              <a:t>Matías Araneda</a:t>
            </a:r>
          </a:p>
        </p:txBody>
      </p:sp>
      <p:sp>
        <p:nvSpPr>
          <p:cNvPr name="TextBox 13" id="13"/>
          <p:cNvSpPr txBox="true"/>
          <p:nvPr/>
        </p:nvSpPr>
        <p:spPr>
          <a:xfrm rot="0">
            <a:off x="14798873" y="9013825"/>
            <a:ext cx="2053385" cy="431799"/>
          </a:xfrm>
          <a:prstGeom prst="rect">
            <a:avLst/>
          </a:prstGeom>
        </p:spPr>
        <p:txBody>
          <a:bodyPr anchor="t" rtlCol="false" tIns="0" lIns="0" bIns="0" rIns="0">
            <a:spAutoFit/>
          </a:bodyPr>
          <a:lstStyle/>
          <a:p>
            <a:pPr algn="ctr">
              <a:lnSpc>
                <a:spcPts val="3500"/>
              </a:lnSpc>
            </a:pPr>
            <a:r>
              <a:rPr lang="en-US" sz="2500">
                <a:solidFill>
                  <a:srgbClr val="6B9C6F"/>
                </a:solidFill>
                <a:latin typeface="Roboto"/>
                <a:ea typeface="Roboto"/>
                <a:cs typeface="Roboto"/>
                <a:sym typeface="Roboto"/>
              </a:rPr>
              <a:t>Samuel Reyes</a:t>
            </a:r>
          </a:p>
        </p:txBody>
      </p:sp>
      <p:sp>
        <p:nvSpPr>
          <p:cNvPr name="Freeform 14" id="14"/>
          <p:cNvSpPr/>
          <p:nvPr/>
        </p:nvSpPr>
        <p:spPr>
          <a:xfrm flipH="false" flipV="false" rot="1686969">
            <a:off x="366604" y="4506627"/>
            <a:ext cx="1324192" cy="1273746"/>
          </a:xfrm>
          <a:custGeom>
            <a:avLst/>
            <a:gdLst/>
            <a:ahLst/>
            <a:cxnLst/>
            <a:rect r="r" b="b" t="t" l="l"/>
            <a:pathLst>
              <a:path h="1273746" w="1324192">
                <a:moveTo>
                  <a:pt x="0" y="0"/>
                </a:moveTo>
                <a:lnTo>
                  <a:pt x="1324192" y="0"/>
                </a:lnTo>
                <a:lnTo>
                  <a:pt x="1324192" y="1273746"/>
                </a:lnTo>
                <a:lnTo>
                  <a:pt x="0" y="1273746"/>
                </a:lnTo>
                <a:lnTo>
                  <a:pt x="0" y="0"/>
                </a:lnTo>
                <a:close/>
              </a:path>
            </a:pathLst>
          </a:custGeom>
          <a:blipFill>
            <a:blip r:embed="rId2"/>
            <a:stretch>
              <a:fillRect l="0" t="0" r="0" b="0"/>
            </a:stretch>
          </a:blipFill>
        </p:spPr>
      </p:sp>
      <p:sp>
        <p:nvSpPr>
          <p:cNvPr name="Freeform 15" id="15"/>
          <p:cNvSpPr/>
          <p:nvPr/>
        </p:nvSpPr>
        <p:spPr>
          <a:xfrm flipH="false" flipV="false" rot="1686969">
            <a:off x="366604" y="520744"/>
            <a:ext cx="1324192" cy="1273746"/>
          </a:xfrm>
          <a:custGeom>
            <a:avLst/>
            <a:gdLst/>
            <a:ahLst/>
            <a:cxnLst/>
            <a:rect r="r" b="b" t="t" l="l"/>
            <a:pathLst>
              <a:path h="1273746" w="1324192">
                <a:moveTo>
                  <a:pt x="0" y="0"/>
                </a:moveTo>
                <a:lnTo>
                  <a:pt x="1324192" y="0"/>
                </a:lnTo>
                <a:lnTo>
                  <a:pt x="1324192" y="1273746"/>
                </a:lnTo>
                <a:lnTo>
                  <a:pt x="0" y="1273746"/>
                </a:lnTo>
                <a:lnTo>
                  <a:pt x="0" y="0"/>
                </a:lnTo>
                <a:close/>
              </a:path>
            </a:pathLst>
          </a:custGeom>
          <a:blipFill>
            <a:blip r:embed="rId2"/>
            <a:stretch>
              <a:fillRect l="0" t="0" r="0" b="0"/>
            </a:stretch>
          </a:blipFill>
        </p:spPr>
      </p:sp>
      <p:sp>
        <p:nvSpPr>
          <p:cNvPr name="Freeform 16" id="16"/>
          <p:cNvSpPr/>
          <p:nvPr/>
        </p:nvSpPr>
        <p:spPr>
          <a:xfrm flipH="false" flipV="false" rot="-1899350">
            <a:off x="1796275" y="2582510"/>
            <a:ext cx="734644" cy="706658"/>
          </a:xfrm>
          <a:custGeom>
            <a:avLst/>
            <a:gdLst/>
            <a:ahLst/>
            <a:cxnLst/>
            <a:rect r="r" b="b" t="t" l="l"/>
            <a:pathLst>
              <a:path h="706658" w="734644">
                <a:moveTo>
                  <a:pt x="0" y="0"/>
                </a:moveTo>
                <a:lnTo>
                  <a:pt x="734644" y="0"/>
                </a:lnTo>
                <a:lnTo>
                  <a:pt x="734644" y="706658"/>
                </a:lnTo>
                <a:lnTo>
                  <a:pt x="0" y="706658"/>
                </a:lnTo>
                <a:lnTo>
                  <a:pt x="0" y="0"/>
                </a:lnTo>
                <a:close/>
              </a:path>
            </a:pathLst>
          </a:custGeom>
          <a:blipFill>
            <a:blip r:embed="rId2"/>
            <a:stretch>
              <a:fillRect l="0" t="0" r="0" b="0"/>
            </a:stretch>
          </a:blipFill>
        </p:spPr>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5051650" y="0"/>
            <a:ext cx="8184700" cy="10287000"/>
            <a:chOff x="0" y="0"/>
            <a:chExt cx="2155641" cy="2709333"/>
          </a:xfrm>
        </p:grpSpPr>
        <p:sp>
          <p:nvSpPr>
            <p:cNvPr name="Freeform 3" id="3"/>
            <p:cNvSpPr/>
            <p:nvPr/>
          </p:nvSpPr>
          <p:spPr>
            <a:xfrm flipH="false" flipV="false" rot="0">
              <a:off x="0" y="0"/>
              <a:ext cx="2155641" cy="2709333"/>
            </a:xfrm>
            <a:custGeom>
              <a:avLst/>
              <a:gdLst/>
              <a:ahLst/>
              <a:cxnLst/>
              <a:rect r="r" b="b" t="t" l="l"/>
              <a:pathLst>
                <a:path h="2709333" w="2155641">
                  <a:moveTo>
                    <a:pt x="0" y="0"/>
                  </a:moveTo>
                  <a:lnTo>
                    <a:pt x="2155641" y="0"/>
                  </a:lnTo>
                  <a:lnTo>
                    <a:pt x="2155641" y="2709333"/>
                  </a:lnTo>
                  <a:lnTo>
                    <a:pt x="0" y="2709333"/>
                  </a:lnTo>
                  <a:close/>
                </a:path>
              </a:pathLst>
            </a:custGeom>
            <a:solidFill>
              <a:srgbClr val="6B9C6F"/>
            </a:solidFill>
          </p:spPr>
        </p:sp>
        <p:sp>
          <p:nvSpPr>
            <p:cNvPr name="TextBox 4" id="4"/>
            <p:cNvSpPr txBox="true"/>
            <p:nvPr/>
          </p:nvSpPr>
          <p:spPr>
            <a:xfrm>
              <a:off x="0" y="-38100"/>
              <a:ext cx="2155641" cy="2747433"/>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1577785" y="1935045"/>
            <a:ext cx="12785919" cy="7972422"/>
            <a:chOff x="0" y="0"/>
            <a:chExt cx="3367485" cy="2099733"/>
          </a:xfrm>
        </p:grpSpPr>
        <p:sp>
          <p:nvSpPr>
            <p:cNvPr name="Freeform 6" id="6"/>
            <p:cNvSpPr/>
            <p:nvPr/>
          </p:nvSpPr>
          <p:spPr>
            <a:xfrm flipH="false" flipV="false" rot="0">
              <a:off x="0" y="0"/>
              <a:ext cx="3367485" cy="2099733"/>
            </a:xfrm>
            <a:custGeom>
              <a:avLst/>
              <a:gdLst/>
              <a:ahLst/>
              <a:cxnLst/>
              <a:rect r="r" b="b" t="t" l="l"/>
              <a:pathLst>
                <a:path h="2099733" w="3367485">
                  <a:moveTo>
                    <a:pt x="0" y="0"/>
                  </a:moveTo>
                  <a:lnTo>
                    <a:pt x="3367485" y="0"/>
                  </a:lnTo>
                  <a:lnTo>
                    <a:pt x="3367485" y="2099733"/>
                  </a:lnTo>
                  <a:lnTo>
                    <a:pt x="0" y="2099733"/>
                  </a:lnTo>
                  <a:close/>
                </a:path>
              </a:pathLst>
            </a:custGeom>
            <a:ln w="133350" cap="sq">
              <a:solidFill>
                <a:srgbClr val="6B9C6F"/>
              </a:solidFill>
              <a:prstDash val="solid"/>
              <a:miter/>
            </a:ln>
          </p:spPr>
        </p:sp>
        <p:sp>
          <p:nvSpPr>
            <p:cNvPr name="TextBox 7" id="7"/>
            <p:cNvSpPr txBox="true"/>
            <p:nvPr/>
          </p:nvSpPr>
          <p:spPr>
            <a:xfrm>
              <a:off x="0" y="-38100"/>
              <a:ext cx="3367485" cy="2137833"/>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0">
            <a:off x="5882344" y="873323"/>
            <a:ext cx="6523313" cy="1061722"/>
          </a:xfrm>
          <a:prstGeom prst="rect">
            <a:avLst/>
          </a:prstGeom>
        </p:spPr>
        <p:txBody>
          <a:bodyPr anchor="t" rtlCol="false" tIns="0" lIns="0" bIns="0" rIns="0">
            <a:spAutoFit/>
          </a:bodyPr>
          <a:lstStyle/>
          <a:p>
            <a:pPr algn="ctr">
              <a:lnSpc>
                <a:spcPts val="8679"/>
              </a:lnSpc>
            </a:pPr>
            <a:r>
              <a:rPr lang="en-US" sz="6199" b="true">
                <a:solidFill>
                  <a:srgbClr val="FFFFFF"/>
                </a:solidFill>
                <a:latin typeface="Roboto Bold"/>
                <a:ea typeface="Roboto Bold"/>
                <a:cs typeface="Roboto Bold"/>
                <a:sym typeface="Roboto Bold"/>
              </a:rPr>
              <a:t>¿Qué es PetPass?</a:t>
            </a:r>
          </a:p>
        </p:txBody>
      </p:sp>
      <p:sp>
        <p:nvSpPr>
          <p:cNvPr name="TextBox 9" id="9"/>
          <p:cNvSpPr txBox="true"/>
          <p:nvPr/>
        </p:nvSpPr>
        <p:spPr>
          <a:xfrm rot="0">
            <a:off x="5546613" y="3199131"/>
            <a:ext cx="7194775" cy="1944369"/>
          </a:xfrm>
          <a:prstGeom prst="rect">
            <a:avLst/>
          </a:prstGeom>
        </p:spPr>
        <p:txBody>
          <a:bodyPr anchor="t" rtlCol="false" tIns="0" lIns="0" bIns="0" rIns="0">
            <a:spAutoFit/>
          </a:bodyPr>
          <a:lstStyle/>
          <a:p>
            <a:pPr algn="ctr">
              <a:lnSpc>
                <a:spcPts val="3080"/>
              </a:lnSpc>
            </a:pPr>
            <a:r>
              <a:rPr lang="en-US" sz="2200">
                <a:solidFill>
                  <a:srgbClr val="FFFFFF"/>
                </a:solidFill>
                <a:latin typeface="Roboto"/>
                <a:ea typeface="Roboto"/>
                <a:cs typeface="Roboto"/>
                <a:sym typeface="Roboto"/>
              </a:rPr>
              <a:t>PetPass es una plataforma cliente-servidor que centraliza el historial veterinario de una mascota en una aplicación móvil/web. Un motor OCR digitaliza carnets y recetas impresas, y toda la información queda disponible en la nube para el tutor.</a:t>
            </a:r>
          </a:p>
        </p:txBody>
      </p:sp>
      <p:sp>
        <p:nvSpPr>
          <p:cNvPr name="TextBox 10" id="10"/>
          <p:cNvSpPr txBox="true"/>
          <p:nvPr/>
        </p:nvSpPr>
        <p:spPr>
          <a:xfrm rot="0">
            <a:off x="5546613" y="6243647"/>
            <a:ext cx="7194775" cy="1553844"/>
          </a:xfrm>
          <a:prstGeom prst="rect">
            <a:avLst/>
          </a:prstGeom>
        </p:spPr>
        <p:txBody>
          <a:bodyPr anchor="t" rtlCol="false" tIns="0" lIns="0" bIns="0" rIns="0">
            <a:spAutoFit/>
          </a:bodyPr>
          <a:lstStyle/>
          <a:p>
            <a:pPr algn="ctr">
              <a:lnSpc>
                <a:spcPts val="3080"/>
              </a:lnSpc>
            </a:pPr>
            <a:r>
              <a:rPr lang="en-US" sz="2200">
                <a:solidFill>
                  <a:srgbClr val="FFFFFF"/>
                </a:solidFill>
                <a:latin typeface="Roboto"/>
                <a:ea typeface="Roboto"/>
                <a:cs typeface="Roboto"/>
                <a:sym typeface="Roboto"/>
              </a:rPr>
              <a:t>Un código QR y una etiqueta NFC ubicados en el collar del animal permiten que, ante una emergencia, cualquier persona acceda de inmediato a los datos de contacto y antecedentes médicos críticos.</a:t>
            </a:r>
          </a:p>
        </p:txBody>
      </p:sp>
      <p:sp>
        <p:nvSpPr>
          <p:cNvPr name="Freeform 11" id="11"/>
          <p:cNvSpPr/>
          <p:nvPr/>
        </p:nvSpPr>
        <p:spPr>
          <a:xfrm flipH="false" flipV="false" rot="0">
            <a:off x="2694958" y="3246756"/>
            <a:ext cx="1591840" cy="1591840"/>
          </a:xfrm>
          <a:custGeom>
            <a:avLst/>
            <a:gdLst/>
            <a:ahLst/>
            <a:cxnLst/>
            <a:rect r="r" b="b" t="t" l="l"/>
            <a:pathLst>
              <a:path h="1591840" w="1591840">
                <a:moveTo>
                  <a:pt x="0" y="0"/>
                </a:moveTo>
                <a:lnTo>
                  <a:pt x="1591840" y="0"/>
                </a:lnTo>
                <a:lnTo>
                  <a:pt x="1591840" y="1591840"/>
                </a:lnTo>
                <a:lnTo>
                  <a:pt x="0" y="159184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2" id="12"/>
          <p:cNvSpPr/>
          <p:nvPr/>
        </p:nvSpPr>
        <p:spPr>
          <a:xfrm flipH="false" flipV="false" rot="64416">
            <a:off x="8572719" y="8467602"/>
            <a:ext cx="1050022" cy="1010021"/>
          </a:xfrm>
          <a:custGeom>
            <a:avLst/>
            <a:gdLst/>
            <a:ahLst/>
            <a:cxnLst/>
            <a:rect r="r" b="b" t="t" l="l"/>
            <a:pathLst>
              <a:path h="1010021" w="1050022">
                <a:moveTo>
                  <a:pt x="0" y="0"/>
                </a:moveTo>
                <a:lnTo>
                  <a:pt x="1050022" y="0"/>
                </a:lnTo>
                <a:lnTo>
                  <a:pt x="1050022" y="1010021"/>
                </a:lnTo>
                <a:lnTo>
                  <a:pt x="0" y="1010021"/>
                </a:lnTo>
                <a:lnTo>
                  <a:pt x="0" y="0"/>
                </a:lnTo>
                <a:close/>
              </a:path>
            </a:pathLst>
          </a:custGeom>
          <a:blipFill>
            <a:blip r:embed="rId4"/>
            <a:stretch>
              <a:fillRect l="0" t="0" r="0" b="0"/>
            </a:stretch>
          </a:blipFill>
        </p:spPr>
      </p:sp>
      <p:sp>
        <p:nvSpPr>
          <p:cNvPr name="Freeform 13" id="13"/>
          <p:cNvSpPr/>
          <p:nvPr/>
        </p:nvSpPr>
        <p:spPr>
          <a:xfrm flipH="false" flipV="false" rot="0">
            <a:off x="2694958" y="6153098"/>
            <a:ext cx="1417141" cy="1782568"/>
          </a:xfrm>
          <a:custGeom>
            <a:avLst/>
            <a:gdLst/>
            <a:ahLst/>
            <a:cxnLst/>
            <a:rect r="r" b="b" t="t" l="l"/>
            <a:pathLst>
              <a:path h="1782568" w="1417141">
                <a:moveTo>
                  <a:pt x="0" y="0"/>
                </a:moveTo>
                <a:lnTo>
                  <a:pt x="1417141" y="0"/>
                </a:lnTo>
                <a:lnTo>
                  <a:pt x="1417141" y="1782568"/>
                </a:lnTo>
                <a:lnTo>
                  <a:pt x="0" y="1782568"/>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95439" y="3754935"/>
            <a:ext cx="14897122" cy="6532065"/>
            <a:chOff x="0" y="0"/>
            <a:chExt cx="3923522" cy="1720379"/>
          </a:xfrm>
        </p:grpSpPr>
        <p:sp>
          <p:nvSpPr>
            <p:cNvPr name="Freeform 3" id="3"/>
            <p:cNvSpPr/>
            <p:nvPr/>
          </p:nvSpPr>
          <p:spPr>
            <a:xfrm flipH="false" flipV="false" rot="0">
              <a:off x="0" y="0"/>
              <a:ext cx="3923522" cy="1720379"/>
            </a:xfrm>
            <a:custGeom>
              <a:avLst/>
              <a:gdLst/>
              <a:ahLst/>
              <a:cxnLst/>
              <a:rect r="r" b="b" t="t" l="l"/>
              <a:pathLst>
                <a:path h="1720379" w="3923522">
                  <a:moveTo>
                    <a:pt x="0" y="0"/>
                  </a:moveTo>
                  <a:lnTo>
                    <a:pt x="3923522" y="0"/>
                  </a:lnTo>
                  <a:lnTo>
                    <a:pt x="3923522" y="1720379"/>
                  </a:lnTo>
                  <a:lnTo>
                    <a:pt x="0" y="1720379"/>
                  </a:lnTo>
                  <a:close/>
                </a:path>
              </a:pathLst>
            </a:custGeom>
            <a:solidFill>
              <a:srgbClr val="6B9C6F"/>
            </a:solidFill>
          </p:spPr>
        </p:sp>
        <p:sp>
          <p:nvSpPr>
            <p:cNvPr name="TextBox 4" id="4"/>
            <p:cNvSpPr txBox="true"/>
            <p:nvPr/>
          </p:nvSpPr>
          <p:spPr>
            <a:xfrm>
              <a:off x="0" y="-38100"/>
              <a:ext cx="3923522" cy="1758479"/>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1686969">
            <a:off x="2042853" y="8963800"/>
            <a:ext cx="1056335" cy="1016094"/>
          </a:xfrm>
          <a:custGeom>
            <a:avLst/>
            <a:gdLst/>
            <a:ahLst/>
            <a:cxnLst/>
            <a:rect r="r" b="b" t="t" l="l"/>
            <a:pathLst>
              <a:path h="1016094" w="1056335">
                <a:moveTo>
                  <a:pt x="0" y="0"/>
                </a:moveTo>
                <a:lnTo>
                  <a:pt x="1056335" y="0"/>
                </a:lnTo>
                <a:lnTo>
                  <a:pt x="1056335" y="1016093"/>
                </a:lnTo>
                <a:lnTo>
                  <a:pt x="0" y="1016093"/>
                </a:lnTo>
                <a:lnTo>
                  <a:pt x="0" y="0"/>
                </a:lnTo>
                <a:close/>
              </a:path>
            </a:pathLst>
          </a:custGeom>
          <a:blipFill>
            <a:blip r:embed="rId2"/>
            <a:stretch>
              <a:fillRect l="0" t="0" r="0" b="0"/>
            </a:stretch>
          </a:blipFill>
        </p:spPr>
      </p:sp>
      <p:grpSp>
        <p:nvGrpSpPr>
          <p:cNvPr name="Group 6" id="6"/>
          <p:cNvGrpSpPr/>
          <p:nvPr/>
        </p:nvGrpSpPr>
        <p:grpSpPr>
          <a:xfrm rot="0">
            <a:off x="4149527" y="-4838611"/>
            <a:ext cx="9988946" cy="6532065"/>
            <a:chOff x="0" y="0"/>
            <a:chExt cx="2630833" cy="1720379"/>
          </a:xfrm>
        </p:grpSpPr>
        <p:sp>
          <p:nvSpPr>
            <p:cNvPr name="Freeform 7" id="7"/>
            <p:cNvSpPr/>
            <p:nvPr/>
          </p:nvSpPr>
          <p:spPr>
            <a:xfrm flipH="false" flipV="false" rot="0">
              <a:off x="0" y="0"/>
              <a:ext cx="2630833" cy="1720379"/>
            </a:xfrm>
            <a:custGeom>
              <a:avLst/>
              <a:gdLst/>
              <a:ahLst/>
              <a:cxnLst/>
              <a:rect r="r" b="b" t="t" l="l"/>
              <a:pathLst>
                <a:path h="1720379" w="2630833">
                  <a:moveTo>
                    <a:pt x="0" y="0"/>
                  </a:moveTo>
                  <a:lnTo>
                    <a:pt x="2630833" y="0"/>
                  </a:lnTo>
                  <a:lnTo>
                    <a:pt x="2630833" y="1720379"/>
                  </a:lnTo>
                  <a:lnTo>
                    <a:pt x="0" y="1720379"/>
                  </a:lnTo>
                  <a:close/>
                </a:path>
              </a:pathLst>
            </a:custGeom>
            <a:solidFill>
              <a:srgbClr val="6B9C6F"/>
            </a:solidFill>
          </p:spPr>
        </p:sp>
        <p:sp>
          <p:nvSpPr>
            <p:cNvPr name="TextBox 8" id="8"/>
            <p:cNvSpPr txBox="true"/>
            <p:nvPr/>
          </p:nvSpPr>
          <p:spPr>
            <a:xfrm>
              <a:off x="0" y="-38100"/>
              <a:ext cx="2630833" cy="1758479"/>
            </a:xfrm>
            <a:prstGeom prst="rect">
              <a:avLst/>
            </a:prstGeom>
          </p:spPr>
          <p:txBody>
            <a:bodyPr anchor="ctr" rtlCol="false" tIns="50800" lIns="50800" bIns="50800" rIns="50800"/>
            <a:lstStyle/>
            <a:p>
              <a:pPr algn="ctr">
                <a:lnSpc>
                  <a:spcPts val="2659"/>
                </a:lnSpc>
              </a:pPr>
            </a:p>
          </p:txBody>
        </p:sp>
      </p:grpSp>
      <p:sp>
        <p:nvSpPr>
          <p:cNvPr name="Freeform 9" id="9"/>
          <p:cNvSpPr/>
          <p:nvPr/>
        </p:nvSpPr>
        <p:spPr>
          <a:xfrm flipH="false" flipV="false" rot="-1920449">
            <a:off x="15205282" y="8977558"/>
            <a:ext cx="1056335" cy="1016094"/>
          </a:xfrm>
          <a:custGeom>
            <a:avLst/>
            <a:gdLst/>
            <a:ahLst/>
            <a:cxnLst/>
            <a:rect r="r" b="b" t="t" l="l"/>
            <a:pathLst>
              <a:path h="1016094" w="1056335">
                <a:moveTo>
                  <a:pt x="0" y="0"/>
                </a:moveTo>
                <a:lnTo>
                  <a:pt x="1056335" y="0"/>
                </a:lnTo>
                <a:lnTo>
                  <a:pt x="1056335" y="1016094"/>
                </a:lnTo>
                <a:lnTo>
                  <a:pt x="0" y="1016094"/>
                </a:lnTo>
                <a:lnTo>
                  <a:pt x="0" y="0"/>
                </a:lnTo>
                <a:close/>
              </a:path>
            </a:pathLst>
          </a:custGeom>
          <a:blipFill>
            <a:blip r:embed="rId2"/>
            <a:stretch>
              <a:fillRect l="0" t="0" r="0" b="0"/>
            </a:stretch>
          </a:blipFill>
        </p:spPr>
      </p:sp>
      <p:sp>
        <p:nvSpPr>
          <p:cNvPr name="Freeform 10" id="10"/>
          <p:cNvSpPr/>
          <p:nvPr/>
        </p:nvSpPr>
        <p:spPr>
          <a:xfrm flipH="false" flipV="false" rot="0">
            <a:off x="3579094" y="4176761"/>
            <a:ext cx="1858324" cy="1858324"/>
          </a:xfrm>
          <a:custGeom>
            <a:avLst/>
            <a:gdLst/>
            <a:ahLst/>
            <a:cxnLst/>
            <a:rect r="r" b="b" t="t" l="l"/>
            <a:pathLst>
              <a:path h="1858324" w="1858324">
                <a:moveTo>
                  <a:pt x="0" y="0"/>
                </a:moveTo>
                <a:lnTo>
                  <a:pt x="1858324" y="0"/>
                </a:lnTo>
                <a:lnTo>
                  <a:pt x="1858324" y="1858324"/>
                </a:lnTo>
                <a:lnTo>
                  <a:pt x="0" y="1858324"/>
                </a:lnTo>
                <a:lnTo>
                  <a:pt x="0" y="0"/>
                </a:lnTo>
                <a:close/>
              </a:path>
            </a:pathLst>
          </a:custGeom>
          <a:blipFill>
            <a:blip r:embed="rId3"/>
            <a:stretch>
              <a:fillRect l="0" t="0" r="0" b="0"/>
            </a:stretch>
          </a:blipFill>
        </p:spPr>
      </p:sp>
      <p:sp>
        <p:nvSpPr>
          <p:cNvPr name="Freeform 11" id="11"/>
          <p:cNvSpPr/>
          <p:nvPr/>
        </p:nvSpPr>
        <p:spPr>
          <a:xfrm flipH="false" flipV="false" rot="0">
            <a:off x="8476133" y="4452820"/>
            <a:ext cx="1523208" cy="1381359"/>
          </a:xfrm>
          <a:custGeom>
            <a:avLst/>
            <a:gdLst/>
            <a:ahLst/>
            <a:cxnLst/>
            <a:rect r="r" b="b" t="t" l="l"/>
            <a:pathLst>
              <a:path h="1381359" w="1523208">
                <a:moveTo>
                  <a:pt x="0" y="0"/>
                </a:moveTo>
                <a:lnTo>
                  <a:pt x="1523208" y="0"/>
                </a:lnTo>
                <a:lnTo>
                  <a:pt x="1523208" y="1381360"/>
                </a:lnTo>
                <a:lnTo>
                  <a:pt x="0" y="1381360"/>
                </a:lnTo>
                <a:lnTo>
                  <a:pt x="0" y="0"/>
                </a:lnTo>
                <a:close/>
              </a:path>
            </a:pathLst>
          </a:custGeom>
          <a:blipFill>
            <a:blip r:embed="rId4"/>
            <a:stretch>
              <a:fillRect l="0" t="0" r="0" b="0"/>
            </a:stretch>
          </a:blipFill>
        </p:spPr>
      </p:sp>
      <p:sp>
        <p:nvSpPr>
          <p:cNvPr name="Freeform 12" id="12"/>
          <p:cNvSpPr/>
          <p:nvPr/>
        </p:nvSpPr>
        <p:spPr>
          <a:xfrm flipH="false" flipV="false" rot="0">
            <a:off x="13302834" y="4377666"/>
            <a:ext cx="1456514" cy="1456514"/>
          </a:xfrm>
          <a:custGeom>
            <a:avLst/>
            <a:gdLst/>
            <a:ahLst/>
            <a:cxnLst/>
            <a:rect r="r" b="b" t="t" l="l"/>
            <a:pathLst>
              <a:path h="1456514" w="1456514">
                <a:moveTo>
                  <a:pt x="0" y="0"/>
                </a:moveTo>
                <a:lnTo>
                  <a:pt x="1456514" y="0"/>
                </a:lnTo>
                <a:lnTo>
                  <a:pt x="1456514" y="1456514"/>
                </a:lnTo>
                <a:lnTo>
                  <a:pt x="0" y="1456514"/>
                </a:lnTo>
                <a:lnTo>
                  <a:pt x="0" y="0"/>
                </a:lnTo>
                <a:close/>
              </a:path>
            </a:pathLst>
          </a:custGeom>
          <a:blipFill>
            <a:blip r:embed="rId5"/>
            <a:stretch>
              <a:fillRect l="0" t="0" r="0" b="0"/>
            </a:stretch>
          </a:blipFill>
        </p:spPr>
      </p:sp>
      <p:sp>
        <p:nvSpPr>
          <p:cNvPr name="TextBox 13" id="13"/>
          <p:cNvSpPr txBox="true"/>
          <p:nvPr/>
        </p:nvSpPr>
        <p:spPr>
          <a:xfrm rot="0">
            <a:off x="4857118" y="234221"/>
            <a:ext cx="8590798" cy="1061722"/>
          </a:xfrm>
          <a:prstGeom prst="rect">
            <a:avLst/>
          </a:prstGeom>
        </p:spPr>
        <p:txBody>
          <a:bodyPr anchor="t" rtlCol="false" tIns="0" lIns="0" bIns="0" rIns="0">
            <a:spAutoFit/>
          </a:bodyPr>
          <a:lstStyle/>
          <a:p>
            <a:pPr algn="ctr">
              <a:lnSpc>
                <a:spcPts val="8679"/>
              </a:lnSpc>
            </a:pPr>
            <a:r>
              <a:rPr lang="en-US" sz="6199" b="true">
                <a:solidFill>
                  <a:srgbClr val="FFFFFF"/>
                </a:solidFill>
                <a:latin typeface="Roboto Bold"/>
                <a:ea typeface="Roboto Bold"/>
                <a:cs typeface="Roboto Bold"/>
                <a:sym typeface="Roboto Bold"/>
              </a:rPr>
              <a:t>¿Qué resuelve PetPass?</a:t>
            </a:r>
          </a:p>
        </p:txBody>
      </p:sp>
      <p:sp>
        <p:nvSpPr>
          <p:cNvPr name="TextBox 14" id="14"/>
          <p:cNvSpPr txBox="true"/>
          <p:nvPr/>
        </p:nvSpPr>
        <p:spPr>
          <a:xfrm rot="0">
            <a:off x="2571020" y="7174119"/>
            <a:ext cx="3874472" cy="1063624"/>
          </a:xfrm>
          <a:prstGeom prst="rect">
            <a:avLst/>
          </a:prstGeom>
        </p:spPr>
        <p:txBody>
          <a:bodyPr anchor="t" rtlCol="false" tIns="0" lIns="0" bIns="0" rIns="0">
            <a:spAutoFit/>
          </a:bodyPr>
          <a:lstStyle/>
          <a:p>
            <a:pPr algn="ctr">
              <a:lnSpc>
                <a:spcPts val="2800"/>
              </a:lnSpc>
            </a:pPr>
            <a:r>
              <a:rPr lang="en-US" sz="2000">
                <a:solidFill>
                  <a:srgbClr val="FFFFFF"/>
                </a:solidFill>
                <a:latin typeface="Roboto"/>
                <a:ea typeface="Roboto"/>
                <a:cs typeface="Roboto"/>
                <a:sym typeface="Roboto"/>
              </a:rPr>
              <a:t>Riesgo de pérdida, deterioro y falta de respaldo de los registros médicos en papel.</a:t>
            </a:r>
          </a:p>
        </p:txBody>
      </p:sp>
      <p:sp>
        <p:nvSpPr>
          <p:cNvPr name="TextBox 15" id="15"/>
          <p:cNvSpPr txBox="true"/>
          <p:nvPr/>
        </p:nvSpPr>
        <p:spPr>
          <a:xfrm rot="0">
            <a:off x="7035482" y="7174119"/>
            <a:ext cx="4404510" cy="1063624"/>
          </a:xfrm>
          <a:prstGeom prst="rect">
            <a:avLst/>
          </a:prstGeom>
        </p:spPr>
        <p:txBody>
          <a:bodyPr anchor="t" rtlCol="false" tIns="0" lIns="0" bIns="0" rIns="0">
            <a:spAutoFit/>
          </a:bodyPr>
          <a:lstStyle/>
          <a:p>
            <a:pPr algn="ctr">
              <a:lnSpc>
                <a:spcPts val="2800"/>
              </a:lnSpc>
            </a:pPr>
            <a:r>
              <a:rPr lang="en-US" sz="2000">
                <a:solidFill>
                  <a:srgbClr val="FFFFFF"/>
                </a:solidFill>
                <a:latin typeface="Roboto"/>
                <a:ea typeface="Roboto"/>
                <a:cs typeface="Roboto"/>
                <a:sym typeface="Roboto"/>
              </a:rPr>
              <a:t>Terceros no pueden acceder a datos de contacto ni antecedentes médicos ante un extravío.</a:t>
            </a:r>
          </a:p>
        </p:txBody>
      </p:sp>
      <p:sp>
        <p:nvSpPr>
          <p:cNvPr name="TextBox 16" id="16"/>
          <p:cNvSpPr txBox="true"/>
          <p:nvPr/>
        </p:nvSpPr>
        <p:spPr>
          <a:xfrm rot="0">
            <a:off x="12030542" y="7174119"/>
            <a:ext cx="4001098" cy="711199"/>
          </a:xfrm>
          <a:prstGeom prst="rect">
            <a:avLst/>
          </a:prstGeom>
        </p:spPr>
        <p:txBody>
          <a:bodyPr anchor="t" rtlCol="false" tIns="0" lIns="0" bIns="0" rIns="0">
            <a:spAutoFit/>
          </a:bodyPr>
          <a:lstStyle/>
          <a:p>
            <a:pPr algn="ctr">
              <a:lnSpc>
                <a:spcPts val="2800"/>
              </a:lnSpc>
            </a:pPr>
            <a:r>
              <a:rPr lang="en-US" sz="2000">
                <a:solidFill>
                  <a:srgbClr val="FFFFFF"/>
                </a:solidFill>
                <a:latin typeface="Roboto"/>
                <a:ea typeface="Roboto"/>
                <a:cs typeface="Roboto"/>
                <a:sym typeface="Roboto"/>
              </a:rPr>
              <a:t>Dificultad para identificar al animal y contactar rápidamente a su tutor.</a:t>
            </a:r>
          </a:p>
        </p:txBody>
      </p:sp>
      <p:sp>
        <p:nvSpPr>
          <p:cNvPr name="TextBox 17" id="17"/>
          <p:cNvSpPr txBox="true"/>
          <p:nvPr/>
        </p:nvSpPr>
        <p:spPr>
          <a:xfrm rot="0">
            <a:off x="2571020" y="6225527"/>
            <a:ext cx="3874472" cy="431799"/>
          </a:xfrm>
          <a:prstGeom prst="rect">
            <a:avLst/>
          </a:prstGeom>
        </p:spPr>
        <p:txBody>
          <a:bodyPr anchor="t" rtlCol="false" tIns="0" lIns="0" bIns="0" rIns="0">
            <a:spAutoFit/>
          </a:bodyPr>
          <a:lstStyle/>
          <a:p>
            <a:pPr algn="ctr">
              <a:lnSpc>
                <a:spcPts val="3500"/>
              </a:lnSpc>
            </a:pPr>
            <a:r>
              <a:rPr lang="en-US" b="true" sz="2500" i="true">
                <a:solidFill>
                  <a:srgbClr val="FFFFFF"/>
                </a:solidFill>
                <a:latin typeface="Roboto Bold Italics"/>
                <a:ea typeface="Roboto Bold Italics"/>
                <a:cs typeface="Roboto Bold Italics"/>
                <a:sym typeface="Roboto Bold Italics"/>
              </a:rPr>
              <a:t>Carnets físicos vulnerables</a:t>
            </a:r>
          </a:p>
        </p:txBody>
      </p:sp>
      <p:sp>
        <p:nvSpPr>
          <p:cNvPr name="TextBox 18" id="18"/>
          <p:cNvSpPr txBox="true"/>
          <p:nvPr/>
        </p:nvSpPr>
        <p:spPr>
          <a:xfrm rot="0">
            <a:off x="7318893" y="6225527"/>
            <a:ext cx="4008942" cy="431799"/>
          </a:xfrm>
          <a:prstGeom prst="rect">
            <a:avLst/>
          </a:prstGeom>
        </p:spPr>
        <p:txBody>
          <a:bodyPr anchor="t" rtlCol="false" tIns="0" lIns="0" bIns="0" rIns="0">
            <a:spAutoFit/>
          </a:bodyPr>
          <a:lstStyle/>
          <a:p>
            <a:pPr algn="ctr">
              <a:lnSpc>
                <a:spcPts val="3500"/>
              </a:lnSpc>
            </a:pPr>
            <a:r>
              <a:rPr lang="en-US" b="true" sz="2500" i="true">
                <a:solidFill>
                  <a:srgbClr val="FFFFFF"/>
                </a:solidFill>
                <a:latin typeface="Roboto Bold Italics"/>
                <a:ea typeface="Roboto Bold Italics"/>
                <a:cs typeface="Roboto Bold Italics"/>
                <a:sym typeface="Roboto Bold Italics"/>
              </a:rPr>
              <a:t>Emergencia sin información</a:t>
            </a:r>
          </a:p>
        </p:txBody>
      </p:sp>
      <p:sp>
        <p:nvSpPr>
          <p:cNvPr name="TextBox 19" id="19"/>
          <p:cNvSpPr txBox="true"/>
          <p:nvPr/>
        </p:nvSpPr>
        <p:spPr>
          <a:xfrm rot="0">
            <a:off x="12201237" y="6225527"/>
            <a:ext cx="3639148" cy="431799"/>
          </a:xfrm>
          <a:prstGeom prst="rect">
            <a:avLst/>
          </a:prstGeom>
        </p:spPr>
        <p:txBody>
          <a:bodyPr anchor="t" rtlCol="false" tIns="0" lIns="0" bIns="0" rIns="0">
            <a:spAutoFit/>
          </a:bodyPr>
          <a:lstStyle/>
          <a:p>
            <a:pPr algn="ctr">
              <a:lnSpc>
                <a:spcPts val="3500"/>
              </a:lnSpc>
            </a:pPr>
            <a:r>
              <a:rPr lang="en-US" b="true" sz="2500" i="true">
                <a:solidFill>
                  <a:srgbClr val="FFFFFF"/>
                </a:solidFill>
                <a:latin typeface="Roboto Bold Italics"/>
                <a:ea typeface="Roboto Bold Italics"/>
                <a:cs typeface="Roboto Bold Italics"/>
                <a:sym typeface="Roboto Bold Italics"/>
              </a:rPr>
              <a:t>Mascotas Extraviadas</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674628" y="4131196"/>
            <a:ext cx="1425796" cy="1492980"/>
          </a:xfrm>
          <a:custGeom>
            <a:avLst/>
            <a:gdLst/>
            <a:ahLst/>
            <a:cxnLst/>
            <a:rect r="r" b="b" t="t" l="l"/>
            <a:pathLst>
              <a:path h="1492980" w="1425796">
                <a:moveTo>
                  <a:pt x="0" y="0"/>
                </a:moveTo>
                <a:lnTo>
                  <a:pt x="1425796" y="0"/>
                </a:lnTo>
                <a:lnTo>
                  <a:pt x="1425796" y="1492980"/>
                </a:lnTo>
                <a:lnTo>
                  <a:pt x="0" y="1492980"/>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false" flipV="false" rot="0">
            <a:off x="6257982" y="4515778"/>
            <a:ext cx="1641104" cy="1255445"/>
          </a:xfrm>
          <a:custGeom>
            <a:avLst/>
            <a:gdLst/>
            <a:ahLst/>
            <a:cxnLst/>
            <a:rect r="r" b="b" t="t" l="l"/>
            <a:pathLst>
              <a:path h="1255445" w="1641104">
                <a:moveTo>
                  <a:pt x="0" y="0"/>
                </a:moveTo>
                <a:lnTo>
                  <a:pt x="1641104" y="0"/>
                </a:lnTo>
                <a:lnTo>
                  <a:pt x="1641104" y="1255444"/>
                </a:lnTo>
                <a:lnTo>
                  <a:pt x="0" y="125544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4" id="4"/>
          <p:cNvSpPr/>
          <p:nvPr/>
        </p:nvSpPr>
        <p:spPr>
          <a:xfrm flipH="false" flipV="false" rot="0">
            <a:off x="11061386" y="4384675"/>
            <a:ext cx="1095372" cy="1386547"/>
          </a:xfrm>
          <a:custGeom>
            <a:avLst/>
            <a:gdLst/>
            <a:ahLst/>
            <a:cxnLst/>
            <a:rect r="r" b="b" t="t" l="l"/>
            <a:pathLst>
              <a:path h="1386547" w="1095372">
                <a:moveTo>
                  <a:pt x="0" y="0"/>
                </a:moveTo>
                <a:lnTo>
                  <a:pt x="1095373" y="0"/>
                </a:lnTo>
                <a:lnTo>
                  <a:pt x="1095373" y="1386547"/>
                </a:lnTo>
                <a:lnTo>
                  <a:pt x="0" y="1386547"/>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5" id="5"/>
          <p:cNvSpPr/>
          <p:nvPr/>
        </p:nvSpPr>
        <p:spPr>
          <a:xfrm flipH="false" flipV="false" rot="0">
            <a:off x="15797975" y="4375657"/>
            <a:ext cx="1461325" cy="1395565"/>
          </a:xfrm>
          <a:custGeom>
            <a:avLst/>
            <a:gdLst/>
            <a:ahLst/>
            <a:cxnLst/>
            <a:rect r="r" b="b" t="t" l="l"/>
            <a:pathLst>
              <a:path h="1395565" w="1461325">
                <a:moveTo>
                  <a:pt x="0" y="0"/>
                </a:moveTo>
                <a:lnTo>
                  <a:pt x="1461325" y="0"/>
                </a:lnTo>
                <a:lnTo>
                  <a:pt x="1461325" y="1395565"/>
                </a:lnTo>
                <a:lnTo>
                  <a:pt x="0" y="1395565"/>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6" id="6"/>
          <p:cNvSpPr/>
          <p:nvPr/>
        </p:nvSpPr>
        <p:spPr>
          <a:xfrm flipH="false" flipV="false" rot="0">
            <a:off x="3623050" y="4877686"/>
            <a:ext cx="2112306" cy="591446"/>
          </a:xfrm>
          <a:custGeom>
            <a:avLst/>
            <a:gdLst/>
            <a:ahLst/>
            <a:cxnLst/>
            <a:rect r="r" b="b" t="t" l="l"/>
            <a:pathLst>
              <a:path h="591446" w="2112306">
                <a:moveTo>
                  <a:pt x="0" y="0"/>
                </a:moveTo>
                <a:lnTo>
                  <a:pt x="2112306" y="0"/>
                </a:lnTo>
                <a:lnTo>
                  <a:pt x="2112306" y="591446"/>
                </a:lnTo>
                <a:lnTo>
                  <a:pt x="0" y="59144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TextBox 7" id="7"/>
          <p:cNvSpPr txBox="true"/>
          <p:nvPr/>
        </p:nvSpPr>
        <p:spPr>
          <a:xfrm rot="0">
            <a:off x="1028700" y="705803"/>
            <a:ext cx="12099668" cy="664844"/>
          </a:xfrm>
          <a:prstGeom prst="rect">
            <a:avLst/>
          </a:prstGeom>
        </p:spPr>
        <p:txBody>
          <a:bodyPr anchor="t" rtlCol="false" tIns="0" lIns="0" bIns="0" rIns="0">
            <a:spAutoFit/>
          </a:bodyPr>
          <a:lstStyle/>
          <a:p>
            <a:pPr algn="l">
              <a:lnSpc>
                <a:spcPts val="5039"/>
              </a:lnSpc>
              <a:spcBef>
                <a:spcPct val="0"/>
              </a:spcBef>
            </a:pPr>
            <a:r>
              <a:rPr lang="en-US" sz="4499" spc="1331">
                <a:solidFill>
                  <a:srgbClr val="000000"/>
                </a:solidFill>
                <a:latin typeface="Roboto"/>
                <a:ea typeface="Roboto"/>
                <a:cs typeface="Roboto"/>
                <a:sym typeface="Roboto"/>
              </a:rPr>
              <a:t>CÓMO LO RESOLVEREMOS</a:t>
            </a:r>
          </a:p>
        </p:txBody>
      </p:sp>
      <p:sp>
        <p:nvSpPr>
          <p:cNvPr name="TextBox 8" id="8"/>
          <p:cNvSpPr txBox="true"/>
          <p:nvPr/>
        </p:nvSpPr>
        <p:spPr>
          <a:xfrm rot="0">
            <a:off x="1403117" y="6042025"/>
            <a:ext cx="1968817" cy="464820"/>
          </a:xfrm>
          <a:prstGeom prst="rect">
            <a:avLst/>
          </a:prstGeom>
        </p:spPr>
        <p:txBody>
          <a:bodyPr anchor="t" rtlCol="false" tIns="0" lIns="0" bIns="0" rIns="0">
            <a:spAutoFit/>
          </a:bodyPr>
          <a:lstStyle/>
          <a:p>
            <a:pPr algn="ctr">
              <a:lnSpc>
                <a:spcPts val="3780"/>
              </a:lnSpc>
              <a:spcBef>
                <a:spcPct val="0"/>
              </a:spcBef>
            </a:pPr>
            <a:r>
              <a:rPr lang="en-US" b="true" sz="2700">
                <a:solidFill>
                  <a:srgbClr val="000000"/>
                </a:solidFill>
                <a:latin typeface="Roboto Bold"/>
                <a:ea typeface="Roboto Bold"/>
                <a:cs typeface="Roboto Bold"/>
                <a:sym typeface="Roboto Bold"/>
              </a:rPr>
              <a:t>Carnet físico</a:t>
            </a:r>
          </a:p>
        </p:txBody>
      </p:sp>
      <p:sp>
        <p:nvSpPr>
          <p:cNvPr name="TextBox 9" id="9"/>
          <p:cNvSpPr txBox="true"/>
          <p:nvPr/>
        </p:nvSpPr>
        <p:spPr>
          <a:xfrm rot="0">
            <a:off x="769466" y="6685826"/>
            <a:ext cx="3236119" cy="869949"/>
          </a:xfrm>
          <a:prstGeom prst="rect">
            <a:avLst/>
          </a:prstGeom>
        </p:spPr>
        <p:txBody>
          <a:bodyPr anchor="t" rtlCol="false" tIns="0" lIns="0" bIns="0" rIns="0">
            <a:spAutoFit/>
          </a:bodyPr>
          <a:lstStyle/>
          <a:p>
            <a:pPr algn="ctr">
              <a:lnSpc>
                <a:spcPts val="3500"/>
              </a:lnSpc>
            </a:pPr>
            <a:r>
              <a:rPr lang="en-US" sz="2500">
                <a:solidFill>
                  <a:srgbClr val="000000"/>
                </a:solidFill>
                <a:latin typeface="Roboto"/>
                <a:ea typeface="Roboto"/>
                <a:cs typeface="Roboto"/>
                <a:sym typeface="Roboto"/>
              </a:rPr>
              <a:t>Vacunas, tratamientos </a:t>
            </a:r>
          </a:p>
          <a:p>
            <a:pPr algn="ctr">
              <a:lnSpc>
                <a:spcPts val="3500"/>
              </a:lnSpc>
              <a:spcBef>
                <a:spcPct val="0"/>
              </a:spcBef>
            </a:pPr>
            <a:r>
              <a:rPr lang="en-US" sz="2500">
                <a:solidFill>
                  <a:srgbClr val="000000"/>
                </a:solidFill>
                <a:latin typeface="Roboto"/>
                <a:ea typeface="Roboto"/>
                <a:cs typeface="Roboto"/>
                <a:sym typeface="Roboto"/>
              </a:rPr>
              <a:t>y recetas en papel.</a:t>
            </a:r>
          </a:p>
        </p:txBody>
      </p:sp>
      <p:sp>
        <p:nvSpPr>
          <p:cNvPr name="TextBox 10" id="10"/>
          <p:cNvSpPr txBox="true"/>
          <p:nvPr/>
        </p:nvSpPr>
        <p:spPr>
          <a:xfrm rot="0">
            <a:off x="5647879" y="6042025"/>
            <a:ext cx="2861310" cy="464820"/>
          </a:xfrm>
          <a:prstGeom prst="rect">
            <a:avLst/>
          </a:prstGeom>
        </p:spPr>
        <p:txBody>
          <a:bodyPr anchor="t" rtlCol="false" tIns="0" lIns="0" bIns="0" rIns="0">
            <a:spAutoFit/>
          </a:bodyPr>
          <a:lstStyle/>
          <a:p>
            <a:pPr algn="ctr">
              <a:lnSpc>
                <a:spcPts val="3780"/>
              </a:lnSpc>
              <a:spcBef>
                <a:spcPct val="0"/>
              </a:spcBef>
            </a:pPr>
            <a:r>
              <a:rPr lang="en-US" b="true" sz="2700">
                <a:solidFill>
                  <a:srgbClr val="000000"/>
                </a:solidFill>
                <a:latin typeface="Roboto Bold"/>
                <a:ea typeface="Roboto Bold"/>
                <a:cs typeface="Roboto Bold"/>
                <a:sym typeface="Roboto Bold"/>
              </a:rPr>
              <a:t>Digitalización OCR</a:t>
            </a:r>
          </a:p>
        </p:txBody>
      </p:sp>
      <p:sp>
        <p:nvSpPr>
          <p:cNvPr name="TextBox 11" id="11"/>
          <p:cNvSpPr txBox="true"/>
          <p:nvPr/>
        </p:nvSpPr>
        <p:spPr>
          <a:xfrm rot="0">
            <a:off x="5848637" y="6764020"/>
            <a:ext cx="2459795" cy="860957"/>
          </a:xfrm>
          <a:prstGeom prst="rect">
            <a:avLst/>
          </a:prstGeom>
        </p:spPr>
        <p:txBody>
          <a:bodyPr anchor="t" rtlCol="false" tIns="0" lIns="0" bIns="0" rIns="0">
            <a:spAutoFit/>
          </a:bodyPr>
          <a:lstStyle/>
          <a:p>
            <a:pPr algn="ctr">
              <a:lnSpc>
                <a:spcPts val="3420"/>
              </a:lnSpc>
            </a:pPr>
            <a:r>
              <a:rPr lang="en-US" sz="2443">
                <a:solidFill>
                  <a:srgbClr val="000000"/>
                </a:solidFill>
                <a:latin typeface="Roboto"/>
                <a:ea typeface="Roboto"/>
                <a:cs typeface="Roboto"/>
                <a:sym typeface="Roboto"/>
              </a:rPr>
              <a:t>El sistema extrae </a:t>
            </a:r>
          </a:p>
          <a:p>
            <a:pPr algn="ctr">
              <a:lnSpc>
                <a:spcPts val="3420"/>
              </a:lnSpc>
              <a:spcBef>
                <a:spcPct val="0"/>
              </a:spcBef>
            </a:pPr>
            <a:r>
              <a:rPr lang="en-US" sz="2443">
                <a:solidFill>
                  <a:srgbClr val="000000"/>
                </a:solidFill>
                <a:latin typeface="Roboto"/>
                <a:ea typeface="Roboto"/>
                <a:cs typeface="Roboto"/>
                <a:sym typeface="Roboto"/>
              </a:rPr>
              <a:t>y valida los datos.</a:t>
            </a:r>
          </a:p>
        </p:txBody>
      </p:sp>
      <p:sp>
        <p:nvSpPr>
          <p:cNvPr name="TextBox 12" id="12"/>
          <p:cNvSpPr txBox="true"/>
          <p:nvPr/>
        </p:nvSpPr>
        <p:spPr>
          <a:xfrm rot="0">
            <a:off x="10354709" y="6042025"/>
            <a:ext cx="2508726" cy="464820"/>
          </a:xfrm>
          <a:prstGeom prst="rect">
            <a:avLst/>
          </a:prstGeom>
        </p:spPr>
        <p:txBody>
          <a:bodyPr anchor="t" rtlCol="false" tIns="0" lIns="0" bIns="0" rIns="0">
            <a:spAutoFit/>
          </a:bodyPr>
          <a:lstStyle/>
          <a:p>
            <a:pPr algn="ctr">
              <a:lnSpc>
                <a:spcPts val="3780"/>
              </a:lnSpc>
              <a:spcBef>
                <a:spcPct val="0"/>
              </a:spcBef>
            </a:pPr>
            <a:r>
              <a:rPr lang="en-US" b="true" sz="2700">
                <a:solidFill>
                  <a:srgbClr val="000000"/>
                </a:solidFill>
                <a:latin typeface="Roboto Bold"/>
                <a:ea typeface="Roboto Bold"/>
                <a:cs typeface="Roboto Bold"/>
                <a:sym typeface="Roboto Bold"/>
              </a:rPr>
              <a:t>Perfil en la nube</a:t>
            </a:r>
          </a:p>
        </p:txBody>
      </p:sp>
      <p:sp>
        <p:nvSpPr>
          <p:cNvPr name="TextBox 13" id="13"/>
          <p:cNvSpPr txBox="true"/>
          <p:nvPr/>
        </p:nvSpPr>
        <p:spPr>
          <a:xfrm rot="0">
            <a:off x="10113431" y="6676301"/>
            <a:ext cx="2991282" cy="860957"/>
          </a:xfrm>
          <a:prstGeom prst="rect">
            <a:avLst/>
          </a:prstGeom>
        </p:spPr>
        <p:txBody>
          <a:bodyPr anchor="t" rtlCol="false" tIns="0" lIns="0" bIns="0" rIns="0">
            <a:spAutoFit/>
          </a:bodyPr>
          <a:lstStyle/>
          <a:p>
            <a:pPr algn="ctr">
              <a:lnSpc>
                <a:spcPts val="3420"/>
              </a:lnSpc>
            </a:pPr>
            <a:r>
              <a:rPr lang="en-US" sz="2443">
                <a:solidFill>
                  <a:srgbClr val="000000"/>
                </a:solidFill>
                <a:latin typeface="Roboto"/>
                <a:ea typeface="Roboto"/>
                <a:cs typeface="Roboto"/>
                <a:sym typeface="Roboto"/>
              </a:rPr>
              <a:t>Historial centralizado</a:t>
            </a:r>
          </a:p>
          <a:p>
            <a:pPr algn="ctr">
              <a:lnSpc>
                <a:spcPts val="3420"/>
              </a:lnSpc>
              <a:spcBef>
                <a:spcPct val="0"/>
              </a:spcBef>
            </a:pPr>
            <a:r>
              <a:rPr lang="en-US" sz="2443">
                <a:solidFill>
                  <a:srgbClr val="000000"/>
                </a:solidFill>
                <a:latin typeface="Roboto"/>
                <a:ea typeface="Roboto"/>
                <a:cs typeface="Roboto"/>
                <a:sym typeface="Roboto"/>
              </a:rPr>
              <a:t> y siempre disponible.</a:t>
            </a:r>
          </a:p>
        </p:txBody>
      </p:sp>
      <p:sp>
        <p:nvSpPr>
          <p:cNvPr name="TextBox 14" id="14"/>
          <p:cNvSpPr txBox="true"/>
          <p:nvPr/>
        </p:nvSpPr>
        <p:spPr>
          <a:xfrm rot="0">
            <a:off x="14888609" y="6042025"/>
            <a:ext cx="3011329" cy="464820"/>
          </a:xfrm>
          <a:prstGeom prst="rect">
            <a:avLst/>
          </a:prstGeom>
        </p:spPr>
        <p:txBody>
          <a:bodyPr anchor="t" rtlCol="false" tIns="0" lIns="0" bIns="0" rIns="0">
            <a:spAutoFit/>
          </a:bodyPr>
          <a:lstStyle/>
          <a:p>
            <a:pPr algn="ctr">
              <a:lnSpc>
                <a:spcPts val="3780"/>
              </a:lnSpc>
              <a:spcBef>
                <a:spcPct val="0"/>
              </a:spcBef>
            </a:pPr>
            <a:r>
              <a:rPr lang="en-US" b="true" sz="2700">
                <a:solidFill>
                  <a:srgbClr val="000000"/>
                </a:solidFill>
                <a:latin typeface="Roboto Bold"/>
                <a:ea typeface="Roboto Bold"/>
                <a:cs typeface="Roboto Bold"/>
                <a:sym typeface="Roboto Bold"/>
              </a:rPr>
              <a:t>QR/NFC en el collar</a:t>
            </a:r>
          </a:p>
        </p:txBody>
      </p:sp>
      <p:sp>
        <p:nvSpPr>
          <p:cNvPr name="TextBox 15" id="15"/>
          <p:cNvSpPr txBox="true"/>
          <p:nvPr/>
        </p:nvSpPr>
        <p:spPr>
          <a:xfrm rot="0">
            <a:off x="14471892" y="6676301"/>
            <a:ext cx="3816108" cy="1289126"/>
          </a:xfrm>
          <a:prstGeom prst="rect">
            <a:avLst/>
          </a:prstGeom>
        </p:spPr>
        <p:txBody>
          <a:bodyPr anchor="t" rtlCol="false" tIns="0" lIns="0" bIns="0" rIns="0">
            <a:spAutoFit/>
          </a:bodyPr>
          <a:lstStyle/>
          <a:p>
            <a:pPr algn="ctr">
              <a:lnSpc>
                <a:spcPts val="3420"/>
              </a:lnSpc>
              <a:spcBef>
                <a:spcPct val="0"/>
              </a:spcBef>
            </a:pPr>
            <a:r>
              <a:rPr lang="en-US" sz="2443">
                <a:solidFill>
                  <a:srgbClr val="000000"/>
                </a:solidFill>
                <a:latin typeface="Roboto"/>
                <a:ea typeface="Roboto"/>
                <a:cs typeface="Roboto"/>
                <a:sym typeface="Roboto"/>
              </a:rPr>
              <a:t>Acceso instantáneo a datos de emergencia, sin instalar la app.</a:t>
            </a:r>
          </a:p>
        </p:txBody>
      </p:sp>
      <p:sp>
        <p:nvSpPr>
          <p:cNvPr name="Freeform 16" id="16"/>
          <p:cNvSpPr/>
          <p:nvPr/>
        </p:nvSpPr>
        <p:spPr>
          <a:xfrm flipH="false" flipV="false" rot="0">
            <a:off x="8422961" y="4877686"/>
            <a:ext cx="2112306" cy="591446"/>
          </a:xfrm>
          <a:custGeom>
            <a:avLst/>
            <a:gdLst/>
            <a:ahLst/>
            <a:cxnLst/>
            <a:rect r="r" b="b" t="t" l="l"/>
            <a:pathLst>
              <a:path h="591446" w="2112306">
                <a:moveTo>
                  <a:pt x="0" y="0"/>
                </a:moveTo>
                <a:lnTo>
                  <a:pt x="2112306" y="0"/>
                </a:lnTo>
                <a:lnTo>
                  <a:pt x="2112306" y="591446"/>
                </a:lnTo>
                <a:lnTo>
                  <a:pt x="0" y="59144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7" id="17"/>
          <p:cNvSpPr/>
          <p:nvPr/>
        </p:nvSpPr>
        <p:spPr>
          <a:xfrm flipH="false" flipV="false" rot="0">
            <a:off x="13128368" y="4847777"/>
            <a:ext cx="2112306" cy="591446"/>
          </a:xfrm>
          <a:custGeom>
            <a:avLst/>
            <a:gdLst/>
            <a:ahLst/>
            <a:cxnLst/>
            <a:rect r="r" b="b" t="t" l="l"/>
            <a:pathLst>
              <a:path h="591446" w="2112306">
                <a:moveTo>
                  <a:pt x="0" y="0"/>
                </a:moveTo>
                <a:lnTo>
                  <a:pt x="2112306" y="0"/>
                </a:lnTo>
                <a:lnTo>
                  <a:pt x="2112306" y="591446"/>
                </a:lnTo>
                <a:lnTo>
                  <a:pt x="0" y="59144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028700" y="3762183"/>
            <a:ext cx="16230600" cy="2762634"/>
            <a:chOff x="0" y="0"/>
            <a:chExt cx="4274726" cy="727607"/>
          </a:xfrm>
        </p:grpSpPr>
        <p:sp>
          <p:nvSpPr>
            <p:cNvPr name="Freeform 3" id="3"/>
            <p:cNvSpPr/>
            <p:nvPr/>
          </p:nvSpPr>
          <p:spPr>
            <a:xfrm flipH="false" flipV="false" rot="0">
              <a:off x="0" y="0"/>
              <a:ext cx="4274726" cy="727607"/>
            </a:xfrm>
            <a:custGeom>
              <a:avLst/>
              <a:gdLst/>
              <a:ahLst/>
              <a:cxnLst/>
              <a:rect r="r" b="b" t="t" l="l"/>
              <a:pathLst>
                <a:path h="727607" w="4274726">
                  <a:moveTo>
                    <a:pt x="0" y="0"/>
                  </a:moveTo>
                  <a:lnTo>
                    <a:pt x="4274726" y="0"/>
                  </a:lnTo>
                  <a:lnTo>
                    <a:pt x="4274726" y="727607"/>
                  </a:lnTo>
                  <a:lnTo>
                    <a:pt x="0" y="727607"/>
                  </a:lnTo>
                  <a:close/>
                </a:path>
              </a:pathLst>
            </a:custGeom>
            <a:solidFill>
              <a:srgbClr val="6B9C6F"/>
            </a:solidFill>
          </p:spPr>
        </p:sp>
        <p:sp>
          <p:nvSpPr>
            <p:cNvPr name="TextBox 4" id="4"/>
            <p:cNvSpPr txBox="true"/>
            <p:nvPr/>
          </p:nvSpPr>
          <p:spPr>
            <a:xfrm>
              <a:off x="0" y="-38100"/>
              <a:ext cx="4274726" cy="765707"/>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8203019" y="6967899"/>
            <a:ext cx="1881963" cy="1881963"/>
          </a:xfrm>
          <a:custGeom>
            <a:avLst/>
            <a:gdLst/>
            <a:ahLst/>
            <a:cxnLst/>
            <a:rect r="r" b="b" t="t" l="l"/>
            <a:pathLst>
              <a:path h="1881963" w="1881963">
                <a:moveTo>
                  <a:pt x="0" y="0"/>
                </a:moveTo>
                <a:lnTo>
                  <a:pt x="1881962" y="0"/>
                </a:lnTo>
                <a:lnTo>
                  <a:pt x="1881962" y="1881963"/>
                </a:lnTo>
                <a:lnTo>
                  <a:pt x="0" y="1881963"/>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TextBox 6" id="6"/>
          <p:cNvSpPr txBox="true"/>
          <p:nvPr/>
        </p:nvSpPr>
        <p:spPr>
          <a:xfrm rot="0">
            <a:off x="1028700" y="705803"/>
            <a:ext cx="12099668" cy="664844"/>
          </a:xfrm>
          <a:prstGeom prst="rect">
            <a:avLst/>
          </a:prstGeom>
        </p:spPr>
        <p:txBody>
          <a:bodyPr anchor="t" rtlCol="false" tIns="0" lIns="0" bIns="0" rIns="0">
            <a:spAutoFit/>
          </a:bodyPr>
          <a:lstStyle/>
          <a:p>
            <a:pPr algn="l">
              <a:lnSpc>
                <a:spcPts val="5039"/>
              </a:lnSpc>
              <a:spcBef>
                <a:spcPct val="0"/>
              </a:spcBef>
            </a:pPr>
            <a:r>
              <a:rPr lang="en-US" sz="4499" spc="1331">
                <a:solidFill>
                  <a:srgbClr val="000000"/>
                </a:solidFill>
                <a:latin typeface="Roboto"/>
                <a:ea typeface="Roboto"/>
                <a:cs typeface="Roboto"/>
                <a:sym typeface="Roboto"/>
              </a:rPr>
              <a:t>OBJETIVO GENERAL</a:t>
            </a:r>
          </a:p>
        </p:txBody>
      </p:sp>
      <p:sp>
        <p:nvSpPr>
          <p:cNvPr name="TextBox 7" id="7"/>
          <p:cNvSpPr txBox="true"/>
          <p:nvPr/>
        </p:nvSpPr>
        <p:spPr>
          <a:xfrm rot="0">
            <a:off x="1594884" y="4210367"/>
            <a:ext cx="15098233" cy="1790066"/>
          </a:xfrm>
          <a:prstGeom prst="rect">
            <a:avLst/>
          </a:prstGeom>
        </p:spPr>
        <p:txBody>
          <a:bodyPr anchor="t" rtlCol="false" tIns="0" lIns="0" bIns="0" rIns="0">
            <a:spAutoFit/>
          </a:bodyPr>
          <a:lstStyle/>
          <a:p>
            <a:pPr algn="ctr">
              <a:lnSpc>
                <a:spcPts val="4759"/>
              </a:lnSpc>
              <a:spcBef>
                <a:spcPct val="0"/>
              </a:spcBef>
            </a:pPr>
            <a:r>
              <a:rPr lang="en-US" sz="3399">
                <a:solidFill>
                  <a:srgbClr val="FFFFFF"/>
                </a:solidFill>
                <a:latin typeface="Roboto"/>
                <a:ea typeface="Roboto"/>
                <a:cs typeface="Roboto"/>
                <a:sym typeface="Roboto"/>
              </a:rPr>
              <a:t>Desarrollar una aplicación móvil/web responsiva para la gestión integral de historiales veterinarios mediante tecnologías OCR e identificación por QR/NFC.</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858567" y="1261517"/>
            <a:ext cx="16619419" cy="7308825"/>
            <a:chOff x="0" y="0"/>
            <a:chExt cx="4377131" cy="1924958"/>
          </a:xfrm>
        </p:grpSpPr>
        <p:sp>
          <p:nvSpPr>
            <p:cNvPr name="Freeform 3" id="3"/>
            <p:cNvSpPr/>
            <p:nvPr/>
          </p:nvSpPr>
          <p:spPr>
            <a:xfrm flipH="false" flipV="false" rot="0">
              <a:off x="0" y="0"/>
              <a:ext cx="4377131" cy="1924958"/>
            </a:xfrm>
            <a:custGeom>
              <a:avLst/>
              <a:gdLst/>
              <a:ahLst/>
              <a:cxnLst/>
              <a:rect r="r" b="b" t="t" l="l"/>
              <a:pathLst>
                <a:path h="1924958" w="4377131">
                  <a:moveTo>
                    <a:pt x="0" y="0"/>
                  </a:moveTo>
                  <a:lnTo>
                    <a:pt x="4377131" y="0"/>
                  </a:lnTo>
                  <a:lnTo>
                    <a:pt x="4377131" y="1924958"/>
                  </a:lnTo>
                  <a:lnTo>
                    <a:pt x="0" y="1924958"/>
                  </a:lnTo>
                  <a:close/>
                </a:path>
              </a:pathLst>
            </a:custGeom>
            <a:solidFill>
              <a:srgbClr val="6B9C6F"/>
            </a:solidFill>
            <a:ln w="133350" cap="sq">
              <a:solidFill>
                <a:srgbClr val="6B9C6F"/>
              </a:solidFill>
              <a:prstDash val="solid"/>
              <a:miter/>
            </a:ln>
          </p:spPr>
        </p:sp>
        <p:sp>
          <p:nvSpPr>
            <p:cNvPr name="TextBox 4" id="4"/>
            <p:cNvSpPr txBox="true"/>
            <p:nvPr/>
          </p:nvSpPr>
          <p:spPr>
            <a:xfrm>
              <a:off x="0" y="-38100"/>
              <a:ext cx="4377131" cy="1963058"/>
            </a:xfrm>
            <a:prstGeom prst="rect">
              <a:avLst/>
            </a:prstGeom>
          </p:spPr>
          <p:txBody>
            <a:bodyPr anchor="ctr" rtlCol="false" tIns="50800" lIns="50800" bIns="50800" rIns="50800"/>
            <a:lstStyle/>
            <a:p>
              <a:pPr algn="ctr">
                <a:lnSpc>
                  <a:spcPts val="2659"/>
                </a:lnSpc>
              </a:pPr>
            </a:p>
          </p:txBody>
        </p:sp>
      </p:grpSp>
      <p:grpSp>
        <p:nvGrpSpPr>
          <p:cNvPr name="Group 5" id="5"/>
          <p:cNvGrpSpPr/>
          <p:nvPr/>
        </p:nvGrpSpPr>
        <p:grpSpPr>
          <a:xfrm rot="0">
            <a:off x="3091519" y="0"/>
            <a:ext cx="15035243" cy="6828038"/>
            <a:chOff x="0" y="0"/>
            <a:chExt cx="3959899" cy="1798331"/>
          </a:xfrm>
        </p:grpSpPr>
        <p:sp>
          <p:nvSpPr>
            <p:cNvPr name="Freeform 6" id="6"/>
            <p:cNvSpPr/>
            <p:nvPr/>
          </p:nvSpPr>
          <p:spPr>
            <a:xfrm flipH="false" flipV="false" rot="0">
              <a:off x="0" y="0"/>
              <a:ext cx="3959899" cy="1798331"/>
            </a:xfrm>
            <a:custGeom>
              <a:avLst/>
              <a:gdLst/>
              <a:ahLst/>
              <a:cxnLst/>
              <a:rect r="r" b="b" t="t" l="l"/>
              <a:pathLst>
                <a:path h="1798331" w="3959899">
                  <a:moveTo>
                    <a:pt x="0" y="0"/>
                  </a:moveTo>
                  <a:lnTo>
                    <a:pt x="3959899" y="0"/>
                  </a:lnTo>
                  <a:lnTo>
                    <a:pt x="3959899" y="1798331"/>
                  </a:lnTo>
                  <a:lnTo>
                    <a:pt x="0" y="1798331"/>
                  </a:lnTo>
                  <a:close/>
                </a:path>
              </a:pathLst>
            </a:custGeom>
            <a:solidFill>
              <a:srgbClr val="6B9C6F"/>
            </a:solidFill>
          </p:spPr>
        </p:sp>
        <p:sp>
          <p:nvSpPr>
            <p:cNvPr name="TextBox 7" id="7"/>
            <p:cNvSpPr txBox="true"/>
            <p:nvPr/>
          </p:nvSpPr>
          <p:spPr>
            <a:xfrm>
              <a:off x="0" y="-38100"/>
              <a:ext cx="3959899" cy="1836431"/>
            </a:xfrm>
            <a:prstGeom prst="rect">
              <a:avLst/>
            </a:prstGeom>
          </p:spPr>
          <p:txBody>
            <a:bodyPr anchor="ctr" rtlCol="false" tIns="50800" lIns="50800" bIns="50800" rIns="50800"/>
            <a:lstStyle/>
            <a:p>
              <a:pPr algn="ctr">
                <a:lnSpc>
                  <a:spcPts val="2659"/>
                </a:lnSpc>
              </a:pPr>
            </a:p>
          </p:txBody>
        </p:sp>
      </p:grpSp>
      <p:grpSp>
        <p:nvGrpSpPr>
          <p:cNvPr name="Group 8" id="8"/>
          <p:cNvGrpSpPr/>
          <p:nvPr/>
        </p:nvGrpSpPr>
        <p:grpSpPr>
          <a:xfrm rot="0">
            <a:off x="4472820" y="1958133"/>
            <a:ext cx="1140481" cy="1119361"/>
            <a:chOff x="0" y="0"/>
            <a:chExt cx="685800" cy="673100"/>
          </a:xfrm>
        </p:grpSpPr>
        <p:sp>
          <p:nvSpPr>
            <p:cNvPr name="Freeform 9" id="9"/>
            <p:cNvSpPr/>
            <p:nvPr/>
          </p:nvSpPr>
          <p:spPr>
            <a:xfrm flipH="false" flipV="false" rot="0">
              <a:off x="0" y="0"/>
              <a:ext cx="685800" cy="668020"/>
            </a:xfrm>
            <a:custGeom>
              <a:avLst/>
              <a:gdLst/>
              <a:ahLst/>
              <a:cxnLst/>
              <a:rect r="r" b="b" t="t" l="l"/>
              <a:pathLst>
                <a:path h="668020" w="685800">
                  <a:moveTo>
                    <a:pt x="342900" y="0"/>
                  </a:moveTo>
                  <a:lnTo>
                    <a:pt x="434340" y="162560"/>
                  </a:lnTo>
                  <a:lnTo>
                    <a:pt x="618490" y="132080"/>
                  </a:lnTo>
                  <a:lnTo>
                    <a:pt x="547370" y="304800"/>
                  </a:lnTo>
                  <a:lnTo>
                    <a:pt x="685800" y="430530"/>
                  </a:lnTo>
                  <a:lnTo>
                    <a:pt x="506730" y="482600"/>
                  </a:lnTo>
                  <a:lnTo>
                    <a:pt x="495300" y="668020"/>
                  </a:lnTo>
                  <a:lnTo>
                    <a:pt x="342900" y="561340"/>
                  </a:lnTo>
                  <a:lnTo>
                    <a:pt x="190500" y="668020"/>
                  </a:lnTo>
                  <a:lnTo>
                    <a:pt x="179070" y="482600"/>
                  </a:lnTo>
                  <a:lnTo>
                    <a:pt x="0" y="430530"/>
                  </a:lnTo>
                  <a:lnTo>
                    <a:pt x="138430" y="304800"/>
                  </a:lnTo>
                  <a:lnTo>
                    <a:pt x="67310" y="132080"/>
                  </a:lnTo>
                  <a:lnTo>
                    <a:pt x="251460" y="162560"/>
                  </a:lnTo>
                  <a:close/>
                </a:path>
              </a:pathLst>
            </a:custGeom>
            <a:solidFill>
              <a:srgbClr val="FFFFFF"/>
            </a:solidFill>
          </p:spPr>
        </p:sp>
        <p:sp>
          <p:nvSpPr>
            <p:cNvPr name="TextBox 10" id="10"/>
            <p:cNvSpPr txBox="true"/>
            <p:nvPr/>
          </p:nvSpPr>
          <p:spPr>
            <a:xfrm>
              <a:off x="139700" y="127000"/>
              <a:ext cx="406400" cy="431800"/>
            </a:xfrm>
            <a:prstGeom prst="rect">
              <a:avLst/>
            </a:prstGeom>
          </p:spPr>
          <p:txBody>
            <a:bodyPr anchor="ctr" rtlCol="false" tIns="50800" lIns="50800" bIns="50800" rIns="50800"/>
            <a:lstStyle/>
            <a:p>
              <a:pPr algn="ctr">
                <a:lnSpc>
                  <a:spcPts val="2659"/>
                </a:lnSpc>
              </a:pPr>
            </a:p>
          </p:txBody>
        </p:sp>
      </p:grpSp>
      <p:sp>
        <p:nvSpPr>
          <p:cNvPr name="Freeform 11" id="11"/>
          <p:cNvSpPr/>
          <p:nvPr/>
        </p:nvSpPr>
        <p:spPr>
          <a:xfrm flipH="false" flipV="false" rot="0">
            <a:off x="10049459" y="1958133"/>
            <a:ext cx="1119361" cy="1119361"/>
          </a:xfrm>
          <a:custGeom>
            <a:avLst/>
            <a:gdLst/>
            <a:ahLst/>
            <a:cxnLst/>
            <a:rect r="r" b="b" t="t" l="l"/>
            <a:pathLst>
              <a:path h="1119361" w="1119361">
                <a:moveTo>
                  <a:pt x="0" y="0"/>
                </a:moveTo>
                <a:lnTo>
                  <a:pt x="1119361" y="0"/>
                </a:lnTo>
                <a:lnTo>
                  <a:pt x="1119361" y="1119361"/>
                </a:lnTo>
                <a:lnTo>
                  <a:pt x="0" y="1119361"/>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2" id="12"/>
          <p:cNvSpPr/>
          <p:nvPr/>
        </p:nvSpPr>
        <p:spPr>
          <a:xfrm flipH="false" flipV="false" rot="0">
            <a:off x="15088609" y="1885582"/>
            <a:ext cx="1324045" cy="1264463"/>
          </a:xfrm>
          <a:custGeom>
            <a:avLst/>
            <a:gdLst/>
            <a:ahLst/>
            <a:cxnLst/>
            <a:rect r="r" b="b" t="t" l="l"/>
            <a:pathLst>
              <a:path h="1264463" w="1324045">
                <a:moveTo>
                  <a:pt x="0" y="0"/>
                </a:moveTo>
                <a:lnTo>
                  <a:pt x="1324044" y="0"/>
                </a:lnTo>
                <a:lnTo>
                  <a:pt x="1324044" y="1264463"/>
                </a:lnTo>
                <a:lnTo>
                  <a:pt x="0" y="1264463"/>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3" id="13"/>
          <p:cNvSpPr txBox="true"/>
          <p:nvPr/>
        </p:nvSpPr>
        <p:spPr>
          <a:xfrm rot="0">
            <a:off x="4911741" y="705803"/>
            <a:ext cx="10838889" cy="664844"/>
          </a:xfrm>
          <a:prstGeom prst="rect">
            <a:avLst/>
          </a:prstGeom>
        </p:spPr>
        <p:txBody>
          <a:bodyPr anchor="t" rtlCol="false" tIns="0" lIns="0" bIns="0" rIns="0">
            <a:spAutoFit/>
          </a:bodyPr>
          <a:lstStyle/>
          <a:p>
            <a:pPr algn="l">
              <a:lnSpc>
                <a:spcPts val="5039"/>
              </a:lnSpc>
              <a:spcBef>
                <a:spcPct val="0"/>
              </a:spcBef>
            </a:pPr>
            <a:r>
              <a:rPr lang="en-US" sz="4499" spc="1331">
                <a:solidFill>
                  <a:srgbClr val="FFFFFF"/>
                </a:solidFill>
                <a:latin typeface="Roboto"/>
                <a:ea typeface="Roboto"/>
                <a:cs typeface="Roboto"/>
                <a:sym typeface="Roboto"/>
              </a:rPr>
              <a:t>OBJETIVOS ESPECÍFICOS</a:t>
            </a:r>
          </a:p>
        </p:txBody>
      </p:sp>
      <p:sp>
        <p:nvSpPr>
          <p:cNvPr name="TextBox 14" id="14"/>
          <p:cNvSpPr txBox="true"/>
          <p:nvPr/>
        </p:nvSpPr>
        <p:spPr>
          <a:xfrm rot="0">
            <a:off x="3639941" y="3804679"/>
            <a:ext cx="2806241" cy="2174875"/>
          </a:xfrm>
          <a:prstGeom prst="rect">
            <a:avLst/>
          </a:prstGeom>
        </p:spPr>
        <p:txBody>
          <a:bodyPr anchor="t" rtlCol="false" tIns="0" lIns="0" bIns="0" rIns="0">
            <a:spAutoFit/>
          </a:bodyPr>
          <a:lstStyle/>
          <a:p>
            <a:pPr algn="ctr">
              <a:lnSpc>
                <a:spcPts val="3499"/>
              </a:lnSpc>
            </a:pPr>
            <a:r>
              <a:rPr lang="en-US" sz="2499">
                <a:solidFill>
                  <a:srgbClr val="FFFFFF"/>
                </a:solidFill>
                <a:latin typeface="Roboto"/>
                <a:ea typeface="Roboto"/>
                <a:cs typeface="Roboto"/>
                <a:sym typeface="Roboto"/>
              </a:rPr>
              <a:t>Retención de usuarios activos mensuales al finalizar el primer semestre.</a:t>
            </a:r>
          </a:p>
        </p:txBody>
      </p:sp>
      <p:sp>
        <p:nvSpPr>
          <p:cNvPr name="TextBox 15" id="15"/>
          <p:cNvSpPr txBox="true"/>
          <p:nvPr/>
        </p:nvSpPr>
        <p:spPr>
          <a:xfrm rot="0">
            <a:off x="4341501" y="3156606"/>
            <a:ext cx="1403120" cy="540386"/>
          </a:xfrm>
          <a:prstGeom prst="rect">
            <a:avLst/>
          </a:prstGeom>
        </p:spPr>
        <p:txBody>
          <a:bodyPr anchor="t" rtlCol="false" tIns="0" lIns="0" bIns="0" rIns="0">
            <a:spAutoFit/>
          </a:bodyPr>
          <a:lstStyle/>
          <a:p>
            <a:pPr algn="ctr">
              <a:lnSpc>
                <a:spcPts val="4339"/>
              </a:lnSpc>
              <a:spcBef>
                <a:spcPct val="0"/>
              </a:spcBef>
            </a:pPr>
            <a:r>
              <a:rPr lang="en-US" b="true" sz="3099" i="true">
                <a:solidFill>
                  <a:srgbClr val="FFFFFF"/>
                </a:solidFill>
                <a:latin typeface="Roboto Bold Italics"/>
                <a:ea typeface="Roboto Bold Italics"/>
                <a:cs typeface="Roboto Bold Italics"/>
                <a:sym typeface="Roboto Bold Italics"/>
              </a:rPr>
              <a:t>40%</a:t>
            </a:r>
          </a:p>
        </p:txBody>
      </p:sp>
      <p:sp>
        <p:nvSpPr>
          <p:cNvPr name="TextBox 16" id="16"/>
          <p:cNvSpPr txBox="true"/>
          <p:nvPr/>
        </p:nvSpPr>
        <p:spPr>
          <a:xfrm rot="0">
            <a:off x="9907580" y="3156606"/>
            <a:ext cx="1403120" cy="540386"/>
          </a:xfrm>
          <a:prstGeom prst="rect">
            <a:avLst/>
          </a:prstGeom>
        </p:spPr>
        <p:txBody>
          <a:bodyPr anchor="t" rtlCol="false" tIns="0" lIns="0" bIns="0" rIns="0">
            <a:spAutoFit/>
          </a:bodyPr>
          <a:lstStyle/>
          <a:p>
            <a:pPr algn="ctr">
              <a:lnSpc>
                <a:spcPts val="4339"/>
              </a:lnSpc>
              <a:spcBef>
                <a:spcPct val="0"/>
              </a:spcBef>
            </a:pPr>
            <a:r>
              <a:rPr lang="en-US" b="true" sz="3099" i="true">
                <a:solidFill>
                  <a:srgbClr val="FFFFFF"/>
                </a:solidFill>
                <a:latin typeface="Roboto Bold Italics"/>
                <a:ea typeface="Roboto Bold Italics"/>
                <a:cs typeface="Roboto Bold Italics"/>
                <a:sym typeface="Roboto Bold Italics"/>
              </a:rPr>
              <a:t>4.0/5</a:t>
            </a:r>
          </a:p>
        </p:txBody>
      </p:sp>
      <p:sp>
        <p:nvSpPr>
          <p:cNvPr name="TextBox 17" id="17"/>
          <p:cNvSpPr txBox="true"/>
          <p:nvPr/>
        </p:nvSpPr>
        <p:spPr>
          <a:xfrm rot="0">
            <a:off x="9206019" y="3804679"/>
            <a:ext cx="2806241" cy="2613025"/>
          </a:xfrm>
          <a:prstGeom prst="rect">
            <a:avLst/>
          </a:prstGeom>
        </p:spPr>
        <p:txBody>
          <a:bodyPr anchor="t" rtlCol="false" tIns="0" lIns="0" bIns="0" rIns="0">
            <a:spAutoFit/>
          </a:bodyPr>
          <a:lstStyle/>
          <a:p>
            <a:pPr algn="ctr">
              <a:lnSpc>
                <a:spcPts val="3499"/>
              </a:lnSpc>
            </a:pPr>
            <a:r>
              <a:rPr lang="en-US" sz="2499">
                <a:solidFill>
                  <a:srgbClr val="FFFFFF"/>
                </a:solidFill>
                <a:latin typeface="Roboto"/>
                <a:ea typeface="Roboto"/>
                <a:cs typeface="Roboto"/>
                <a:sym typeface="Roboto"/>
              </a:rPr>
              <a:t>Calificación promedio en tiendas de aplicaciones al finalizar el primer año.</a:t>
            </a:r>
          </a:p>
        </p:txBody>
      </p:sp>
      <p:sp>
        <p:nvSpPr>
          <p:cNvPr name="TextBox 18" id="18"/>
          <p:cNvSpPr txBox="true"/>
          <p:nvPr/>
        </p:nvSpPr>
        <p:spPr>
          <a:xfrm rot="0">
            <a:off x="15009533" y="3156606"/>
            <a:ext cx="1403120" cy="540386"/>
          </a:xfrm>
          <a:prstGeom prst="rect">
            <a:avLst/>
          </a:prstGeom>
        </p:spPr>
        <p:txBody>
          <a:bodyPr anchor="t" rtlCol="false" tIns="0" lIns="0" bIns="0" rIns="0">
            <a:spAutoFit/>
          </a:bodyPr>
          <a:lstStyle/>
          <a:p>
            <a:pPr algn="ctr">
              <a:lnSpc>
                <a:spcPts val="4339"/>
              </a:lnSpc>
              <a:spcBef>
                <a:spcPct val="0"/>
              </a:spcBef>
            </a:pPr>
            <a:r>
              <a:rPr lang="en-US" b="true" sz="3099" i="true">
                <a:solidFill>
                  <a:srgbClr val="FFFFFF"/>
                </a:solidFill>
                <a:latin typeface="Roboto Bold Italics"/>
                <a:ea typeface="Roboto Bold Italics"/>
                <a:cs typeface="Roboto Bold Italics"/>
                <a:sym typeface="Roboto Bold Italics"/>
              </a:rPr>
              <a:t>30%</a:t>
            </a:r>
          </a:p>
        </p:txBody>
      </p:sp>
      <p:sp>
        <p:nvSpPr>
          <p:cNvPr name="TextBox 19" id="19"/>
          <p:cNvSpPr txBox="true"/>
          <p:nvPr/>
        </p:nvSpPr>
        <p:spPr>
          <a:xfrm rot="0">
            <a:off x="14307972" y="3804679"/>
            <a:ext cx="2806241" cy="2174875"/>
          </a:xfrm>
          <a:prstGeom prst="rect">
            <a:avLst/>
          </a:prstGeom>
        </p:spPr>
        <p:txBody>
          <a:bodyPr anchor="t" rtlCol="false" tIns="0" lIns="0" bIns="0" rIns="0">
            <a:spAutoFit/>
          </a:bodyPr>
          <a:lstStyle/>
          <a:p>
            <a:pPr algn="ctr">
              <a:lnSpc>
                <a:spcPts val="3499"/>
              </a:lnSpc>
            </a:pPr>
            <a:r>
              <a:rPr lang="en-US" sz="2499">
                <a:solidFill>
                  <a:srgbClr val="FFFFFF"/>
                </a:solidFill>
                <a:latin typeface="Roboto"/>
                <a:ea typeface="Roboto"/>
                <a:cs typeface="Roboto"/>
                <a:sym typeface="Roboto"/>
              </a:rPr>
              <a:t>De los usuarios vincula una placa NFC física a su mascota en los primeros 6 meses.</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217565" y="226004"/>
            <a:ext cx="11021452" cy="1405433"/>
            <a:chOff x="0" y="0"/>
            <a:chExt cx="2902769" cy="370155"/>
          </a:xfrm>
        </p:grpSpPr>
        <p:sp>
          <p:nvSpPr>
            <p:cNvPr name="Freeform 3" id="3"/>
            <p:cNvSpPr/>
            <p:nvPr/>
          </p:nvSpPr>
          <p:spPr>
            <a:xfrm flipH="false" flipV="false" rot="0">
              <a:off x="0" y="0"/>
              <a:ext cx="2902769" cy="370155"/>
            </a:xfrm>
            <a:custGeom>
              <a:avLst/>
              <a:gdLst/>
              <a:ahLst/>
              <a:cxnLst/>
              <a:rect r="r" b="b" t="t" l="l"/>
              <a:pathLst>
                <a:path h="370155" w="2902769">
                  <a:moveTo>
                    <a:pt x="0" y="0"/>
                  </a:moveTo>
                  <a:lnTo>
                    <a:pt x="2902769" y="0"/>
                  </a:lnTo>
                  <a:lnTo>
                    <a:pt x="2902769" y="370155"/>
                  </a:lnTo>
                  <a:lnTo>
                    <a:pt x="0" y="370155"/>
                  </a:lnTo>
                  <a:close/>
                </a:path>
              </a:pathLst>
            </a:custGeom>
            <a:solidFill>
              <a:srgbClr val="6B9C6F"/>
            </a:solidFill>
          </p:spPr>
        </p:sp>
        <p:sp>
          <p:nvSpPr>
            <p:cNvPr name="TextBox 4" id="4"/>
            <p:cNvSpPr txBox="true"/>
            <p:nvPr/>
          </p:nvSpPr>
          <p:spPr>
            <a:xfrm>
              <a:off x="0" y="-38100"/>
              <a:ext cx="2902769" cy="408255"/>
            </a:xfrm>
            <a:prstGeom prst="rect">
              <a:avLst/>
            </a:prstGeom>
          </p:spPr>
          <p:txBody>
            <a:bodyPr anchor="ctr" rtlCol="false" tIns="50800" lIns="50800" bIns="50800" rIns="50800"/>
            <a:lstStyle/>
            <a:p>
              <a:pPr algn="ctr">
                <a:lnSpc>
                  <a:spcPts val="2659"/>
                </a:lnSpc>
              </a:pPr>
            </a:p>
          </p:txBody>
        </p:sp>
      </p:grpSp>
      <p:graphicFrame>
        <p:nvGraphicFramePr>
          <p:cNvPr name="Table 5" id="5"/>
          <p:cNvGraphicFramePr>
            <a:graphicFrameLocks noGrp="true"/>
          </p:cNvGraphicFramePr>
          <p:nvPr/>
        </p:nvGraphicFramePr>
        <p:xfrm>
          <a:off x="1028700" y="1891288"/>
          <a:ext cx="16394076" cy="8046378"/>
        </p:xfrm>
        <a:graphic>
          <a:graphicData uri="http://schemas.openxmlformats.org/drawingml/2006/table">
            <a:tbl>
              <a:tblPr/>
              <a:tblGrid>
                <a:gridCol w="8197038"/>
                <a:gridCol w="8197038"/>
              </a:tblGrid>
              <a:tr h="1341063">
                <a:tc>
                  <a:txBody>
                    <a:bodyPr anchor="t" rtlCol="false"/>
                    <a:lstStyle/>
                    <a:p>
                      <a:pPr algn="ctr">
                        <a:lnSpc>
                          <a:spcPts val="4759"/>
                        </a:lnSpc>
                        <a:defRPr/>
                      </a:pPr>
                      <a:r>
                        <a:rPr lang="en-US" sz="3399" b="true">
                          <a:solidFill>
                            <a:srgbClr val="FFFFFF"/>
                          </a:solidFill>
                          <a:latin typeface="Roboto Bold"/>
                          <a:ea typeface="Roboto Bold"/>
                          <a:cs typeface="Roboto Bold"/>
                          <a:sym typeface="Roboto Bold"/>
                        </a:rPr>
                        <a:t>Alcances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3E5F59"/>
                    </a:solidFill>
                  </a:tcPr>
                </a:tc>
                <a:tc>
                  <a:txBody>
                    <a:bodyPr anchor="t" rtlCol="false"/>
                    <a:lstStyle/>
                    <a:p>
                      <a:pPr algn="ctr">
                        <a:lnSpc>
                          <a:spcPts val="4759"/>
                        </a:lnSpc>
                        <a:defRPr/>
                      </a:pPr>
                      <a:r>
                        <a:rPr lang="en-US" sz="3399" b="true">
                          <a:solidFill>
                            <a:srgbClr val="FFFFFF"/>
                          </a:solidFill>
                          <a:latin typeface="Roboto Bold"/>
                          <a:ea typeface="Roboto Bold"/>
                          <a:cs typeface="Roboto Bold"/>
                          <a:sym typeface="Roboto Bold"/>
                        </a:rPr>
                        <a:t>Limitaciones</a:t>
                      </a:r>
                      <a:endParaRPr lang="en-US" sz="1100"/>
                    </a:p>
                  </a:txBody>
                  <a:tcPr marL="190500" marR="190500" marT="190500" marB="190500" anchor="ctr">
                    <a:lnL cmpd="sng" algn="ctr" cap="flat" w="38100">
                      <a:solidFill>
                        <a:srgbClr val="000000"/>
                      </a:solidFill>
                      <a:prstDash val="solid"/>
                      <a:round/>
                      <a:headEnd type="none" w="med" len="med"/>
                      <a:tailEnd type="none" w="med" len="med"/>
                    </a:lnL>
                    <a:lnR cmpd="sng" algn="ctr" cap="flat" w="38100">
                      <a:solidFill>
                        <a:srgbClr val="000000"/>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000000"/>
                      </a:solidFill>
                      <a:prstDash val="solid"/>
                      <a:round/>
                      <a:headEnd type="none" w="med" len="med"/>
                      <a:tailEnd type="none" w="med" len="med"/>
                    </a:lnB>
                    <a:solidFill>
                      <a:srgbClr val="D13434"/>
                    </a:solidFill>
                  </a:tcPr>
                </a:tc>
              </a:tr>
              <a:tr h="1341063">
                <a:tc>
                  <a:txBody>
                    <a:bodyPr anchor="t" rtlCol="false"/>
                    <a:lstStyle/>
                    <a:p>
                      <a:pPr algn="r">
                        <a:lnSpc>
                          <a:spcPts val="2380"/>
                        </a:lnSpc>
                        <a:defRPr/>
                      </a:pPr>
                      <a:r>
                        <a:rPr lang="en-US" sz="1700">
                          <a:solidFill>
                            <a:srgbClr val="000000"/>
                          </a:solidFill>
                          <a:latin typeface="Roboto"/>
                          <a:ea typeface="Roboto"/>
                          <a:cs typeface="Roboto"/>
                          <a:sym typeface="Roboto"/>
                        </a:rPr>
                        <a:t>Aplicación móvil/web responsiva (foco exclusivo del proyecto)</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r">
                        <a:lnSpc>
                          <a:spcPts val="2380"/>
                        </a:lnSpc>
                        <a:defRPr/>
                      </a:pPr>
                      <a:r>
                        <a:rPr lang="en-US" sz="1700">
                          <a:solidFill>
                            <a:srgbClr val="000000"/>
                          </a:solidFill>
                          <a:latin typeface="Roboto"/>
                          <a:ea typeface="Roboto"/>
                          <a:cs typeface="Roboto"/>
                          <a:sym typeface="Roboto"/>
                        </a:rPr>
                        <a:t>Precisión del OCR limitada en carnets escritos a mano</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000000"/>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1341063">
                <a:tc>
                  <a:txBody>
                    <a:bodyPr anchor="t" rtlCol="false"/>
                    <a:lstStyle/>
                    <a:p>
                      <a:pPr algn="r">
                        <a:lnSpc>
                          <a:spcPts val="2380"/>
                        </a:lnSpc>
                        <a:defRPr/>
                      </a:pPr>
                      <a:r>
                        <a:rPr lang="en-US" sz="1700">
                          <a:solidFill>
                            <a:srgbClr val="000000"/>
                          </a:solidFill>
                          <a:latin typeface="Roboto"/>
                          <a:ea typeface="Roboto"/>
                          <a:cs typeface="Roboto"/>
                          <a:sym typeface="Roboto"/>
                        </a:rPr>
                        <a:t>Digitalización de carnets y recetas mediante motor OCR</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a:txBody>
                    <a:bodyPr anchor="t" rtlCol="false"/>
                    <a:lstStyle/>
                    <a:p>
                      <a:pPr algn="r">
                        <a:lnSpc>
                          <a:spcPts val="2380"/>
                        </a:lnSpc>
                        <a:defRPr/>
                      </a:pPr>
                      <a:r>
                        <a:rPr lang="en-US" sz="1700">
                          <a:solidFill>
                            <a:srgbClr val="000000"/>
                          </a:solidFill>
                          <a:latin typeface="Roboto"/>
                          <a:ea typeface="Roboto"/>
                          <a:cs typeface="Roboto"/>
                          <a:sym typeface="Roboto"/>
                        </a:rPr>
                        <a:t>A</a:t>
                      </a:r>
                      <a:r>
                        <a:rPr lang="en-US" sz="1700">
                          <a:solidFill>
                            <a:srgbClr val="000000"/>
                          </a:solidFill>
                          <a:latin typeface="Roboto"/>
                          <a:ea typeface="Roboto"/>
                          <a:cs typeface="Roboto"/>
                          <a:sym typeface="Roboto"/>
                        </a:rPr>
                        <a:t>lcance y tiempos acotados a la duración del semestre académico</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r>
              <a:tr h="1341063">
                <a:tc>
                  <a:txBody>
                    <a:bodyPr anchor="t" rtlCol="false"/>
                    <a:lstStyle/>
                    <a:p>
                      <a:pPr algn="r">
                        <a:lnSpc>
                          <a:spcPts val="2380"/>
                        </a:lnSpc>
                        <a:defRPr/>
                      </a:pPr>
                      <a:r>
                        <a:rPr lang="en-US" sz="1700">
                          <a:solidFill>
                            <a:srgbClr val="000000"/>
                          </a:solidFill>
                          <a:latin typeface="Roboto"/>
                          <a:ea typeface="Roboto"/>
                          <a:cs typeface="Roboto"/>
                          <a:sym typeface="Roboto"/>
                        </a:rPr>
                        <a:t>I</a:t>
                      </a:r>
                      <a:r>
                        <a:rPr lang="en-US" sz="1700">
                          <a:solidFill>
                            <a:srgbClr val="000000"/>
                          </a:solidFill>
                          <a:latin typeface="Roboto"/>
                          <a:ea typeface="Roboto"/>
                          <a:cs typeface="Roboto"/>
                          <a:sym typeface="Roboto"/>
                        </a:rPr>
                        <a:t>dentificación por código QR y etiqueta NFC en el collar</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rowSpan="3">
                  <a:txBody>
                    <a:bodyPr anchor="t" rtlCol="false"/>
                    <a:lstStyle/>
                    <a:p>
                      <a:pPr algn="r">
                        <a:lnSpc>
                          <a:spcPts val="2380"/>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solidFill>
                      <a:srgbClr val="FFFFFF"/>
                    </a:solidFill>
                  </a:tcPr>
                </a:tc>
              </a:tr>
              <a:tr h="1341063">
                <a:tc>
                  <a:txBody>
                    <a:bodyPr anchor="t" rtlCol="false"/>
                    <a:lstStyle/>
                    <a:p>
                      <a:pPr algn="r">
                        <a:lnSpc>
                          <a:spcPts val="2380"/>
                        </a:lnSpc>
                        <a:defRPr/>
                      </a:pPr>
                      <a:r>
                        <a:rPr lang="en-US" sz="1700">
                          <a:solidFill>
                            <a:srgbClr val="000000"/>
                          </a:solidFill>
                          <a:latin typeface="Roboto"/>
                          <a:ea typeface="Roboto"/>
                          <a:cs typeface="Roboto"/>
                          <a:sym typeface="Roboto"/>
                        </a:rPr>
                        <a:t>F</a:t>
                      </a:r>
                      <a:r>
                        <a:rPr lang="en-US" sz="1700">
                          <a:solidFill>
                            <a:srgbClr val="000000"/>
                          </a:solidFill>
                          <a:latin typeface="Roboto"/>
                          <a:ea typeface="Roboto"/>
                          <a:cs typeface="Roboto"/>
                          <a:sym typeface="Roboto"/>
                        </a:rPr>
                        <a:t>icha web pública de emergencia, sin instalar la app</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vMerge="true">
                  <a:txBody>
                    <a:bodyPr anchor="t" rtlCol="false"/>
                    <a:lstStyle/>
                    <a:p>
                      <a:pPr algn="r">
                        <a:lnSpc>
                          <a:spcPts val="2380"/>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solidFill>
                      <a:srgbClr val="FFFFFF"/>
                    </a:solidFill>
                  </a:tcPr>
                </a:tc>
              </a:tr>
              <a:tr h="1341063">
                <a:tc>
                  <a:txBody>
                    <a:bodyPr anchor="t" rtlCol="false"/>
                    <a:lstStyle/>
                    <a:p>
                      <a:pPr algn="r">
                        <a:lnSpc>
                          <a:spcPts val="2380"/>
                        </a:lnSpc>
                        <a:defRPr/>
                      </a:pPr>
                      <a:r>
                        <a:rPr lang="en-US" sz="1700">
                          <a:solidFill>
                            <a:srgbClr val="000000"/>
                          </a:solidFill>
                          <a:latin typeface="Roboto"/>
                          <a:ea typeface="Roboto"/>
                          <a:cs typeface="Roboto"/>
                          <a:sym typeface="Roboto"/>
                        </a:rPr>
                        <a:t>Disponibilidad de 99% y respuesta de emergencia &lt; 2 segundos</a:t>
                      </a: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tcPr>
                </a:tc>
                <a:tc vMerge="true">
                  <a:txBody>
                    <a:bodyPr anchor="t" rtlCol="false"/>
                    <a:lstStyle/>
                    <a:p>
                      <a:pPr algn="r">
                        <a:lnSpc>
                          <a:spcPts val="2380"/>
                        </a:lnSpc>
                        <a:defRPr/>
                      </a:pPr>
                      <a:endParaRPr lang="en-US" sz="1100"/>
                    </a:p>
                  </a:txBody>
                  <a:tcPr marL="190500" marR="190500" marT="190500" marB="190500" anchor="ctr">
                    <a:lnL cmpd="sng" algn="ctr" cap="flat" w="38100">
                      <a:solidFill>
                        <a:srgbClr val="FFFFFF"/>
                      </a:solidFill>
                      <a:prstDash val="solid"/>
                      <a:round/>
                      <a:headEnd type="none" w="med" len="med"/>
                      <a:tailEnd type="none" w="med" len="med"/>
                    </a:lnL>
                    <a:lnR cmpd="sng" algn="ctr" cap="flat" w="38100">
                      <a:solidFill>
                        <a:srgbClr val="FFFFFF"/>
                      </a:solidFill>
                      <a:prstDash val="solid"/>
                      <a:round/>
                      <a:headEnd type="none" w="med" len="med"/>
                      <a:tailEnd type="none" w="med" len="med"/>
                    </a:lnR>
                    <a:lnT cmpd="sng" algn="ctr" cap="flat" w="38100">
                      <a:solidFill>
                        <a:srgbClr val="FFFFFF"/>
                      </a:solidFill>
                      <a:prstDash val="solid"/>
                      <a:round/>
                      <a:headEnd type="none" w="med" len="med"/>
                      <a:tailEnd type="none" w="med" len="med"/>
                    </a:lnT>
                    <a:lnB cmpd="sng" algn="ctr" cap="flat" w="38100">
                      <a:solidFill>
                        <a:srgbClr val="FFFFFF"/>
                      </a:solidFill>
                      <a:prstDash val="solid"/>
                      <a:round/>
                      <a:headEnd type="none" w="med" len="med"/>
                      <a:tailEnd type="none" w="med" len="med"/>
                    </a:lnB>
                    <a:solidFill>
                      <a:srgbClr val="FFFFFF"/>
                    </a:solidFill>
                  </a:tcPr>
                </a:tc>
              </a:tr>
            </a:tbl>
          </a:graphicData>
        </a:graphic>
      </p:graphicFrame>
      <p:sp>
        <p:nvSpPr>
          <p:cNvPr name="Freeform 6" id="6"/>
          <p:cNvSpPr/>
          <p:nvPr/>
        </p:nvSpPr>
        <p:spPr>
          <a:xfrm flipH="false" flipV="false" rot="0">
            <a:off x="2086734" y="3570235"/>
            <a:ext cx="529389" cy="529389"/>
          </a:xfrm>
          <a:custGeom>
            <a:avLst/>
            <a:gdLst/>
            <a:ahLst/>
            <a:cxnLst/>
            <a:rect r="r" b="b" t="t" l="l"/>
            <a:pathLst>
              <a:path h="529389" w="529389">
                <a:moveTo>
                  <a:pt x="0" y="0"/>
                </a:moveTo>
                <a:lnTo>
                  <a:pt x="529390" y="0"/>
                </a:lnTo>
                <a:lnTo>
                  <a:pt x="529390" y="529390"/>
                </a:lnTo>
                <a:lnTo>
                  <a:pt x="0" y="529390"/>
                </a:lnTo>
                <a:lnTo>
                  <a:pt x="0" y="0"/>
                </a:lnTo>
                <a:close/>
              </a:path>
            </a:pathLst>
          </a:custGeom>
          <a:blipFill>
            <a:blip r:embed="rId2"/>
            <a:stretch>
              <a:fillRect l="0" t="0" r="0" b="0"/>
            </a:stretch>
          </a:blipFill>
        </p:spPr>
      </p:sp>
      <p:sp>
        <p:nvSpPr>
          <p:cNvPr name="Freeform 7" id="7"/>
          <p:cNvSpPr/>
          <p:nvPr/>
        </p:nvSpPr>
        <p:spPr>
          <a:xfrm flipH="false" flipV="false" rot="0">
            <a:off x="2086734" y="4878805"/>
            <a:ext cx="529389" cy="529389"/>
          </a:xfrm>
          <a:custGeom>
            <a:avLst/>
            <a:gdLst/>
            <a:ahLst/>
            <a:cxnLst/>
            <a:rect r="r" b="b" t="t" l="l"/>
            <a:pathLst>
              <a:path h="529389" w="529389">
                <a:moveTo>
                  <a:pt x="0" y="0"/>
                </a:moveTo>
                <a:lnTo>
                  <a:pt x="529390" y="0"/>
                </a:lnTo>
                <a:lnTo>
                  <a:pt x="529390" y="529390"/>
                </a:lnTo>
                <a:lnTo>
                  <a:pt x="0" y="529390"/>
                </a:lnTo>
                <a:lnTo>
                  <a:pt x="0" y="0"/>
                </a:lnTo>
                <a:close/>
              </a:path>
            </a:pathLst>
          </a:custGeom>
          <a:blipFill>
            <a:blip r:embed="rId2"/>
            <a:stretch>
              <a:fillRect l="0" t="0" r="0" b="0"/>
            </a:stretch>
          </a:blipFill>
        </p:spPr>
      </p:sp>
      <p:sp>
        <p:nvSpPr>
          <p:cNvPr name="Freeform 8" id="8"/>
          <p:cNvSpPr/>
          <p:nvPr/>
        </p:nvSpPr>
        <p:spPr>
          <a:xfrm flipH="false" flipV="false" rot="0">
            <a:off x="2086734" y="6189245"/>
            <a:ext cx="529389" cy="529389"/>
          </a:xfrm>
          <a:custGeom>
            <a:avLst/>
            <a:gdLst/>
            <a:ahLst/>
            <a:cxnLst/>
            <a:rect r="r" b="b" t="t" l="l"/>
            <a:pathLst>
              <a:path h="529389" w="529389">
                <a:moveTo>
                  <a:pt x="0" y="0"/>
                </a:moveTo>
                <a:lnTo>
                  <a:pt x="529390" y="0"/>
                </a:lnTo>
                <a:lnTo>
                  <a:pt x="529390" y="529389"/>
                </a:lnTo>
                <a:lnTo>
                  <a:pt x="0" y="529389"/>
                </a:lnTo>
                <a:lnTo>
                  <a:pt x="0" y="0"/>
                </a:lnTo>
                <a:close/>
              </a:path>
            </a:pathLst>
          </a:custGeom>
          <a:blipFill>
            <a:blip r:embed="rId2"/>
            <a:stretch>
              <a:fillRect l="0" t="0" r="0" b="0"/>
            </a:stretch>
          </a:blipFill>
        </p:spPr>
      </p:sp>
      <p:sp>
        <p:nvSpPr>
          <p:cNvPr name="Freeform 9" id="9"/>
          <p:cNvSpPr/>
          <p:nvPr/>
        </p:nvSpPr>
        <p:spPr>
          <a:xfrm flipH="false" flipV="false" rot="0">
            <a:off x="2086734" y="7499684"/>
            <a:ext cx="529389" cy="529389"/>
          </a:xfrm>
          <a:custGeom>
            <a:avLst/>
            <a:gdLst/>
            <a:ahLst/>
            <a:cxnLst/>
            <a:rect r="r" b="b" t="t" l="l"/>
            <a:pathLst>
              <a:path h="529389" w="529389">
                <a:moveTo>
                  <a:pt x="0" y="0"/>
                </a:moveTo>
                <a:lnTo>
                  <a:pt x="529390" y="0"/>
                </a:lnTo>
                <a:lnTo>
                  <a:pt x="529390" y="529390"/>
                </a:lnTo>
                <a:lnTo>
                  <a:pt x="0" y="529390"/>
                </a:lnTo>
                <a:lnTo>
                  <a:pt x="0" y="0"/>
                </a:lnTo>
                <a:close/>
              </a:path>
            </a:pathLst>
          </a:custGeom>
          <a:blipFill>
            <a:blip r:embed="rId2"/>
            <a:stretch>
              <a:fillRect l="0" t="0" r="0" b="0"/>
            </a:stretch>
          </a:blipFill>
        </p:spPr>
      </p:sp>
      <p:sp>
        <p:nvSpPr>
          <p:cNvPr name="Freeform 10" id="10"/>
          <p:cNvSpPr/>
          <p:nvPr/>
        </p:nvSpPr>
        <p:spPr>
          <a:xfrm flipH="false" flipV="false" rot="0">
            <a:off x="2086734" y="8810124"/>
            <a:ext cx="529389" cy="529389"/>
          </a:xfrm>
          <a:custGeom>
            <a:avLst/>
            <a:gdLst/>
            <a:ahLst/>
            <a:cxnLst/>
            <a:rect r="r" b="b" t="t" l="l"/>
            <a:pathLst>
              <a:path h="529389" w="529389">
                <a:moveTo>
                  <a:pt x="0" y="0"/>
                </a:moveTo>
                <a:lnTo>
                  <a:pt x="529390" y="0"/>
                </a:lnTo>
                <a:lnTo>
                  <a:pt x="529390" y="529389"/>
                </a:lnTo>
                <a:lnTo>
                  <a:pt x="0" y="529389"/>
                </a:lnTo>
                <a:lnTo>
                  <a:pt x="0" y="0"/>
                </a:lnTo>
                <a:close/>
              </a:path>
            </a:pathLst>
          </a:custGeom>
          <a:blipFill>
            <a:blip r:embed="rId2"/>
            <a:stretch>
              <a:fillRect l="0" t="0" r="0" b="0"/>
            </a:stretch>
          </a:blipFill>
        </p:spPr>
      </p:sp>
      <p:sp>
        <p:nvSpPr>
          <p:cNvPr name="Freeform 11" id="11"/>
          <p:cNvSpPr/>
          <p:nvPr/>
        </p:nvSpPr>
        <p:spPr>
          <a:xfrm flipH="false" flipV="false" rot="0">
            <a:off x="9858096" y="3570235"/>
            <a:ext cx="529389" cy="529389"/>
          </a:xfrm>
          <a:custGeom>
            <a:avLst/>
            <a:gdLst/>
            <a:ahLst/>
            <a:cxnLst/>
            <a:rect r="r" b="b" t="t" l="l"/>
            <a:pathLst>
              <a:path h="529389" w="529389">
                <a:moveTo>
                  <a:pt x="0" y="0"/>
                </a:moveTo>
                <a:lnTo>
                  <a:pt x="529389" y="0"/>
                </a:lnTo>
                <a:lnTo>
                  <a:pt x="529389" y="529390"/>
                </a:lnTo>
                <a:lnTo>
                  <a:pt x="0" y="52939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12" id="12"/>
          <p:cNvSpPr txBox="true"/>
          <p:nvPr/>
        </p:nvSpPr>
        <p:spPr>
          <a:xfrm rot="0">
            <a:off x="774020" y="705803"/>
            <a:ext cx="10838889" cy="664844"/>
          </a:xfrm>
          <a:prstGeom prst="rect">
            <a:avLst/>
          </a:prstGeom>
        </p:spPr>
        <p:txBody>
          <a:bodyPr anchor="t" rtlCol="false" tIns="0" lIns="0" bIns="0" rIns="0">
            <a:spAutoFit/>
          </a:bodyPr>
          <a:lstStyle/>
          <a:p>
            <a:pPr algn="l">
              <a:lnSpc>
                <a:spcPts val="5039"/>
              </a:lnSpc>
              <a:spcBef>
                <a:spcPct val="0"/>
              </a:spcBef>
            </a:pPr>
            <a:r>
              <a:rPr lang="en-US" sz="4499" spc="1331">
                <a:solidFill>
                  <a:srgbClr val="FFFFFF"/>
                </a:solidFill>
                <a:latin typeface="Roboto"/>
                <a:ea typeface="Roboto"/>
                <a:cs typeface="Roboto"/>
                <a:sym typeface="Roboto"/>
              </a:rPr>
              <a:t>QUÉ INCLUYE Y QUÉ NO</a:t>
            </a:r>
          </a:p>
        </p:txBody>
      </p:sp>
      <p:sp>
        <p:nvSpPr>
          <p:cNvPr name="Freeform 13" id="13"/>
          <p:cNvSpPr/>
          <p:nvPr/>
        </p:nvSpPr>
        <p:spPr>
          <a:xfrm flipH="false" flipV="false" rot="0">
            <a:off x="9858096" y="4878805"/>
            <a:ext cx="529389" cy="529389"/>
          </a:xfrm>
          <a:custGeom>
            <a:avLst/>
            <a:gdLst/>
            <a:ahLst/>
            <a:cxnLst/>
            <a:rect r="r" b="b" t="t" l="l"/>
            <a:pathLst>
              <a:path h="529389" w="529389">
                <a:moveTo>
                  <a:pt x="0" y="0"/>
                </a:moveTo>
                <a:lnTo>
                  <a:pt x="529389" y="0"/>
                </a:lnTo>
                <a:lnTo>
                  <a:pt x="529389" y="529390"/>
                </a:lnTo>
                <a:lnTo>
                  <a:pt x="0" y="529390"/>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28700"/>
            <a:ext cx="6577793" cy="1167199"/>
            <a:chOff x="0" y="0"/>
            <a:chExt cx="1732423" cy="307411"/>
          </a:xfrm>
        </p:grpSpPr>
        <p:sp>
          <p:nvSpPr>
            <p:cNvPr name="Freeform 3" id="3"/>
            <p:cNvSpPr/>
            <p:nvPr/>
          </p:nvSpPr>
          <p:spPr>
            <a:xfrm flipH="false" flipV="false" rot="0">
              <a:off x="0" y="0"/>
              <a:ext cx="1732423" cy="307411"/>
            </a:xfrm>
            <a:custGeom>
              <a:avLst/>
              <a:gdLst/>
              <a:ahLst/>
              <a:cxnLst/>
              <a:rect r="r" b="b" t="t" l="l"/>
              <a:pathLst>
                <a:path h="307411" w="1732423">
                  <a:moveTo>
                    <a:pt x="0" y="0"/>
                  </a:moveTo>
                  <a:lnTo>
                    <a:pt x="1732423" y="0"/>
                  </a:lnTo>
                  <a:lnTo>
                    <a:pt x="1732423" y="307411"/>
                  </a:lnTo>
                  <a:lnTo>
                    <a:pt x="0" y="307411"/>
                  </a:lnTo>
                  <a:close/>
                </a:path>
              </a:pathLst>
            </a:custGeom>
            <a:solidFill>
              <a:srgbClr val="6B9C6F"/>
            </a:solidFill>
          </p:spPr>
        </p:sp>
        <p:sp>
          <p:nvSpPr>
            <p:cNvPr name="TextBox 4" id="4"/>
            <p:cNvSpPr txBox="true"/>
            <p:nvPr/>
          </p:nvSpPr>
          <p:spPr>
            <a:xfrm>
              <a:off x="0" y="-38100"/>
              <a:ext cx="1732423" cy="345511"/>
            </a:xfrm>
            <a:prstGeom prst="rect">
              <a:avLst/>
            </a:prstGeom>
          </p:spPr>
          <p:txBody>
            <a:bodyPr anchor="ctr" rtlCol="false" tIns="50800" lIns="50800" bIns="50800" rIns="50800"/>
            <a:lstStyle/>
            <a:p>
              <a:pPr algn="ctr">
                <a:lnSpc>
                  <a:spcPts val="2659"/>
                </a:lnSpc>
              </a:pPr>
            </a:p>
          </p:txBody>
        </p:sp>
      </p:grpSp>
      <p:sp>
        <p:nvSpPr>
          <p:cNvPr name="Freeform 5" id="5"/>
          <p:cNvSpPr/>
          <p:nvPr/>
        </p:nvSpPr>
        <p:spPr>
          <a:xfrm flipH="false" flipV="false" rot="0">
            <a:off x="2115550" y="3446871"/>
            <a:ext cx="14000126" cy="910008"/>
          </a:xfrm>
          <a:custGeom>
            <a:avLst/>
            <a:gdLst/>
            <a:ahLst/>
            <a:cxnLst/>
            <a:rect r="r" b="b" t="t" l="l"/>
            <a:pathLst>
              <a:path h="910008" w="14000126">
                <a:moveTo>
                  <a:pt x="0" y="0"/>
                </a:moveTo>
                <a:lnTo>
                  <a:pt x="14000125" y="0"/>
                </a:lnTo>
                <a:lnTo>
                  <a:pt x="14000125" y="910008"/>
                </a:lnTo>
                <a:lnTo>
                  <a:pt x="0" y="91000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6" id="6"/>
          <p:cNvSpPr/>
          <p:nvPr/>
        </p:nvSpPr>
        <p:spPr>
          <a:xfrm flipH="false" flipV="false" rot="0">
            <a:off x="1065325" y="4976004"/>
            <a:ext cx="3732357" cy="3732357"/>
          </a:xfrm>
          <a:custGeom>
            <a:avLst/>
            <a:gdLst/>
            <a:ahLst/>
            <a:cxnLst/>
            <a:rect r="r" b="b" t="t" l="l"/>
            <a:pathLst>
              <a:path h="3732357" w="3732357">
                <a:moveTo>
                  <a:pt x="0" y="0"/>
                </a:moveTo>
                <a:lnTo>
                  <a:pt x="3732357" y="0"/>
                </a:lnTo>
                <a:lnTo>
                  <a:pt x="3732357" y="3732357"/>
                </a:lnTo>
                <a:lnTo>
                  <a:pt x="0" y="373235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7" id="7"/>
          <p:cNvSpPr txBox="true"/>
          <p:nvPr/>
        </p:nvSpPr>
        <p:spPr>
          <a:xfrm rot="0">
            <a:off x="350372" y="1062094"/>
            <a:ext cx="5597889" cy="1105890"/>
          </a:xfrm>
          <a:prstGeom prst="rect">
            <a:avLst/>
          </a:prstGeom>
        </p:spPr>
        <p:txBody>
          <a:bodyPr anchor="t" rtlCol="false" tIns="0" lIns="0" bIns="0" rIns="0">
            <a:spAutoFit/>
          </a:bodyPr>
          <a:lstStyle/>
          <a:p>
            <a:pPr algn="l">
              <a:lnSpc>
                <a:spcPts val="4309"/>
              </a:lnSpc>
              <a:spcBef>
                <a:spcPct val="0"/>
              </a:spcBef>
            </a:pPr>
            <a:r>
              <a:rPr lang="en-US" sz="3847" spc="1138">
                <a:solidFill>
                  <a:srgbClr val="FFFFFF"/>
                </a:solidFill>
                <a:latin typeface="Roboto"/>
                <a:ea typeface="Roboto"/>
                <a:cs typeface="Roboto"/>
                <a:sym typeface="Roboto"/>
              </a:rPr>
              <a:t>METODOLOGÍA:SCRUM ÁGIL</a:t>
            </a:r>
          </a:p>
        </p:txBody>
      </p:sp>
      <p:sp>
        <p:nvSpPr>
          <p:cNvPr name="TextBox 8" id="8"/>
          <p:cNvSpPr txBox="true"/>
          <p:nvPr/>
        </p:nvSpPr>
        <p:spPr>
          <a:xfrm rot="0">
            <a:off x="264842" y="5095875"/>
            <a:ext cx="2806241" cy="316230"/>
          </a:xfrm>
          <a:prstGeom prst="rect">
            <a:avLst/>
          </a:prstGeom>
        </p:spPr>
        <p:txBody>
          <a:bodyPr anchor="t" rtlCol="false" tIns="0" lIns="0" bIns="0" rIns="0">
            <a:spAutoFit/>
          </a:bodyPr>
          <a:lstStyle/>
          <a:p>
            <a:pPr algn="ctr">
              <a:lnSpc>
                <a:spcPts val="2520"/>
              </a:lnSpc>
            </a:pPr>
            <a:r>
              <a:rPr lang="en-US" sz="1800">
                <a:solidFill>
                  <a:srgbClr val="FFFFFF"/>
                </a:solidFill>
                <a:latin typeface="Roboto"/>
                <a:ea typeface="Roboto"/>
                <a:cs typeface="Roboto"/>
                <a:sym typeface="Roboto"/>
              </a:rPr>
              <a:t>Fase 1 </a:t>
            </a:r>
          </a:p>
        </p:txBody>
      </p:sp>
      <p:sp>
        <p:nvSpPr>
          <p:cNvPr name="TextBox 9" id="9"/>
          <p:cNvSpPr txBox="true"/>
          <p:nvPr/>
        </p:nvSpPr>
        <p:spPr>
          <a:xfrm rot="0">
            <a:off x="1221308" y="5527434"/>
            <a:ext cx="2806241" cy="316230"/>
          </a:xfrm>
          <a:prstGeom prst="rect">
            <a:avLst/>
          </a:prstGeom>
        </p:spPr>
        <p:txBody>
          <a:bodyPr anchor="t" rtlCol="false" tIns="0" lIns="0" bIns="0" rIns="0">
            <a:spAutoFit/>
          </a:bodyPr>
          <a:lstStyle/>
          <a:p>
            <a:pPr algn="ctr">
              <a:lnSpc>
                <a:spcPts val="2520"/>
              </a:lnSpc>
            </a:pPr>
            <a:r>
              <a:rPr lang="en-US" sz="1800">
                <a:solidFill>
                  <a:srgbClr val="FFFFFF"/>
                </a:solidFill>
                <a:latin typeface="Roboto"/>
                <a:ea typeface="Roboto"/>
                <a:cs typeface="Roboto"/>
                <a:sym typeface="Roboto"/>
              </a:rPr>
              <a:t>Levantamiento y diseño</a:t>
            </a:r>
          </a:p>
        </p:txBody>
      </p:sp>
      <p:sp>
        <p:nvSpPr>
          <p:cNvPr name="TextBox 10" id="10"/>
          <p:cNvSpPr txBox="true"/>
          <p:nvPr/>
        </p:nvSpPr>
        <p:spPr>
          <a:xfrm rot="0">
            <a:off x="1145267" y="6410082"/>
            <a:ext cx="3572472" cy="1599146"/>
          </a:xfrm>
          <a:prstGeom prst="rect">
            <a:avLst/>
          </a:prstGeom>
        </p:spPr>
        <p:txBody>
          <a:bodyPr anchor="t" rtlCol="false" tIns="0" lIns="0" bIns="0" rIns="0">
            <a:spAutoFit/>
          </a:bodyPr>
          <a:lstStyle/>
          <a:p>
            <a:pPr algn="ctr">
              <a:lnSpc>
                <a:spcPts val="3208"/>
              </a:lnSpc>
            </a:pPr>
            <a:r>
              <a:rPr lang="en-US" sz="2291">
                <a:solidFill>
                  <a:srgbClr val="FFFFFF"/>
                </a:solidFill>
                <a:latin typeface="Roboto"/>
                <a:ea typeface="Roboto"/>
                <a:cs typeface="Roboto"/>
                <a:sym typeface="Roboto"/>
              </a:rPr>
              <a:t>Product backlog, arquitectura de datos, wireframes UI/UX y stack tecnológico.</a:t>
            </a:r>
          </a:p>
        </p:txBody>
      </p:sp>
      <p:sp>
        <p:nvSpPr>
          <p:cNvPr name="Freeform 11" id="11"/>
          <p:cNvSpPr/>
          <p:nvPr/>
        </p:nvSpPr>
        <p:spPr>
          <a:xfrm flipH="false" flipV="false" rot="0">
            <a:off x="5210956" y="4976004"/>
            <a:ext cx="3732357" cy="3732357"/>
          </a:xfrm>
          <a:custGeom>
            <a:avLst/>
            <a:gdLst/>
            <a:ahLst/>
            <a:cxnLst/>
            <a:rect r="r" b="b" t="t" l="l"/>
            <a:pathLst>
              <a:path h="3732357" w="3732357">
                <a:moveTo>
                  <a:pt x="0" y="0"/>
                </a:moveTo>
                <a:lnTo>
                  <a:pt x="3732356" y="0"/>
                </a:lnTo>
                <a:lnTo>
                  <a:pt x="3732356" y="3732357"/>
                </a:lnTo>
                <a:lnTo>
                  <a:pt x="0" y="373235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2" id="12"/>
          <p:cNvSpPr txBox="true"/>
          <p:nvPr/>
        </p:nvSpPr>
        <p:spPr>
          <a:xfrm rot="0">
            <a:off x="4410473" y="5095875"/>
            <a:ext cx="2806241" cy="316230"/>
          </a:xfrm>
          <a:prstGeom prst="rect">
            <a:avLst/>
          </a:prstGeom>
        </p:spPr>
        <p:txBody>
          <a:bodyPr anchor="t" rtlCol="false" tIns="0" lIns="0" bIns="0" rIns="0">
            <a:spAutoFit/>
          </a:bodyPr>
          <a:lstStyle/>
          <a:p>
            <a:pPr algn="ctr">
              <a:lnSpc>
                <a:spcPts val="2520"/>
              </a:lnSpc>
            </a:pPr>
            <a:r>
              <a:rPr lang="en-US" sz="1800">
                <a:solidFill>
                  <a:srgbClr val="FFFFFF"/>
                </a:solidFill>
                <a:latin typeface="Roboto"/>
                <a:ea typeface="Roboto"/>
                <a:cs typeface="Roboto"/>
                <a:sym typeface="Roboto"/>
              </a:rPr>
              <a:t>Fase 2</a:t>
            </a:r>
          </a:p>
        </p:txBody>
      </p:sp>
      <p:sp>
        <p:nvSpPr>
          <p:cNvPr name="TextBox 13" id="13"/>
          <p:cNvSpPr txBox="true"/>
          <p:nvPr/>
        </p:nvSpPr>
        <p:spPr>
          <a:xfrm rot="0">
            <a:off x="4956859" y="5527434"/>
            <a:ext cx="2806241" cy="316230"/>
          </a:xfrm>
          <a:prstGeom prst="rect">
            <a:avLst/>
          </a:prstGeom>
        </p:spPr>
        <p:txBody>
          <a:bodyPr anchor="t" rtlCol="false" tIns="0" lIns="0" bIns="0" rIns="0">
            <a:spAutoFit/>
          </a:bodyPr>
          <a:lstStyle/>
          <a:p>
            <a:pPr algn="ctr">
              <a:lnSpc>
                <a:spcPts val="2520"/>
              </a:lnSpc>
            </a:pPr>
            <a:r>
              <a:rPr lang="en-US" sz="1800">
                <a:solidFill>
                  <a:srgbClr val="FFFFFF"/>
                </a:solidFill>
                <a:latin typeface="Roboto"/>
                <a:ea typeface="Roboto"/>
                <a:cs typeface="Roboto"/>
                <a:sym typeface="Roboto"/>
              </a:rPr>
              <a:t>Desarrollo Core</a:t>
            </a:r>
          </a:p>
        </p:txBody>
      </p:sp>
      <p:sp>
        <p:nvSpPr>
          <p:cNvPr name="TextBox 14" id="14"/>
          <p:cNvSpPr txBox="true"/>
          <p:nvPr/>
        </p:nvSpPr>
        <p:spPr>
          <a:xfrm rot="0">
            <a:off x="5290898" y="6410082"/>
            <a:ext cx="3572472" cy="1599146"/>
          </a:xfrm>
          <a:prstGeom prst="rect">
            <a:avLst/>
          </a:prstGeom>
        </p:spPr>
        <p:txBody>
          <a:bodyPr anchor="t" rtlCol="false" tIns="0" lIns="0" bIns="0" rIns="0">
            <a:spAutoFit/>
          </a:bodyPr>
          <a:lstStyle/>
          <a:p>
            <a:pPr algn="ctr">
              <a:lnSpc>
                <a:spcPts val="3208"/>
              </a:lnSpc>
            </a:pPr>
            <a:r>
              <a:rPr lang="en-US" sz="2291">
                <a:solidFill>
                  <a:srgbClr val="FFFFFF"/>
                </a:solidFill>
                <a:latin typeface="Roboto"/>
                <a:ea typeface="Roboto"/>
                <a:cs typeface="Roboto"/>
                <a:sym typeface="Roboto"/>
              </a:rPr>
              <a:t>Backend (autenticación, CRUD de mascotas) y frontend móvil con integración OCR.</a:t>
            </a:r>
          </a:p>
        </p:txBody>
      </p:sp>
      <p:sp>
        <p:nvSpPr>
          <p:cNvPr name="Freeform 15" id="15"/>
          <p:cNvSpPr/>
          <p:nvPr/>
        </p:nvSpPr>
        <p:spPr>
          <a:xfrm flipH="false" flipV="false" rot="0">
            <a:off x="9354662" y="4976004"/>
            <a:ext cx="3732357" cy="3732357"/>
          </a:xfrm>
          <a:custGeom>
            <a:avLst/>
            <a:gdLst/>
            <a:ahLst/>
            <a:cxnLst/>
            <a:rect r="r" b="b" t="t" l="l"/>
            <a:pathLst>
              <a:path h="3732357" w="3732357">
                <a:moveTo>
                  <a:pt x="0" y="0"/>
                </a:moveTo>
                <a:lnTo>
                  <a:pt x="3732357" y="0"/>
                </a:lnTo>
                <a:lnTo>
                  <a:pt x="3732357" y="3732357"/>
                </a:lnTo>
                <a:lnTo>
                  <a:pt x="0" y="373235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16" id="16"/>
          <p:cNvSpPr txBox="true"/>
          <p:nvPr/>
        </p:nvSpPr>
        <p:spPr>
          <a:xfrm rot="0">
            <a:off x="8554179" y="5095875"/>
            <a:ext cx="2806241" cy="316230"/>
          </a:xfrm>
          <a:prstGeom prst="rect">
            <a:avLst/>
          </a:prstGeom>
        </p:spPr>
        <p:txBody>
          <a:bodyPr anchor="t" rtlCol="false" tIns="0" lIns="0" bIns="0" rIns="0">
            <a:spAutoFit/>
          </a:bodyPr>
          <a:lstStyle/>
          <a:p>
            <a:pPr algn="ctr">
              <a:lnSpc>
                <a:spcPts val="2520"/>
              </a:lnSpc>
            </a:pPr>
            <a:r>
              <a:rPr lang="en-US" sz="1800">
                <a:solidFill>
                  <a:srgbClr val="FFFFFF"/>
                </a:solidFill>
                <a:latin typeface="Roboto"/>
                <a:ea typeface="Roboto"/>
                <a:cs typeface="Roboto"/>
                <a:sym typeface="Roboto"/>
              </a:rPr>
              <a:t>Fase 3</a:t>
            </a:r>
          </a:p>
        </p:txBody>
      </p:sp>
      <p:sp>
        <p:nvSpPr>
          <p:cNvPr name="TextBox 17" id="17"/>
          <p:cNvSpPr txBox="true"/>
          <p:nvPr/>
        </p:nvSpPr>
        <p:spPr>
          <a:xfrm rot="0">
            <a:off x="9510644" y="5527434"/>
            <a:ext cx="2806241" cy="316230"/>
          </a:xfrm>
          <a:prstGeom prst="rect">
            <a:avLst/>
          </a:prstGeom>
        </p:spPr>
        <p:txBody>
          <a:bodyPr anchor="t" rtlCol="false" tIns="0" lIns="0" bIns="0" rIns="0">
            <a:spAutoFit/>
          </a:bodyPr>
          <a:lstStyle/>
          <a:p>
            <a:pPr algn="ctr">
              <a:lnSpc>
                <a:spcPts val="2520"/>
              </a:lnSpc>
            </a:pPr>
            <a:r>
              <a:rPr lang="en-US" sz="1800">
                <a:solidFill>
                  <a:srgbClr val="FFFFFF"/>
                </a:solidFill>
                <a:latin typeface="Roboto"/>
                <a:ea typeface="Roboto"/>
                <a:cs typeface="Roboto"/>
                <a:sym typeface="Roboto"/>
              </a:rPr>
              <a:t>Integración de hardware</a:t>
            </a:r>
          </a:p>
        </p:txBody>
      </p:sp>
      <p:sp>
        <p:nvSpPr>
          <p:cNvPr name="TextBox 18" id="18"/>
          <p:cNvSpPr txBox="true"/>
          <p:nvPr/>
        </p:nvSpPr>
        <p:spPr>
          <a:xfrm rot="0">
            <a:off x="9434604" y="6410082"/>
            <a:ext cx="3572472" cy="1999196"/>
          </a:xfrm>
          <a:prstGeom prst="rect">
            <a:avLst/>
          </a:prstGeom>
        </p:spPr>
        <p:txBody>
          <a:bodyPr anchor="t" rtlCol="false" tIns="0" lIns="0" bIns="0" rIns="0">
            <a:spAutoFit/>
          </a:bodyPr>
          <a:lstStyle/>
          <a:p>
            <a:pPr algn="ctr">
              <a:lnSpc>
                <a:spcPts val="3208"/>
              </a:lnSpc>
            </a:pPr>
            <a:r>
              <a:rPr lang="en-US" sz="2291">
                <a:solidFill>
                  <a:srgbClr val="FFFFFF"/>
                </a:solidFill>
                <a:latin typeface="Roboto"/>
                <a:ea typeface="Roboto"/>
                <a:cs typeface="Roboto"/>
                <a:sym typeface="Roboto"/>
              </a:rPr>
              <a:t>Generación de QR y vinculación NFC en la app, junto con el despliegue de la ficha web pública de emergencia.</a:t>
            </a:r>
          </a:p>
        </p:txBody>
      </p:sp>
      <p:sp>
        <p:nvSpPr>
          <p:cNvPr name="Freeform 19" id="19"/>
          <p:cNvSpPr/>
          <p:nvPr/>
        </p:nvSpPr>
        <p:spPr>
          <a:xfrm flipH="false" flipV="false" rot="0">
            <a:off x="13526943" y="4976004"/>
            <a:ext cx="3732357" cy="3732357"/>
          </a:xfrm>
          <a:custGeom>
            <a:avLst/>
            <a:gdLst/>
            <a:ahLst/>
            <a:cxnLst/>
            <a:rect r="r" b="b" t="t" l="l"/>
            <a:pathLst>
              <a:path h="3732357" w="3732357">
                <a:moveTo>
                  <a:pt x="0" y="0"/>
                </a:moveTo>
                <a:lnTo>
                  <a:pt x="3732357" y="0"/>
                </a:lnTo>
                <a:lnTo>
                  <a:pt x="3732357" y="3732357"/>
                </a:lnTo>
                <a:lnTo>
                  <a:pt x="0" y="373235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20" id="20"/>
          <p:cNvSpPr txBox="true"/>
          <p:nvPr/>
        </p:nvSpPr>
        <p:spPr>
          <a:xfrm rot="0">
            <a:off x="12726460" y="5095875"/>
            <a:ext cx="2806241" cy="316230"/>
          </a:xfrm>
          <a:prstGeom prst="rect">
            <a:avLst/>
          </a:prstGeom>
        </p:spPr>
        <p:txBody>
          <a:bodyPr anchor="t" rtlCol="false" tIns="0" lIns="0" bIns="0" rIns="0">
            <a:spAutoFit/>
          </a:bodyPr>
          <a:lstStyle/>
          <a:p>
            <a:pPr algn="ctr">
              <a:lnSpc>
                <a:spcPts val="2520"/>
              </a:lnSpc>
            </a:pPr>
            <a:r>
              <a:rPr lang="en-US" sz="1800">
                <a:solidFill>
                  <a:srgbClr val="FFFFFF"/>
                </a:solidFill>
                <a:latin typeface="Roboto"/>
                <a:ea typeface="Roboto"/>
                <a:cs typeface="Roboto"/>
                <a:sym typeface="Roboto"/>
              </a:rPr>
              <a:t>Fase 4</a:t>
            </a:r>
          </a:p>
        </p:txBody>
      </p:sp>
      <p:sp>
        <p:nvSpPr>
          <p:cNvPr name="TextBox 21" id="21"/>
          <p:cNvSpPr txBox="true"/>
          <p:nvPr/>
        </p:nvSpPr>
        <p:spPr>
          <a:xfrm rot="0">
            <a:off x="13496594" y="5527434"/>
            <a:ext cx="2806241" cy="316230"/>
          </a:xfrm>
          <a:prstGeom prst="rect">
            <a:avLst/>
          </a:prstGeom>
        </p:spPr>
        <p:txBody>
          <a:bodyPr anchor="t" rtlCol="false" tIns="0" lIns="0" bIns="0" rIns="0">
            <a:spAutoFit/>
          </a:bodyPr>
          <a:lstStyle/>
          <a:p>
            <a:pPr algn="ctr">
              <a:lnSpc>
                <a:spcPts val="2520"/>
              </a:lnSpc>
            </a:pPr>
            <a:r>
              <a:rPr lang="en-US" sz="1800">
                <a:solidFill>
                  <a:srgbClr val="FFFFFF"/>
                </a:solidFill>
                <a:latin typeface="Roboto"/>
                <a:ea typeface="Roboto"/>
                <a:cs typeface="Roboto"/>
                <a:sym typeface="Roboto"/>
              </a:rPr>
              <a:t>Pruebas y despliegue</a:t>
            </a:r>
          </a:p>
        </p:txBody>
      </p:sp>
      <p:sp>
        <p:nvSpPr>
          <p:cNvPr name="TextBox 22" id="22"/>
          <p:cNvSpPr txBox="true"/>
          <p:nvPr/>
        </p:nvSpPr>
        <p:spPr>
          <a:xfrm rot="0">
            <a:off x="13582319" y="6577089"/>
            <a:ext cx="3572472" cy="1199096"/>
          </a:xfrm>
          <a:prstGeom prst="rect">
            <a:avLst/>
          </a:prstGeom>
        </p:spPr>
        <p:txBody>
          <a:bodyPr anchor="t" rtlCol="false" tIns="0" lIns="0" bIns="0" rIns="0">
            <a:spAutoFit/>
          </a:bodyPr>
          <a:lstStyle/>
          <a:p>
            <a:pPr algn="ctr">
              <a:lnSpc>
                <a:spcPts val="3208"/>
              </a:lnSpc>
            </a:pPr>
            <a:r>
              <a:rPr lang="en-US" sz="2291">
                <a:solidFill>
                  <a:srgbClr val="FFFFFF"/>
                </a:solidFill>
                <a:latin typeface="Roboto"/>
                <a:ea typeface="Roboto"/>
                <a:cs typeface="Roboto"/>
                <a:sym typeface="Roboto"/>
              </a:rPr>
              <a:t>Rendimiento (&lt;2s), seguridad, corrección de errores y versión final.</a:t>
            </a:r>
          </a:p>
        </p:txBody>
      </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sp>
        <p:nvSpPr>
          <p:cNvPr name="Freeform 2" id="2"/>
          <p:cNvSpPr/>
          <p:nvPr/>
        </p:nvSpPr>
        <p:spPr>
          <a:xfrm flipH="false" flipV="false" rot="0">
            <a:off x="1628893" y="2681319"/>
            <a:ext cx="3382006" cy="3382006"/>
          </a:xfrm>
          <a:custGeom>
            <a:avLst/>
            <a:gdLst/>
            <a:ahLst/>
            <a:cxnLst/>
            <a:rect r="r" b="b" t="t" l="l"/>
            <a:pathLst>
              <a:path h="3382006" w="3382006">
                <a:moveTo>
                  <a:pt x="0" y="0"/>
                </a:moveTo>
                <a:lnTo>
                  <a:pt x="3382006" y="0"/>
                </a:lnTo>
                <a:lnTo>
                  <a:pt x="3382006" y="3382006"/>
                </a:lnTo>
                <a:lnTo>
                  <a:pt x="0" y="338200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grpSp>
        <p:nvGrpSpPr>
          <p:cNvPr name="Group 3" id="3"/>
          <p:cNvGrpSpPr/>
          <p:nvPr/>
        </p:nvGrpSpPr>
        <p:grpSpPr>
          <a:xfrm rot="0">
            <a:off x="0" y="1028700"/>
            <a:ext cx="6577793" cy="1167199"/>
            <a:chOff x="0" y="0"/>
            <a:chExt cx="1732423" cy="307411"/>
          </a:xfrm>
        </p:grpSpPr>
        <p:sp>
          <p:nvSpPr>
            <p:cNvPr name="Freeform 4" id="4"/>
            <p:cNvSpPr/>
            <p:nvPr/>
          </p:nvSpPr>
          <p:spPr>
            <a:xfrm flipH="false" flipV="false" rot="0">
              <a:off x="0" y="0"/>
              <a:ext cx="1732423" cy="307411"/>
            </a:xfrm>
            <a:custGeom>
              <a:avLst/>
              <a:gdLst/>
              <a:ahLst/>
              <a:cxnLst/>
              <a:rect r="r" b="b" t="t" l="l"/>
              <a:pathLst>
                <a:path h="307411" w="1732423">
                  <a:moveTo>
                    <a:pt x="0" y="0"/>
                  </a:moveTo>
                  <a:lnTo>
                    <a:pt x="1732423" y="0"/>
                  </a:lnTo>
                  <a:lnTo>
                    <a:pt x="1732423" y="307411"/>
                  </a:lnTo>
                  <a:lnTo>
                    <a:pt x="0" y="307411"/>
                  </a:lnTo>
                  <a:close/>
                </a:path>
              </a:pathLst>
            </a:custGeom>
            <a:solidFill>
              <a:srgbClr val="6B9C6F"/>
            </a:solidFill>
          </p:spPr>
        </p:sp>
        <p:sp>
          <p:nvSpPr>
            <p:cNvPr name="TextBox 5" id="5"/>
            <p:cNvSpPr txBox="true"/>
            <p:nvPr/>
          </p:nvSpPr>
          <p:spPr>
            <a:xfrm>
              <a:off x="0" y="-38100"/>
              <a:ext cx="1732423" cy="345511"/>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5382450" y="2681319"/>
            <a:ext cx="3382006" cy="3382006"/>
          </a:xfrm>
          <a:custGeom>
            <a:avLst/>
            <a:gdLst/>
            <a:ahLst/>
            <a:cxnLst/>
            <a:rect r="r" b="b" t="t" l="l"/>
            <a:pathLst>
              <a:path h="3382006" w="3382006">
                <a:moveTo>
                  <a:pt x="0" y="0"/>
                </a:moveTo>
                <a:lnTo>
                  <a:pt x="3382007" y="0"/>
                </a:lnTo>
                <a:lnTo>
                  <a:pt x="3382007" y="3382006"/>
                </a:lnTo>
                <a:lnTo>
                  <a:pt x="0" y="338200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7" id="7"/>
          <p:cNvSpPr/>
          <p:nvPr/>
        </p:nvSpPr>
        <p:spPr>
          <a:xfrm flipH="false" flipV="false" rot="0">
            <a:off x="9135932" y="2681319"/>
            <a:ext cx="3382006" cy="3382006"/>
          </a:xfrm>
          <a:custGeom>
            <a:avLst/>
            <a:gdLst/>
            <a:ahLst/>
            <a:cxnLst/>
            <a:rect r="r" b="b" t="t" l="l"/>
            <a:pathLst>
              <a:path h="3382006" w="3382006">
                <a:moveTo>
                  <a:pt x="0" y="0"/>
                </a:moveTo>
                <a:lnTo>
                  <a:pt x="3382006" y="0"/>
                </a:lnTo>
                <a:lnTo>
                  <a:pt x="3382006" y="3382006"/>
                </a:lnTo>
                <a:lnTo>
                  <a:pt x="0" y="338200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8" id="8"/>
          <p:cNvSpPr/>
          <p:nvPr/>
        </p:nvSpPr>
        <p:spPr>
          <a:xfrm flipH="false" flipV="false" rot="0">
            <a:off x="12889413" y="2681319"/>
            <a:ext cx="3382006" cy="3382006"/>
          </a:xfrm>
          <a:custGeom>
            <a:avLst/>
            <a:gdLst/>
            <a:ahLst/>
            <a:cxnLst/>
            <a:rect r="r" b="b" t="t" l="l"/>
            <a:pathLst>
              <a:path h="3382006" w="3382006">
                <a:moveTo>
                  <a:pt x="0" y="0"/>
                </a:moveTo>
                <a:lnTo>
                  <a:pt x="3382006" y="0"/>
                </a:lnTo>
                <a:lnTo>
                  <a:pt x="3382006" y="3382006"/>
                </a:lnTo>
                <a:lnTo>
                  <a:pt x="0" y="3382006"/>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0">
            <a:off x="1628893" y="6393002"/>
            <a:ext cx="3382006" cy="3382006"/>
          </a:xfrm>
          <a:custGeom>
            <a:avLst/>
            <a:gdLst/>
            <a:ahLst/>
            <a:cxnLst/>
            <a:rect r="r" b="b" t="t" l="l"/>
            <a:pathLst>
              <a:path h="3382006" w="3382006">
                <a:moveTo>
                  <a:pt x="0" y="0"/>
                </a:moveTo>
                <a:lnTo>
                  <a:pt x="3382006" y="0"/>
                </a:lnTo>
                <a:lnTo>
                  <a:pt x="3382006" y="3382007"/>
                </a:lnTo>
                <a:lnTo>
                  <a:pt x="0" y="338200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0" id="10"/>
          <p:cNvSpPr/>
          <p:nvPr/>
        </p:nvSpPr>
        <p:spPr>
          <a:xfrm flipH="false" flipV="false" rot="0">
            <a:off x="5382450" y="6393002"/>
            <a:ext cx="3382006" cy="3382006"/>
          </a:xfrm>
          <a:custGeom>
            <a:avLst/>
            <a:gdLst/>
            <a:ahLst/>
            <a:cxnLst/>
            <a:rect r="r" b="b" t="t" l="l"/>
            <a:pathLst>
              <a:path h="3382006" w="3382006">
                <a:moveTo>
                  <a:pt x="0" y="0"/>
                </a:moveTo>
                <a:lnTo>
                  <a:pt x="3382007" y="0"/>
                </a:lnTo>
                <a:lnTo>
                  <a:pt x="3382007" y="3382007"/>
                </a:lnTo>
                <a:lnTo>
                  <a:pt x="0" y="338200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1" id="11"/>
          <p:cNvSpPr/>
          <p:nvPr/>
        </p:nvSpPr>
        <p:spPr>
          <a:xfrm flipH="false" flipV="false" rot="0">
            <a:off x="9135932" y="6393002"/>
            <a:ext cx="3382006" cy="3382006"/>
          </a:xfrm>
          <a:custGeom>
            <a:avLst/>
            <a:gdLst/>
            <a:ahLst/>
            <a:cxnLst/>
            <a:rect r="r" b="b" t="t" l="l"/>
            <a:pathLst>
              <a:path h="3382006" w="3382006">
                <a:moveTo>
                  <a:pt x="0" y="0"/>
                </a:moveTo>
                <a:lnTo>
                  <a:pt x="3382006" y="0"/>
                </a:lnTo>
                <a:lnTo>
                  <a:pt x="3382006" y="3382007"/>
                </a:lnTo>
                <a:lnTo>
                  <a:pt x="0" y="338200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2" id="12"/>
          <p:cNvSpPr/>
          <p:nvPr/>
        </p:nvSpPr>
        <p:spPr>
          <a:xfrm flipH="false" flipV="false" rot="0">
            <a:off x="12889413" y="6393002"/>
            <a:ext cx="3382006" cy="3382006"/>
          </a:xfrm>
          <a:custGeom>
            <a:avLst/>
            <a:gdLst/>
            <a:ahLst/>
            <a:cxnLst/>
            <a:rect r="r" b="b" t="t" l="l"/>
            <a:pathLst>
              <a:path h="3382006" w="3382006">
                <a:moveTo>
                  <a:pt x="0" y="0"/>
                </a:moveTo>
                <a:lnTo>
                  <a:pt x="3382006" y="0"/>
                </a:lnTo>
                <a:lnTo>
                  <a:pt x="3382006" y="3382007"/>
                </a:lnTo>
                <a:lnTo>
                  <a:pt x="0" y="3382007"/>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13" id="13"/>
          <p:cNvSpPr/>
          <p:nvPr/>
        </p:nvSpPr>
        <p:spPr>
          <a:xfrm flipH="false" flipV="false" rot="0">
            <a:off x="2735468" y="2770658"/>
            <a:ext cx="1106856" cy="1106856"/>
          </a:xfrm>
          <a:custGeom>
            <a:avLst/>
            <a:gdLst/>
            <a:ahLst/>
            <a:cxnLst/>
            <a:rect r="r" b="b" t="t" l="l"/>
            <a:pathLst>
              <a:path h="1106856" w="1106856">
                <a:moveTo>
                  <a:pt x="0" y="0"/>
                </a:moveTo>
                <a:lnTo>
                  <a:pt x="1106857" y="0"/>
                </a:lnTo>
                <a:lnTo>
                  <a:pt x="1106857" y="1106856"/>
                </a:lnTo>
                <a:lnTo>
                  <a:pt x="0" y="1106856"/>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4" id="14"/>
          <p:cNvSpPr/>
          <p:nvPr/>
        </p:nvSpPr>
        <p:spPr>
          <a:xfrm flipH="false" flipV="false" rot="0">
            <a:off x="6419500" y="2895003"/>
            <a:ext cx="1107311" cy="858166"/>
          </a:xfrm>
          <a:custGeom>
            <a:avLst/>
            <a:gdLst/>
            <a:ahLst/>
            <a:cxnLst/>
            <a:rect r="r" b="b" t="t" l="l"/>
            <a:pathLst>
              <a:path h="858166" w="1107311">
                <a:moveTo>
                  <a:pt x="0" y="0"/>
                </a:moveTo>
                <a:lnTo>
                  <a:pt x="1107312" y="0"/>
                </a:lnTo>
                <a:lnTo>
                  <a:pt x="1107312" y="858166"/>
                </a:lnTo>
                <a:lnTo>
                  <a:pt x="0" y="858166"/>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5" id="15"/>
          <p:cNvSpPr/>
          <p:nvPr/>
        </p:nvSpPr>
        <p:spPr>
          <a:xfrm flipH="false" flipV="false" rot="0">
            <a:off x="10289925" y="2913273"/>
            <a:ext cx="1074020" cy="821625"/>
          </a:xfrm>
          <a:custGeom>
            <a:avLst/>
            <a:gdLst/>
            <a:ahLst/>
            <a:cxnLst/>
            <a:rect r="r" b="b" t="t" l="l"/>
            <a:pathLst>
              <a:path h="821625" w="1074020">
                <a:moveTo>
                  <a:pt x="0" y="0"/>
                </a:moveTo>
                <a:lnTo>
                  <a:pt x="1074020" y="0"/>
                </a:lnTo>
                <a:lnTo>
                  <a:pt x="1074020" y="821626"/>
                </a:lnTo>
                <a:lnTo>
                  <a:pt x="0" y="821626"/>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16" id="16"/>
          <p:cNvSpPr/>
          <p:nvPr/>
        </p:nvSpPr>
        <p:spPr>
          <a:xfrm flipH="false" flipV="false" rot="0">
            <a:off x="14173676" y="2854268"/>
            <a:ext cx="813481" cy="1023247"/>
          </a:xfrm>
          <a:custGeom>
            <a:avLst/>
            <a:gdLst/>
            <a:ahLst/>
            <a:cxnLst/>
            <a:rect r="r" b="b" t="t" l="l"/>
            <a:pathLst>
              <a:path h="1023247" w="813481">
                <a:moveTo>
                  <a:pt x="0" y="0"/>
                </a:moveTo>
                <a:lnTo>
                  <a:pt x="813481" y="0"/>
                </a:lnTo>
                <a:lnTo>
                  <a:pt x="813481" y="1023246"/>
                </a:lnTo>
                <a:lnTo>
                  <a:pt x="0" y="1023246"/>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17" id="17"/>
          <p:cNvSpPr/>
          <p:nvPr/>
        </p:nvSpPr>
        <p:spPr>
          <a:xfrm flipH="false" flipV="false" rot="0">
            <a:off x="2952805" y="6549100"/>
            <a:ext cx="672184" cy="850866"/>
          </a:xfrm>
          <a:custGeom>
            <a:avLst/>
            <a:gdLst/>
            <a:ahLst/>
            <a:cxnLst/>
            <a:rect r="r" b="b" t="t" l="l"/>
            <a:pathLst>
              <a:path h="850866" w="672184">
                <a:moveTo>
                  <a:pt x="0" y="0"/>
                </a:moveTo>
                <a:lnTo>
                  <a:pt x="672184" y="0"/>
                </a:lnTo>
                <a:lnTo>
                  <a:pt x="672184" y="850866"/>
                </a:lnTo>
                <a:lnTo>
                  <a:pt x="0" y="850866"/>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8" id="18"/>
          <p:cNvSpPr/>
          <p:nvPr/>
        </p:nvSpPr>
        <p:spPr>
          <a:xfrm flipH="false" flipV="false" rot="0">
            <a:off x="6601436" y="6470084"/>
            <a:ext cx="743441" cy="984690"/>
          </a:xfrm>
          <a:custGeom>
            <a:avLst/>
            <a:gdLst/>
            <a:ahLst/>
            <a:cxnLst/>
            <a:rect r="r" b="b" t="t" l="l"/>
            <a:pathLst>
              <a:path h="984690" w="743441">
                <a:moveTo>
                  <a:pt x="0" y="0"/>
                </a:moveTo>
                <a:lnTo>
                  <a:pt x="743441" y="0"/>
                </a:lnTo>
                <a:lnTo>
                  <a:pt x="743441" y="984690"/>
                </a:lnTo>
                <a:lnTo>
                  <a:pt x="0" y="984690"/>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19" id="19"/>
          <p:cNvSpPr/>
          <p:nvPr/>
        </p:nvSpPr>
        <p:spPr>
          <a:xfrm flipH="false" flipV="false" rot="0">
            <a:off x="10202332" y="6549100"/>
            <a:ext cx="1249206" cy="905674"/>
          </a:xfrm>
          <a:custGeom>
            <a:avLst/>
            <a:gdLst/>
            <a:ahLst/>
            <a:cxnLst/>
            <a:rect r="r" b="b" t="t" l="l"/>
            <a:pathLst>
              <a:path h="905674" w="1249206">
                <a:moveTo>
                  <a:pt x="0" y="0"/>
                </a:moveTo>
                <a:lnTo>
                  <a:pt x="1249206" y="0"/>
                </a:lnTo>
                <a:lnTo>
                  <a:pt x="1249206" y="905674"/>
                </a:lnTo>
                <a:lnTo>
                  <a:pt x="0" y="90567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20" id="20"/>
          <p:cNvSpPr/>
          <p:nvPr/>
        </p:nvSpPr>
        <p:spPr>
          <a:xfrm flipH="false" flipV="false" rot="0">
            <a:off x="14093288" y="6549100"/>
            <a:ext cx="974256" cy="974256"/>
          </a:xfrm>
          <a:custGeom>
            <a:avLst/>
            <a:gdLst/>
            <a:ahLst/>
            <a:cxnLst/>
            <a:rect r="r" b="b" t="t" l="l"/>
            <a:pathLst>
              <a:path h="974256" w="974256">
                <a:moveTo>
                  <a:pt x="0" y="0"/>
                </a:moveTo>
                <a:lnTo>
                  <a:pt x="974256" y="0"/>
                </a:lnTo>
                <a:lnTo>
                  <a:pt x="974256" y="974256"/>
                </a:lnTo>
                <a:lnTo>
                  <a:pt x="0" y="974256"/>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TextBox 21" id="21"/>
          <p:cNvSpPr txBox="true"/>
          <p:nvPr/>
        </p:nvSpPr>
        <p:spPr>
          <a:xfrm rot="0">
            <a:off x="350372" y="1062094"/>
            <a:ext cx="5597889" cy="1105890"/>
          </a:xfrm>
          <a:prstGeom prst="rect">
            <a:avLst/>
          </a:prstGeom>
        </p:spPr>
        <p:txBody>
          <a:bodyPr anchor="t" rtlCol="false" tIns="0" lIns="0" bIns="0" rIns="0">
            <a:spAutoFit/>
          </a:bodyPr>
          <a:lstStyle/>
          <a:p>
            <a:pPr algn="l">
              <a:lnSpc>
                <a:spcPts val="4309"/>
              </a:lnSpc>
              <a:spcBef>
                <a:spcPct val="0"/>
              </a:spcBef>
            </a:pPr>
            <a:r>
              <a:rPr lang="en-US" sz="3847" spc="1138">
                <a:solidFill>
                  <a:srgbClr val="FFFFFF"/>
                </a:solidFill>
                <a:latin typeface="Roboto"/>
                <a:ea typeface="Roboto"/>
                <a:cs typeface="Roboto"/>
                <a:sym typeface="Roboto"/>
              </a:rPr>
              <a:t>STACK TECNOLÓGICO</a:t>
            </a:r>
          </a:p>
        </p:txBody>
      </p:sp>
      <p:sp>
        <p:nvSpPr>
          <p:cNvPr name="TextBox 22" id="22"/>
          <p:cNvSpPr txBox="true"/>
          <p:nvPr/>
        </p:nvSpPr>
        <p:spPr>
          <a:xfrm rot="0">
            <a:off x="1885776" y="3969469"/>
            <a:ext cx="2806241" cy="316230"/>
          </a:xfrm>
          <a:prstGeom prst="rect">
            <a:avLst/>
          </a:prstGeom>
        </p:spPr>
        <p:txBody>
          <a:bodyPr anchor="t" rtlCol="false" tIns="0" lIns="0" bIns="0" rIns="0">
            <a:spAutoFit/>
          </a:bodyPr>
          <a:lstStyle/>
          <a:p>
            <a:pPr algn="ctr">
              <a:lnSpc>
                <a:spcPts val="2520"/>
              </a:lnSpc>
            </a:pPr>
            <a:r>
              <a:rPr lang="en-US" sz="1800">
                <a:solidFill>
                  <a:srgbClr val="6B9C6F"/>
                </a:solidFill>
                <a:latin typeface="Roboto"/>
                <a:ea typeface="Roboto"/>
                <a:cs typeface="Roboto"/>
                <a:sym typeface="Roboto"/>
              </a:rPr>
              <a:t>Desarrollo móvil</a:t>
            </a:r>
          </a:p>
        </p:txBody>
      </p:sp>
      <p:sp>
        <p:nvSpPr>
          <p:cNvPr name="TextBox 23" id="23"/>
          <p:cNvSpPr txBox="true"/>
          <p:nvPr/>
        </p:nvSpPr>
        <p:spPr>
          <a:xfrm rot="0">
            <a:off x="1502661" y="4612815"/>
            <a:ext cx="3572472" cy="737451"/>
          </a:xfrm>
          <a:prstGeom prst="rect">
            <a:avLst/>
          </a:prstGeom>
        </p:spPr>
        <p:txBody>
          <a:bodyPr anchor="t" rtlCol="false" tIns="0" lIns="0" bIns="0" rIns="0">
            <a:spAutoFit/>
          </a:bodyPr>
          <a:lstStyle/>
          <a:p>
            <a:pPr algn="ctr">
              <a:lnSpc>
                <a:spcPts val="2928"/>
              </a:lnSpc>
            </a:pPr>
            <a:r>
              <a:rPr lang="en-US" sz="2091">
                <a:solidFill>
                  <a:srgbClr val="6B9C6F"/>
                </a:solidFill>
                <a:latin typeface="Roboto"/>
                <a:ea typeface="Roboto"/>
                <a:cs typeface="Roboto"/>
                <a:sym typeface="Roboto"/>
              </a:rPr>
              <a:t>Android Studio/multiplataforma</a:t>
            </a:r>
          </a:p>
        </p:txBody>
      </p:sp>
      <p:sp>
        <p:nvSpPr>
          <p:cNvPr name="TextBox 24" id="24"/>
          <p:cNvSpPr txBox="true"/>
          <p:nvPr/>
        </p:nvSpPr>
        <p:spPr>
          <a:xfrm rot="0">
            <a:off x="5570036" y="3969469"/>
            <a:ext cx="2806241" cy="316230"/>
          </a:xfrm>
          <a:prstGeom prst="rect">
            <a:avLst/>
          </a:prstGeom>
        </p:spPr>
        <p:txBody>
          <a:bodyPr anchor="t" rtlCol="false" tIns="0" lIns="0" bIns="0" rIns="0">
            <a:spAutoFit/>
          </a:bodyPr>
          <a:lstStyle/>
          <a:p>
            <a:pPr algn="ctr">
              <a:lnSpc>
                <a:spcPts val="2520"/>
              </a:lnSpc>
            </a:pPr>
            <a:r>
              <a:rPr lang="en-US" sz="1800">
                <a:solidFill>
                  <a:srgbClr val="6B9C6F"/>
                </a:solidFill>
                <a:latin typeface="Roboto"/>
                <a:ea typeface="Roboto"/>
                <a:cs typeface="Roboto"/>
                <a:sym typeface="Roboto"/>
              </a:rPr>
              <a:t>Cloud</a:t>
            </a:r>
          </a:p>
        </p:txBody>
      </p:sp>
      <p:sp>
        <p:nvSpPr>
          <p:cNvPr name="TextBox 25" id="25"/>
          <p:cNvSpPr txBox="true"/>
          <p:nvPr/>
        </p:nvSpPr>
        <p:spPr>
          <a:xfrm rot="0">
            <a:off x="5186920" y="4798552"/>
            <a:ext cx="3572472" cy="365976"/>
          </a:xfrm>
          <a:prstGeom prst="rect">
            <a:avLst/>
          </a:prstGeom>
        </p:spPr>
        <p:txBody>
          <a:bodyPr anchor="t" rtlCol="false" tIns="0" lIns="0" bIns="0" rIns="0">
            <a:spAutoFit/>
          </a:bodyPr>
          <a:lstStyle/>
          <a:p>
            <a:pPr algn="ctr">
              <a:lnSpc>
                <a:spcPts val="2928"/>
              </a:lnSpc>
            </a:pPr>
            <a:r>
              <a:rPr lang="en-US" sz="2091">
                <a:solidFill>
                  <a:srgbClr val="6B9C6F"/>
                </a:solidFill>
                <a:latin typeface="Roboto"/>
                <a:ea typeface="Roboto"/>
                <a:cs typeface="Roboto"/>
                <a:sym typeface="Roboto"/>
              </a:rPr>
              <a:t>AWS/GCP</a:t>
            </a:r>
          </a:p>
        </p:txBody>
      </p:sp>
      <p:sp>
        <p:nvSpPr>
          <p:cNvPr name="TextBox 26" id="26"/>
          <p:cNvSpPr txBox="true"/>
          <p:nvPr/>
        </p:nvSpPr>
        <p:spPr>
          <a:xfrm rot="0">
            <a:off x="9423814" y="3969469"/>
            <a:ext cx="2806241" cy="316230"/>
          </a:xfrm>
          <a:prstGeom prst="rect">
            <a:avLst/>
          </a:prstGeom>
        </p:spPr>
        <p:txBody>
          <a:bodyPr anchor="t" rtlCol="false" tIns="0" lIns="0" bIns="0" rIns="0">
            <a:spAutoFit/>
          </a:bodyPr>
          <a:lstStyle/>
          <a:p>
            <a:pPr algn="ctr">
              <a:lnSpc>
                <a:spcPts val="2520"/>
              </a:lnSpc>
            </a:pPr>
            <a:r>
              <a:rPr lang="en-US" sz="1800">
                <a:solidFill>
                  <a:srgbClr val="6B9C6F"/>
                </a:solidFill>
                <a:latin typeface="Roboto"/>
                <a:ea typeface="Roboto"/>
                <a:cs typeface="Roboto"/>
                <a:sym typeface="Roboto"/>
              </a:rPr>
              <a:t>Motor OCR</a:t>
            </a:r>
          </a:p>
        </p:txBody>
      </p:sp>
      <p:sp>
        <p:nvSpPr>
          <p:cNvPr name="TextBox 27" id="27"/>
          <p:cNvSpPr txBox="true"/>
          <p:nvPr/>
        </p:nvSpPr>
        <p:spPr>
          <a:xfrm rot="0">
            <a:off x="8945466" y="4671413"/>
            <a:ext cx="3572472" cy="737451"/>
          </a:xfrm>
          <a:prstGeom prst="rect">
            <a:avLst/>
          </a:prstGeom>
        </p:spPr>
        <p:txBody>
          <a:bodyPr anchor="t" rtlCol="false" tIns="0" lIns="0" bIns="0" rIns="0">
            <a:spAutoFit/>
          </a:bodyPr>
          <a:lstStyle/>
          <a:p>
            <a:pPr algn="ctr">
              <a:lnSpc>
                <a:spcPts val="2928"/>
              </a:lnSpc>
            </a:pPr>
            <a:r>
              <a:rPr lang="en-US" sz="2091">
                <a:solidFill>
                  <a:srgbClr val="6B9C6F"/>
                </a:solidFill>
                <a:latin typeface="Roboto"/>
                <a:ea typeface="Roboto"/>
                <a:cs typeface="Roboto"/>
                <a:sym typeface="Roboto"/>
              </a:rPr>
              <a:t>API de reconocimiento</a:t>
            </a:r>
          </a:p>
          <a:p>
            <a:pPr algn="ctr">
              <a:lnSpc>
                <a:spcPts val="2928"/>
              </a:lnSpc>
            </a:pPr>
            <a:r>
              <a:rPr lang="en-US" sz="2091">
                <a:solidFill>
                  <a:srgbClr val="6B9C6F"/>
                </a:solidFill>
                <a:latin typeface="Roboto"/>
                <a:ea typeface="Roboto"/>
                <a:cs typeface="Roboto"/>
                <a:sym typeface="Roboto"/>
              </a:rPr>
              <a:t> óptico</a:t>
            </a:r>
          </a:p>
        </p:txBody>
      </p:sp>
      <p:sp>
        <p:nvSpPr>
          <p:cNvPr name="TextBox 28" id="28"/>
          <p:cNvSpPr txBox="true"/>
          <p:nvPr/>
        </p:nvSpPr>
        <p:spPr>
          <a:xfrm rot="0">
            <a:off x="13177296" y="3969469"/>
            <a:ext cx="2806241" cy="316230"/>
          </a:xfrm>
          <a:prstGeom prst="rect">
            <a:avLst/>
          </a:prstGeom>
        </p:spPr>
        <p:txBody>
          <a:bodyPr anchor="t" rtlCol="false" tIns="0" lIns="0" bIns="0" rIns="0">
            <a:spAutoFit/>
          </a:bodyPr>
          <a:lstStyle/>
          <a:p>
            <a:pPr algn="ctr">
              <a:lnSpc>
                <a:spcPts val="2520"/>
              </a:lnSpc>
            </a:pPr>
            <a:r>
              <a:rPr lang="en-US" sz="1800">
                <a:solidFill>
                  <a:srgbClr val="6B9C6F"/>
                </a:solidFill>
                <a:latin typeface="Roboto"/>
                <a:ea typeface="Roboto"/>
                <a:cs typeface="Roboto"/>
                <a:sym typeface="Roboto"/>
              </a:rPr>
              <a:t>QR/NFC</a:t>
            </a:r>
          </a:p>
        </p:txBody>
      </p:sp>
      <p:sp>
        <p:nvSpPr>
          <p:cNvPr name="TextBox 29" id="29"/>
          <p:cNvSpPr txBox="true"/>
          <p:nvPr/>
        </p:nvSpPr>
        <p:spPr>
          <a:xfrm rot="0">
            <a:off x="12794180" y="4671413"/>
            <a:ext cx="3572472" cy="737451"/>
          </a:xfrm>
          <a:prstGeom prst="rect">
            <a:avLst/>
          </a:prstGeom>
        </p:spPr>
        <p:txBody>
          <a:bodyPr anchor="t" rtlCol="false" tIns="0" lIns="0" bIns="0" rIns="0">
            <a:spAutoFit/>
          </a:bodyPr>
          <a:lstStyle/>
          <a:p>
            <a:pPr algn="ctr">
              <a:lnSpc>
                <a:spcPts val="2928"/>
              </a:lnSpc>
            </a:pPr>
            <a:r>
              <a:rPr lang="en-US" sz="2091">
                <a:solidFill>
                  <a:srgbClr val="6B9C6F"/>
                </a:solidFill>
                <a:latin typeface="Roboto"/>
                <a:ea typeface="Roboto"/>
                <a:cs typeface="Roboto"/>
                <a:sym typeface="Roboto"/>
              </a:rPr>
              <a:t>Identificación física en el collar</a:t>
            </a:r>
          </a:p>
        </p:txBody>
      </p:sp>
      <p:sp>
        <p:nvSpPr>
          <p:cNvPr name="TextBox 30" id="30"/>
          <p:cNvSpPr txBox="true"/>
          <p:nvPr/>
        </p:nvSpPr>
        <p:spPr>
          <a:xfrm rot="0">
            <a:off x="1885776" y="7495216"/>
            <a:ext cx="2806241" cy="316230"/>
          </a:xfrm>
          <a:prstGeom prst="rect">
            <a:avLst/>
          </a:prstGeom>
        </p:spPr>
        <p:txBody>
          <a:bodyPr anchor="t" rtlCol="false" tIns="0" lIns="0" bIns="0" rIns="0">
            <a:spAutoFit/>
          </a:bodyPr>
          <a:lstStyle/>
          <a:p>
            <a:pPr algn="ctr">
              <a:lnSpc>
                <a:spcPts val="2520"/>
              </a:lnSpc>
            </a:pPr>
            <a:r>
              <a:rPr lang="en-US" sz="1800">
                <a:solidFill>
                  <a:srgbClr val="6B9C6F"/>
                </a:solidFill>
                <a:latin typeface="Roboto"/>
                <a:ea typeface="Roboto"/>
                <a:cs typeface="Roboto"/>
                <a:sym typeface="Roboto"/>
              </a:rPr>
              <a:t>Base de datos</a:t>
            </a:r>
          </a:p>
        </p:txBody>
      </p:sp>
      <p:sp>
        <p:nvSpPr>
          <p:cNvPr name="TextBox 31" id="31"/>
          <p:cNvSpPr txBox="true"/>
          <p:nvPr/>
        </p:nvSpPr>
        <p:spPr>
          <a:xfrm rot="0">
            <a:off x="1533660" y="8135295"/>
            <a:ext cx="3572472" cy="365976"/>
          </a:xfrm>
          <a:prstGeom prst="rect">
            <a:avLst/>
          </a:prstGeom>
        </p:spPr>
        <p:txBody>
          <a:bodyPr anchor="t" rtlCol="false" tIns="0" lIns="0" bIns="0" rIns="0">
            <a:spAutoFit/>
          </a:bodyPr>
          <a:lstStyle/>
          <a:p>
            <a:pPr algn="ctr">
              <a:lnSpc>
                <a:spcPts val="2928"/>
              </a:lnSpc>
            </a:pPr>
            <a:r>
              <a:rPr lang="en-US" sz="2091">
                <a:solidFill>
                  <a:srgbClr val="6B9C6F"/>
                </a:solidFill>
                <a:latin typeface="Roboto"/>
                <a:ea typeface="Roboto"/>
                <a:cs typeface="Roboto"/>
                <a:sym typeface="Roboto"/>
              </a:rPr>
              <a:t>NoSQL en la nube</a:t>
            </a:r>
          </a:p>
        </p:txBody>
      </p:sp>
      <p:sp>
        <p:nvSpPr>
          <p:cNvPr name="TextBox 32" id="32"/>
          <p:cNvSpPr txBox="true"/>
          <p:nvPr/>
        </p:nvSpPr>
        <p:spPr>
          <a:xfrm rot="0">
            <a:off x="5670333" y="7495216"/>
            <a:ext cx="2806241" cy="316230"/>
          </a:xfrm>
          <a:prstGeom prst="rect">
            <a:avLst/>
          </a:prstGeom>
        </p:spPr>
        <p:txBody>
          <a:bodyPr anchor="t" rtlCol="false" tIns="0" lIns="0" bIns="0" rIns="0">
            <a:spAutoFit/>
          </a:bodyPr>
          <a:lstStyle/>
          <a:p>
            <a:pPr algn="ctr">
              <a:lnSpc>
                <a:spcPts val="2520"/>
              </a:lnSpc>
            </a:pPr>
            <a:r>
              <a:rPr lang="en-US" sz="1800">
                <a:solidFill>
                  <a:srgbClr val="6B9C6F"/>
                </a:solidFill>
                <a:latin typeface="Roboto"/>
                <a:ea typeface="Roboto"/>
                <a:cs typeface="Roboto"/>
                <a:sym typeface="Roboto"/>
              </a:rPr>
              <a:t>Seguridad</a:t>
            </a:r>
          </a:p>
        </p:txBody>
      </p:sp>
      <p:sp>
        <p:nvSpPr>
          <p:cNvPr name="TextBox 33" id="33"/>
          <p:cNvSpPr txBox="true"/>
          <p:nvPr/>
        </p:nvSpPr>
        <p:spPr>
          <a:xfrm rot="0">
            <a:off x="5287217" y="8135295"/>
            <a:ext cx="3572472" cy="365976"/>
          </a:xfrm>
          <a:prstGeom prst="rect">
            <a:avLst/>
          </a:prstGeom>
        </p:spPr>
        <p:txBody>
          <a:bodyPr anchor="t" rtlCol="false" tIns="0" lIns="0" bIns="0" rIns="0">
            <a:spAutoFit/>
          </a:bodyPr>
          <a:lstStyle/>
          <a:p>
            <a:pPr algn="ctr">
              <a:lnSpc>
                <a:spcPts val="2928"/>
              </a:lnSpc>
            </a:pPr>
            <a:r>
              <a:rPr lang="en-US" sz="2091">
                <a:solidFill>
                  <a:srgbClr val="6B9C6F"/>
                </a:solidFill>
                <a:latin typeface="Roboto"/>
                <a:ea typeface="Roboto"/>
                <a:cs typeface="Roboto"/>
                <a:sym typeface="Roboto"/>
              </a:rPr>
              <a:t>Protocolo HTTPS</a:t>
            </a:r>
          </a:p>
        </p:txBody>
      </p:sp>
      <p:sp>
        <p:nvSpPr>
          <p:cNvPr name="TextBox 34" id="34"/>
          <p:cNvSpPr txBox="true"/>
          <p:nvPr/>
        </p:nvSpPr>
        <p:spPr>
          <a:xfrm rot="0">
            <a:off x="9328581" y="7495216"/>
            <a:ext cx="2806241" cy="316230"/>
          </a:xfrm>
          <a:prstGeom prst="rect">
            <a:avLst/>
          </a:prstGeom>
        </p:spPr>
        <p:txBody>
          <a:bodyPr anchor="t" rtlCol="false" tIns="0" lIns="0" bIns="0" rIns="0">
            <a:spAutoFit/>
          </a:bodyPr>
          <a:lstStyle/>
          <a:p>
            <a:pPr algn="ctr">
              <a:lnSpc>
                <a:spcPts val="2520"/>
              </a:lnSpc>
            </a:pPr>
            <a:r>
              <a:rPr lang="en-US" sz="1800">
                <a:solidFill>
                  <a:srgbClr val="6B9C6F"/>
                </a:solidFill>
                <a:latin typeface="Roboto"/>
                <a:ea typeface="Roboto"/>
                <a:cs typeface="Roboto"/>
                <a:sym typeface="Roboto"/>
              </a:rPr>
              <a:t>Despliegue</a:t>
            </a:r>
          </a:p>
        </p:txBody>
      </p:sp>
      <p:sp>
        <p:nvSpPr>
          <p:cNvPr name="TextBox 35" id="35"/>
          <p:cNvSpPr txBox="true"/>
          <p:nvPr/>
        </p:nvSpPr>
        <p:spPr>
          <a:xfrm rot="0">
            <a:off x="8945466" y="8135295"/>
            <a:ext cx="3572472" cy="365976"/>
          </a:xfrm>
          <a:prstGeom prst="rect">
            <a:avLst/>
          </a:prstGeom>
        </p:spPr>
        <p:txBody>
          <a:bodyPr anchor="t" rtlCol="false" tIns="0" lIns="0" bIns="0" rIns="0">
            <a:spAutoFit/>
          </a:bodyPr>
          <a:lstStyle/>
          <a:p>
            <a:pPr algn="ctr">
              <a:lnSpc>
                <a:spcPts val="2928"/>
              </a:lnSpc>
            </a:pPr>
            <a:r>
              <a:rPr lang="en-US" sz="2091">
                <a:solidFill>
                  <a:srgbClr val="6B9C6F"/>
                </a:solidFill>
                <a:latin typeface="Roboto"/>
                <a:ea typeface="Roboto"/>
                <a:cs typeface="Roboto"/>
                <a:sym typeface="Roboto"/>
              </a:rPr>
              <a:t>Docker + CI/CD</a:t>
            </a:r>
          </a:p>
        </p:txBody>
      </p:sp>
      <p:sp>
        <p:nvSpPr>
          <p:cNvPr name="TextBox 36" id="36"/>
          <p:cNvSpPr txBox="true"/>
          <p:nvPr/>
        </p:nvSpPr>
        <p:spPr>
          <a:xfrm rot="0">
            <a:off x="13177296" y="7495216"/>
            <a:ext cx="2806241" cy="316230"/>
          </a:xfrm>
          <a:prstGeom prst="rect">
            <a:avLst/>
          </a:prstGeom>
        </p:spPr>
        <p:txBody>
          <a:bodyPr anchor="t" rtlCol="false" tIns="0" lIns="0" bIns="0" rIns="0">
            <a:spAutoFit/>
          </a:bodyPr>
          <a:lstStyle/>
          <a:p>
            <a:pPr algn="ctr">
              <a:lnSpc>
                <a:spcPts val="2520"/>
              </a:lnSpc>
            </a:pPr>
            <a:r>
              <a:rPr lang="en-US" sz="1800">
                <a:solidFill>
                  <a:srgbClr val="688066"/>
                </a:solidFill>
                <a:latin typeface="Roboto"/>
                <a:ea typeface="Roboto"/>
                <a:cs typeface="Roboto"/>
                <a:sym typeface="Roboto"/>
              </a:rPr>
              <a:t>Testing </a:t>
            </a:r>
          </a:p>
        </p:txBody>
      </p:sp>
      <p:sp>
        <p:nvSpPr>
          <p:cNvPr name="TextBox 37" id="37"/>
          <p:cNvSpPr txBox="true"/>
          <p:nvPr/>
        </p:nvSpPr>
        <p:spPr>
          <a:xfrm rot="0">
            <a:off x="12698913" y="8135295"/>
            <a:ext cx="3572472" cy="365976"/>
          </a:xfrm>
          <a:prstGeom prst="rect">
            <a:avLst/>
          </a:prstGeom>
        </p:spPr>
        <p:txBody>
          <a:bodyPr anchor="t" rtlCol="false" tIns="0" lIns="0" bIns="0" rIns="0">
            <a:spAutoFit/>
          </a:bodyPr>
          <a:lstStyle/>
          <a:p>
            <a:pPr algn="ctr">
              <a:lnSpc>
                <a:spcPts val="2928"/>
              </a:lnSpc>
            </a:pPr>
            <a:r>
              <a:rPr lang="en-US" sz="2091">
                <a:solidFill>
                  <a:srgbClr val="6B9C6F"/>
                </a:solidFill>
                <a:latin typeface="Roboto"/>
                <a:ea typeface="Roboto"/>
                <a:cs typeface="Roboto"/>
                <a:sym typeface="Roboto"/>
              </a:rPr>
              <a:t>JMeter, Postman</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0" y="1028700"/>
            <a:ext cx="6577793" cy="1167199"/>
            <a:chOff x="0" y="0"/>
            <a:chExt cx="1732423" cy="307411"/>
          </a:xfrm>
        </p:grpSpPr>
        <p:sp>
          <p:nvSpPr>
            <p:cNvPr name="Freeform 3" id="3"/>
            <p:cNvSpPr/>
            <p:nvPr/>
          </p:nvSpPr>
          <p:spPr>
            <a:xfrm flipH="false" flipV="false" rot="0">
              <a:off x="0" y="0"/>
              <a:ext cx="1732423" cy="307411"/>
            </a:xfrm>
            <a:custGeom>
              <a:avLst/>
              <a:gdLst/>
              <a:ahLst/>
              <a:cxnLst/>
              <a:rect r="r" b="b" t="t" l="l"/>
              <a:pathLst>
                <a:path h="307411" w="1732423">
                  <a:moveTo>
                    <a:pt x="0" y="0"/>
                  </a:moveTo>
                  <a:lnTo>
                    <a:pt x="1732423" y="0"/>
                  </a:lnTo>
                  <a:lnTo>
                    <a:pt x="1732423" y="307411"/>
                  </a:lnTo>
                  <a:lnTo>
                    <a:pt x="0" y="307411"/>
                  </a:lnTo>
                  <a:close/>
                </a:path>
              </a:pathLst>
            </a:custGeom>
            <a:solidFill>
              <a:srgbClr val="6B9C6F"/>
            </a:solidFill>
          </p:spPr>
        </p:sp>
        <p:sp>
          <p:nvSpPr>
            <p:cNvPr name="TextBox 4" id="4"/>
            <p:cNvSpPr txBox="true"/>
            <p:nvPr/>
          </p:nvSpPr>
          <p:spPr>
            <a:xfrm>
              <a:off x="0" y="-38100"/>
              <a:ext cx="1732423" cy="345511"/>
            </a:xfrm>
            <a:prstGeom prst="rect">
              <a:avLst/>
            </a:prstGeom>
          </p:spPr>
          <p:txBody>
            <a:bodyPr anchor="ctr" rtlCol="false" tIns="50800" lIns="50800" bIns="50800" rIns="50800"/>
            <a:lstStyle/>
            <a:p>
              <a:pPr algn="ctr">
                <a:lnSpc>
                  <a:spcPts val="2659"/>
                </a:lnSpc>
              </a:pPr>
            </a:p>
          </p:txBody>
        </p:sp>
      </p:grpSp>
      <p:graphicFrame>
        <p:nvGraphicFramePr>
          <p:cNvPr name="Object 5" id="5"/>
          <p:cNvGraphicFramePr/>
          <p:nvPr/>
        </p:nvGraphicFramePr>
        <p:xfrm>
          <a:off x="2196419" y="2992248"/>
          <a:ext cx="7586157" cy="4274588"/>
        </p:xfrm>
        <a:graphic>
          <a:graphicData uri="http://schemas.openxmlformats.org/presentationml/2006/ole">
            <p:oleObj imgW="9105900" imgH="5791200" r:id="rId3" progId="Excel.Sheet.12" name="Worksheet">
              <p:embed/>
              <p:pic>
                <p:nvPicPr>
                  <p:cNvPr name="" id="0"/>
                  <p:cNvPicPr/>
                  <p:nvPr/>
                </p:nvPicPr>
                <p:blipFill>
                  <a:blip r:embed="rId2"/>
                  <a:stretch>
                    <a:fillRect/>
                  </a:stretch>
                </p:blipFill>
                <p:spPr>
                  <a:xfrm>
                    <a:off x="1270000" y="1270000"/>
                    <a:ext cx="1270000" cy="1270000"/>
                  </a:xfrm>
                  <a:prstGeom prst="rect"/>
                </p:spPr>
              </p:pic>
            </p:oleObj>
          </a:graphicData>
        </a:graphic>
      </p:graphicFrame>
      <p:sp>
        <p:nvSpPr>
          <p:cNvPr name="TextBox 6" id="6"/>
          <p:cNvSpPr txBox="true"/>
          <p:nvPr/>
        </p:nvSpPr>
        <p:spPr>
          <a:xfrm rot="0">
            <a:off x="294540" y="1068880"/>
            <a:ext cx="5597889" cy="1105890"/>
          </a:xfrm>
          <a:prstGeom prst="rect">
            <a:avLst/>
          </a:prstGeom>
        </p:spPr>
        <p:txBody>
          <a:bodyPr anchor="t" rtlCol="false" tIns="0" lIns="0" bIns="0" rIns="0">
            <a:spAutoFit/>
          </a:bodyPr>
          <a:lstStyle/>
          <a:p>
            <a:pPr algn="l">
              <a:lnSpc>
                <a:spcPts val="4309"/>
              </a:lnSpc>
              <a:spcBef>
                <a:spcPct val="0"/>
              </a:spcBef>
            </a:pPr>
            <a:r>
              <a:rPr lang="en-US" sz="3847" spc="1138">
                <a:solidFill>
                  <a:srgbClr val="FFFFFF"/>
                </a:solidFill>
                <a:latin typeface="Roboto"/>
                <a:ea typeface="Roboto"/>
                <a:cs typeface="Roboto"/>
                <a:sym typeface="Roboto"/>
              </a:rPr>
              <a:t>PLAN DE TRABAJO</a:t>
            </a:r>
          </a:p>
        </p:txBody>
      </p:sp>
    </p:spTree>
  </p:cSld>
  <p:clrMapOvr>
    <a:masterClrMapping/>
  </p:clrMapOvr>
</p:sld>
</file>

<file path=ppt/slides/slide11.xml><?xml version="1.0" encoding="utf-8"?>
<p:sld xmlns:p="http://schemas.openxmlformats.org/presentationml/2006/main" xmlns:a="http://schemas.openxmlformats.org/drawingml/2006/main">
  <p:cSld>
    <p:spTree>
      <p:nvGrpSpPr>
        <p:cNvPr id="1" name=""/>
        <p:cNvGrpSpPr/>
        <p:nvPr/>
      </p:nvGrpSpPr>
      <p:grpSpPr>
        <a:xfrm>
          <a:off x="0" y="0"/>
          <a:ext cx="0" cy="0"/>
          <a:chOff x="0" y="0"/>
          <a:chExt cx="0" cy="0"/>
        </a:xfrm>
      </p:grpSpPr>
      <p:grpSp>
        <p:nvGrpSpPr>
          <p:cNvPr name="Group 2" id="2"/>
          <p:cNvGrpSpPr/>
          <p:nvPr/>
        </p:nvGrpSpPr>
        <p:grpSpPr>
          <a:xfrm rot="0">
            <a:off x="1626379" y="1729481"/>
            <a:ext cx="15035243" cy="6828038"/>
            <a:chOff x="0" y="0"/>
            <a:chExt cx="3959899" cy="1798331"/>
          </a:xfrm>
        </p:grpSpPr>
        <p:sp>
          <p:nvSpPr>
            <p:cNvPr name="Freeform 3" id="3"/>
            <p:cNvSpPr/>
            <p:nvPr/>
          </p:nvSpPr>
          <p:spPr>
            <a:xfrm flipH="false" flipV="false" rot="0">
              <a:off x="0" y="0"/>
              <a:ext cx="3959899" cy="1798331"/>
            </a:xfrm>
            <a:custGeom>
              <a:avLst/>
              <a:gdLst/>
              <a:ahLst/>
              <a:cxnLst/>
              <a:rect r="r" b="b" t="t" l="l"/>
              <a:pathLst>
                <a:path h="1798331" w="3959899">
                  <a:moveTo>
                    <a:pt x="0" y="0"/>
                  </a:moveTo>
                  <a:lnTo>
                    <a:pt x="3959899" y="0"/>
                  </a:lnTo>
                  <a:lnTo>
                    <a:pt x="3959899" y="1798331"/>
                  </a:lnTo>
                  <a:lnTo>
                    <a:pt x="0" y="1798331"/>
                  </a:lnTo>
                  <a:close/>
                </a:path>
              </a:pathLst>
            </a:custGeom>
            <a:solidFill>
              <a:srgbClr val="6B9C6F"/>
            </a:solidFill>
          </p:spPr>
        </p:sp>
        <p:sp>
          <p:nvSpPr>
            <p:cNvPr name="TextBox 4" id="4"/>
            <p:cNvSpPr txBox="true"/>
            <p:nvPr/>
          </p:nvSpPr>
          <p:spPr>
            <a:xfrm>
              <a:off x="0" y="-38100"/>
              <a:ext cx="3959899" cy="1836431"/>
            </a:xfrm>
            <a:prstGeom prst="rect">
              <a:avLst/>
            </a:prstGeom>
          </p:spPr>
          <p:txBody>
            <a:bodyPr anchor="ctr" rtlCol="false" tIns="50800" lIns="50800" bIns="50800" rIns="50800"/>
            <a:lstStyle/>
            <a:p>
              <a:pPr algn="ctr">
                <a:lnSpc>
                  <a:spcPts val="2659"/>
                </a:lnSpc>
              </a:pPr>
            </a:p>
          </p:txBody>
        </p:sp>
      </p:grpSp>
      <p:sp>
        <p:nvSpPr>
          <p:cNvPr name="TextBox 5" id="5"/>
          <p:cNvSpPr txBox="true"/>
          <p:nvPr/>
        </p:nvSpPr>
        <p:spPr>
          <a:xfrm rot="0">
            <a:off x="3446601" y="2640996"/>
            <a:ext cx="11394797" cy="655319"/>
          </a:xfrm>
          <a:prstGeom prst="rect">
            <a:avLst/>
          </a:prstGeom>
        </p:spPr>
        <p:txBody>
          <a:bodyPr anchor="t" rtlCol="false" tIns="0" lIns="0" bIns="0" rIns="0">
            <a:spAutoFit/>
          </a:bodyPr>
          <a:lstStyle/>
          <a:p>
            <a:pPr algn="ctr">
              <a:lnSpc>
                <a:spcPts val="5039"/>
              </a:lnSpc>
              <a:spcBef>
                <a:spcPct val="0"/>
              </a:spcBef>
            </a:pPr>
            <a:r>
              <a:rPr lang="en-US" sz="4499" spc="1331">
                <a:solidFill>
                  <a:srgbClr val="FFFFFF"/>
                </a:solidFill>
                <a:latin typeface="Lovelo"/>
                <a:ea typeface="Lovelo"/>
                <a:cs typeface="Lovelo"/>
                <a:sym typeface="Lovelo"/>
              </a:rPr>
              <a:t>COMENTARIO FINAL</a:t>
            </a:r>
          </a:p>
        </p:txBody>
      </p:sp>
      <p:sp>
        <p:nvSpPr>
          <p:cNvPr name="TextBox 6" id="6"/>
          <p:cNvSpPr txBox="true"/>
          <p:nvPr/>
        </p:nvSpPr>
        <p:spPr>
          <a:xfrm rot="0">
            <a:off x="3446601" y="4617299"/>
            <a:ext cx="11394797" cy="2613025"/>
          </a:xfrm>
          <a:prstGeom prst="rect">
            <a:avLst/>
          </a:prstGeom>
        </p:spPr>
        <p:txBody>
          <a:bodyPr anchor="t" rtlCol="false" tIns="0" lIns="0" bIns="0" rIns="0">
            <a:spAutoFit/>
          </a:bodyPr>
          <a:lstStyle/>
          <a:p>
            <a:pPr algn="ctr">
              <a:lnSpc>
                <a:spcPts val="3499"/>
              </a:lnSpc>
            </a:pPr>
            <a:r>
              <a:rPr lang="en-US" sz="2499">
                <a:solidFill>
                  <a:srgbClr val="FFFFFF"/>
                </a:solidFill>
                <a:latin typeface="Open Sans"/>
                <a:ea typeface="Open Sans"/>
                <a:cs typeface="Open Sans"/>
                <a:sym typeface="Open Sans"/>
              </a:rPr>
              <a:t>Planificar PetPass nos permitió aplicar de forma integral las competencias de nuestro perfil de egreso desde el modelado de datos hasta la definición de procesos de calidad sobre una arquitectura pensada para responder en segundos ante una emergencia real. Más allá del desafío técnico de conectar hardware, software y la nube, lo que nos moviliza como equipo es el propósito de PetPass: cuidar a las mascotas y dar tranquilidad a sus tutores.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DAHUYJPquCA</dc:identifier>
  <dcterms:modified xsi:type="dcterms:W3CDTF">2011-08-01T06:04:30Z</dcterms:modified>
  <cp:revision>1</cp:revision>
  <dc:title>Presentación Capstone PetPass</dc:title>
</cp:coreProperties>
</file>